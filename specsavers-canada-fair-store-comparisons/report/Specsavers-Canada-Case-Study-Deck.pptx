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outside-in portfolio case study for the Data Business Analyst role. My contribution is the whole chain: public research with an evidence log, stakeholder analysis, business and functional requirements, a KPI dictionary with explicit calculation rules, a conceptual data model, user stories, traceability, risks, an MVP, a synthetic dataset I generated and validated, a three-page prototype I built and tested, and a UAT plan. Nothing here claims internal knowledge, and no Specsavers stakeholder has reviewed it. The coloured labels show the evidence status of each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public figures frame the opportunity, each with its date. The July 2025 Loblaw announcement said 111 Specsavers locations would open inside Loblaw grocery stores; the June 2026 PC Optimum release confirms those 111 opened during 2025. Specsavers reported more than 270 stores in March 2026, and the June 2026 release repeats more than 270 locations across nine provinces and one territory. The 'roughly half' figure is my own arithmetic — more than 130 openings in 2025 out of more than 270 stores — so it is an inference on two lower bounds, not a company statement. Specsavers itself tracked the share of stores under six months old in 2024. The ownership model has two partner corporations plus central support services. The access survey was commissioned by Specsavers, so I treat it as context, not independent research. Full links are in Appendix A1.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rests on four mechanisms, each an inference from public facts rather than a known problem: a young network, structural diversity, two ownership entities whose data may sit in different systems, and many central functions. I reframed the decision in triage language — which stores warrant attention and what to investigate — so the product never implies it can explain causes. The synthetic illustration shows why age matters: in my fictional data New stores average far fewer exams than Mature stores, so any unadjusted comparison mixes age with performance. I have no evidence that current reporting is poor; that is the first thing discovery would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evaluated thirteen proposed groups and added five, including the Partnership Advisory Committee, which the partnership site confirms exists, and Business Development, the likely owner of store opening dates — the field the whole maturity concept depends on. I found no public evidence for a 'Retail Performance Manager' title, so I used Regional Retail Manager, title to be validated. Partners are consulted rather than approvers, with endorsement through the advisory committee. Three tensions stand out, and I would surface them in the first workshops rather than at 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requirements chain is traceable from seven objectives to twenty-four UAT scenarios. Rather than list them, here are the five judgments that do most of the work. First, compare like with like — same maturity cohort and format as at each week — and accept that some young stores will have no peer comparison rather than an unfair one. Second, flags are areas to investigate: rule (a) compares with peers, rule (b) with the store's own recent history, and the text says which. Third, when data quality is Red the product withholds values and flags instead of guessing. Fourth, small counts are protected: a count from one to four shows as less than five, and a rate is hidden if it would reveal that count. Fifth, clinical and commercial views stay separate: revenue is restricted context, and whether Optometry Partners see conversion is an open decision, not something I have decided for Specsavers.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assumed, generic architecture — I have not named any Specsavers platform. The key choice is a privacy boundary: patient-level linkage, such as connecting an exam to an eyewear purchase, happens only in restricted upstream zones, and only store-week aggregates reach reporting. Building the prototype taught me a second principle: calculate rolling windows, peer groups and exception flags once, upstream, and let the report only aggregate. That keeps one implementation of the rules — my Python engine and the dashboard logic are reconciled by tests — and it works under row-level security, because each store's row already carries its peer statistics. Revenue sits in its own table so object-level security can hide it from roles that should not see it. Converted or relocated stores are an open master-data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prototype, running on my synthetic data, as a regional manager in the Atlantic region would see it in the week of 17 August 2026. Step one: scope comes first — every card, chart and the data-quality banner count only the 6 Atlantic stores; the network's two Amber stores are outside the region, so the banner shows zero. Step two: four Atlantic stores are flagged on both on-time and turnaround against comparable stores, and the region's turnaround is 8.9 days over the last four weeks against about six elsewhere, so the right action is one conversation with Supply Chain rather than four store conversations. Step three: SYN-014, a young grocery-hosted store, looks small on volume but its ramp index is about 100 against stores at the same age. Step four: for a week with Red data quality the product shows no values and no flags. Step five: SYN-005 is flagged by the own-trend rule, and the explanation says so rather than implying a peer difference. The role switch is a simulated view; the page embeds all synthetic data and is not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is deliberately small: three pages, store-week aggregates and twelve governed KPIs, piloted with two or three regional managers and twelve to sixteen opt-in stores within an illustrative twelve weeks. On the left is the plan for an internal team — stories, twenty-four UAT scenarios and a sign-off order with privacy first. None of that has been executed, and I label it that way. On the right is what I actually did: 32/32 data checks, 30 calculation tests, 15 logic tests that reconcile the dashboard's JavaScript against the Python engine, and 83/83 rendered-page checks across simulated roles, pages, screen widths and real key presses. Testing found real defects in my first prototype — the regional view used network figures, Red weeks still showed values, and a chart revealed suppressed counts — and I fixed and regression-tested them. These are prototype checks on synthetic data, not user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not claimed any financial ROI. The value I would test is fairness, speed of finding stores that need attention, follow-up ownership and visible data quality. The limitations are real: public sources, synthetic data, simulated roles rather than security, no Power BI build, and no user testing or accessibility audit. Three policy decisions are deliberately left open because they belong to Specsavers — regional visibility, complementary suppression and whether Optometry Partners see conversion — and the prototype labels its assumptions for each. My first steps would be to validate that the problem exists, agree definitions and rules, confirm data access and privacy, and put the prototype in front of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 references:
EV-01 — Loblaw — Specsavers to open 111 new optical locations in Loblaw grocery stores (30 Jul 2025). https://www.loblaw.ca/en/specsavers-to-open-111-new-optical-locations-in-loblaw-grocery-stores-across-canada/ — Read.
EV-02 — Specsavers appoints Jane Hoban as Managing Director (Newswire copy) (11 Mar 2026). https://www.newswire.ca/news-releases/specsavers-appoints-jane-hoban-as-managing-director-to-lead-next-phase-of-canadian-expansion-873853796.html — Canonical specsavers.ca page returned 403.
EV-03–05, 10, 11, 16 — Specsavers Canada partnership prospectus (PDF) (Oct 2025). https://specsaverspartnership.ca/wp-content/uploads/2025/10/vx250312_03_Specsavers-Canada-Prospectus_8-2677x5-8268_EN_x1a-trim-6.pdf — Read (text extracted).
EV-03, 15 — Specsavers partnership — Retail partnership page (Accessed 13 Sep 2026). https://specsaverspartnership.ca/retail-partnership/ — Read.
EV-06 — Specsavers surpasses 100-store milestone in Canada (Newswire copy) (7 Feb 2024). https://www.newswire.ca/news-releases/specsavers-surpasses-100-store-milestone-in-canada-805965501.html — Canonical page 403.
EV-07 — Canada Eyecare Report 2025 — national vision gap (Newswire copy) (9 Oct 2025). https://www.newswire.ca/news-releases/specsavers-canada-highlights-national-vision-gap-one-third-of-canadians-are-overdue-for-an-eye-exam-848439853.html — Commissioned survey.
EV-08, 17 — Loblaw — Specsavers joins PC Optimum program (22 Jun 2026). https://www.loblaw.ca/en/specsavers-joins-pc-optimum-program/ — Re-read 13 Sep 2026.
EV-09a — Data Business Analyst, Burnaby (jid-13707) (Live at access). https://join.specsavers.com/ca/job/data-business-analyst-in-burnaby-british-columbia-canada-jid-13707 — Hiring evidence.
EV-09b — Data Analyst, Burnaby (jid-13749) (Live at access). https://join.specsavers.com/ca/job/data-analyst-in-burnaby-british-columbia-canada-jid-13749 — Hiring evidence.
EV-09c — Data Delivery Manager, Burnaby (jid-13764) (Live at access). https://join.specsavers.com/ca/job/data-delivery-manager-in-burnaby-british-columbia-canada-jid-13764 — Hiring evidence.
EV-09d — Product Owner — PMS/EMR application, Burnaby (jid-13803) (Live at access). https://join.specsavers.com/ca/job/product-owner-in-burnaby-british-columbia-canada-jid-13803 — Hiring evidence.
EV-12 — Specsavers Canada candidate privacy policy (Accessed 13 Sep 2026). https://join.specsavers.com/ca/candidate-privacy-policy/ — Read.
EV-13 — Retail Regional Manager, Burnaby (jid-8803) (Closed posting). https://join.specsavers.com/ca/job/retail-regional-manager-in-burnaby-british-columbia-canada-jid-8803 — HTTP 404; snippet only.
EV-14 — Regional Training Manager, Burnaby (jid-3691) (Closed posting). https://join.specsavers.com/ca/job/regional-training-manager-in-burnaby-british-columbia-canada-jid-3691 — HTTP 404; snippet only.
Power BI — Microsoft Learn — Set and use date tables in Power BI Desktop (Accessed 13 Sep 2026). https://learn.microsoft.com/en-us/power-bi/transform-model/desktop-date-tables — Design reference.
Power BI — Microsoft Learn — Tabular model object-level security (Accessed 13 Sep 2026). https://learn.microsoft.com/en-us/analysis-services/tabular-models/object-level-security?view=sql-analysis-services-2025 — Design reference.
Where specsavers.ca pages blocked automated access, I verified the same releases on Newswire or Loblaw and recorded both URLs in evidence-log.md.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log separates facts, company statements, commissioned research, hiring evidence and my own inferences. The repair pass added EV-17, which confirms that the 111 in-grocery locations announced in July 2025 opened during 2025, and it dates every network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Stakeholder evidence status is explicit — for example, the Privacy Officer role is publicly confirmed but a dedicated governance team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statements, rationale, owners, measures and validation questions are in the Phase 3, 4 and 5 documents. The feature-status matrix shows which are implemented in the prototype, simulated, specified only or deferred.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KPI has fifteen documented fields in the full dictionary. Version 0.2 clarifies the rolling window and Red-week rule, extends small-count suppression to rates with a small numerator, chooses one completeness method, and states two synthetic simplifications. No KPI IDs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facts load and reconcile independently; the prototype flattens them into one store-week CSV. The repair pass split the earlier FACT_SALES into exam-week conversion and transaction-week revenue, because two independent weekly aggregates cannot share a row without defining its meaning. Source-to-target mapping (23 rows), checkpoints and master-data responsibilities are in phase-07-data-model-and-flow.md.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reported gaps rather than engineering a perfect matrix. The repair pass added a lesson: an ID-level traceability matrix can be complete while the product still fails the requirement, so behaviour tests are linked back to the requirement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designed to test the rules — small peer groups, suppression, null versus zero, Red data weeks — not just to produce nice charts. The repair pass found four defects in my own calculation engine, fixed them in the engine rather than the outputs, and added regression tests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results reference deterministic synthetic test cases, so every scenario is reproducible. The status table separates what I executed on the prototype from what only an internal team can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risks rate High. The lowest-confidence assumptions are the ones I would test first in discovery. The repair pass added R-22: a polished prototype can be mistaken for a secured or user-tested product, so every page and document states its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loblaw.ca/en/specsavers-to-open-111-new-optical-locations-in-loblaw-grocery-stores-across-canada/" TargetMode="External"/><Relationship Id="rId2" Type="http://schemas.openxmlformats.org/officeDocument/2006/relationships/hyperlink" Target="https://www.newswire.ca/news-releases/specsavers-appoints-jane-hoban-as-managing-director-to-lead-next-phase-of-canadian-expansion-873853796.html" TargetMode="External"/><Relationship Id="rId3" Type="http://schemas.openxmlformats.org/officeDocument/2006/relationships/hyperlink" Target="https://specsaverspartnership.ca/wp-content/uploads/2025/10/vx250312_03_Specsavers-Canada-Prospectus_8-2677x5-8268_EN_x1a-trim-6.pdf" TargetMode="External"/><Relationship Id="rId4" Type="http://schemas.openxmlformats.org/officeDocument/2006/relationships/hyperlink" Target="https://specsaverspartnership.ca/retail-partnership/" TargetMode="External"/><Relationship Id="rId5" Type="http://schemas.openxmlformats.org/officeDocument/2006/relationships/hyperlink" Target="https://www.newswire.ca/news-releases/specsavers-surpasses-100-store-milestone-in-canada-805965501.html" TargetMode="External"/><Relationship Id="rId6" Type="http://schemas.openxmlformats.org/officeDocument/2006/relationships/hyperlink" Target="https://www.newswire.ca/news-releases/specsavers-canada-highlights-national-vision-gap-one-third-of-canadians-are-overdue-for-an-eye-exam-848439853.html" TargetMode="External"/><Relationship Id="rId7" Type="http://schemas.openxmlformats.org/officeDocument/2006/relationships/hyperlink" Target="https://www.loblaw.ca/en/specsavers-joins-pc-optimum-program/" TargetMode="External"/><Relationship Id="rId8" Type="http://schemas.openxmlformats.org/officeDocument/2006/relationships/hyperlink" Target="https://join.specsavers.com/ca/job/data-business-analyst-in-burnaby-british-columbia-canada-jid-13707" TargetMode="External"/><Relationship Id="rId9" Type="http://schemas.openxmlformats.org/officeDocument/2006/relationships/hyperlink" Target="https://join.specsavers.com/ca/job/data-analyst-in-burnaby-british-columbia-canada-jid-13749" TargetMode="External"/><Relationship Id="rId10" Type="http://schemas.openxmlformats.org/officeDocument/2006/relationships/hyperlink" Target="https://join.specsavers.com/ca/job/data-delivery-manager-in-burnaby-british-columbia-canada-jid-13764" TargetMode="External"/><Relationship Id="rId11" Type="http://schemas.openxmlformats.org/officeDocument/2006/relationships/hyperlink" Target="https://join.specsavers.com/ca/job/product-owner-in-burnaby-british-columbia-canada-jid-13803" TargetMode="External"/><Relationship Id="rId12" Type="http://schemas.openxmlformats.org/officeDocument/2006/relationships/hyperlink" Target="https://join.specsavers.com/ca/candidate-privacy-policy/" TargetMode="External"/><Relationship Id="rId13" Type="http://schemas.openxmlformats.org/officeDocument/2006/relationships/hyperlink" Target="https://join.specsavers.com/ca/job/retail-regional-manager-in-burnaby-british-columbia-canada-jid-8803" TargetMode="External"/><Relationship Id="rId14" Type="http://schemas.openxmlformats.org/officeDocument/2006/relationships/hyperlink" Target="https://join.specsavers.com/ca/job/regional-training-manager-in-burnaby-british-columbia-canada-jid-3691" TargetMode="External"/><Relationship Id="rId15" Type="http://schemas.openxmlformats.org/officeDocument/2006/relationships/hyperlink" Target="https://learn.microsoft.com/en-us/power-bi/transform-model/desktop-date-tables" TargetMode="External"/><Relationship Id="rId16" Type="http://schemas.openxmlformats.org/officeDocument/2006/relationships/hyperlink" Target="https://learn.microsoft.com/en-us/analysis-services/tabular-models/object-level-security?view=sql-analysis-services-2025" TargetMode="External"/><Relationship Id="rId17" Type="http://schemas.openxmlformats.org/officeDocument/2006/relationships/slideLayout" Target="../slideLayouts/slideLayout1.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D57"/>
        </a:solidFill>
      </p:bgPr>
    </p:bg>
    <p:spTree>
      <p:nvGrpSpPr>
        <p:cNvPr id="1" name=""/>
        <p:cNvGrpSpPr/>
        <p:nvPr/>
      </p:nvGrpSpPr>
      <p:grpSpPr>
        <a:xfrm>
          <a:off x="0" y="0"/>
          <a:ext cx="0" cy="0"/>
          <a:chOff x="0" y="0"/>
          <a:chExt cx="0" cy="0"/>
        </a:xfrm>
      </p:grpSpPr>
      <p:sp>
        <p:nvSpPr>
          <p:cNvPr id="2" name="Text 0"/>
          <p:cNvSpPr txBox="1"/>
          <p:nvPr/>
        </p:nvSpPr>
        <p:spPr>
          <a:xfrm>
            <a:off x="640080" y="640080"/>
            <a:ext cx="8229600" cy="274320"/>
          </a:xfrm>
          <a:prstGeom prst="rect">
            <a:avLst/>
          </a:prstGeom>
          <a:noFill/>
          <a:ln/>
        </p:spPr>
        <p:txBody>
          <a:bodyPr wrap="square" lIns="0" tIns="0" rIns="0" bIns="0" rtlCol="0" anchor="t"/>
          <a:lstStyle/>
          <a:p>
            <a:pPr indent="0" marL="0">
              <a:buNone/>
            </a:pPr>
            <a:r>
              <a:rPr lang="en-US" sz="1200" b="1" spc="200" kern="0" dirty="0">
                <a:solidFill>
                  <a:srgbClr val="A9D6D0"/>
                </a:solidFill>
                <a:latin typeface="Calibri" pitchFamily="34" charset="0"/>
                <a:ea typeface="Calibri" pitchFamily="34" charset="-122"/>
                <a:cs typeface="Calibri" pitchFamily="34" charset="-120"/>
              </a:rPr>
              <a:t>OUTSIDE-IN DATA BUSINESS ANALYSIS CASE STUDY</a:t>
            </a:r>
            <a:endParaRPr lang="en-US" sz="1200" dirty="0"/>
          </a:p>
        </p:txBody>
      </p:sp>
      <p:sp>
        <p:nvSpPr>
          <p:cNvPr id="3" name="Text 1"/>
          <p:cNvSpPr txBox="1"/>
          <p:nvPr/>
        </p:nvSpPr>
        <p:spPr>
          <a:xfrm>
            <a:off x="640080" y="1005840"/>
            <a:ext cx="694944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Fair Comparisons for a</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Fast-Growing Network</a:t>
            </a:r>
            <a:endParaRPr lang="en-US" sz="4400" dirty="0"/>
          </a:p>
        </p:txBody>
      </p:sp>
      <p:sp>
        <p:nvSpPr>
          <p:cNvPr id="4" name="Text 2"/>
          <p:cNvSpPr txBox="1"/>
          <p:nvPr/>
        </p:nvSpPr>
        <p:spPr>
          <a:xfrm>
            <a:off x="640080" y="2788920"/>
            <a:ext cx="6583680" cy="731520"/>
          </a:xfrm>
          <a:prstGeom prst="rect">
            <a:avLst/>
          </a:prstGeom>
          <a:noFill/>
          <a:ln/>
        </p:spPr>
        <p:txBody>
          <a:bodyPr wrap="square" lIns="0" tIns="0" rIns="0" bIns="0" rtlCol="0" anchor="t"/>
          <a:lstStyle/>
          <a:p>
            <a:pPr indent="0" marL="0">
              <a:buNone/>
            </a:pPr>
            <a:r>
              <a:rPr lang="en-US" sz="1800" dirty="0">
                <a:solidFill>
                  <a:srgbClr val="DDEFEC"/>
                </a:solidFill>
                <a:latin typeface="Calibri" pitchFamily="34" charset="0"/>
                <a:ea typeface="Calibri" pitchFamily="34" charset="-122"/>
                <a:cs typeface="Calibri" pitchFamily="34" charset="-120"/>
              </a:rPr>
              <a:t>Store ramp-up and partner performance intelligence — a proposed reporting product for Specsavers Canada</a:t>
            </a:r>
            <a:endParaRPr lang="en-US" sz="1800" dirty="0"/>
          </a:p>
        </p:txBody>
      </p:sp>
      <p:sp>
        <p:nvSpPr>
          <p:cNvPr id="5" name="Text 3"/>
          <p:cNvSpPr txBox="1"/>
          <p:nvPr/>
        </p:nvSpPr>
        <p:spPr>
          <a:xfrm>
            <a:off x="640080" y="3703320"/>
            <a:ext cx="6583680" cy="100584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What I did  </a:t>
            </a:r>
            <a:pPr indent="0" marL="0">
              <a:buNone/>
            </a:pPr>
            <a:r>
              <a:rPr lang="en-US" sz="1350" dirty="0">
                <a:solidFill>
                  <a:srgbClr val="DDEFEC"/>
                </a:solidFill>
                <a:latin typeface="Calibri" pitchFamily="34" charset="0"/>
                <a:ea typeface="Calibri" pitchFamily="34" charset="-122"/>
                <a:cs typeface="Calibri" pitchFamily="34" charset="-120"/>
              </a:rPr>
              <a:t>Researched public evidence, analysed stakeholders, wrote requirements and KPI rules, designed the data model, generated a synthetic dataset, built and tested a three-page prototype, and planned UAT.</a:t>
            </a:r>
            <a:endParaRPr lang="en-US" sz="1350" dirty="0"/>
          </a:p>
        </p:txBody>
      </p:sp>
      <p:sp>
        <p:nvSpPr>
          <p:cNvPr id="6" name="Text 4"/>
          <p:cNvSpPr txBox="1"/>
          <p:nvPr/>
        </p:nvSpPr>
        <p:spPr>
          <a:xfrm>
            <a:off x="640080" y="5989320"/>
            <a:ext cx="7315200" cy="320040"/>
          </a:xfrm>
          <a:prstGeom prst="rect">
            <a:avLst/>
          </a:prstGeom>
          <a:noFill/>
          <a:ln/>
        </p:spPr>
        <p:txBody>
          <a:bodyPr wrap="square" lIns="0" tIns="0" rIns="0" bIns="0" rtlCol="0" anchor="t"/>
          <a:lstStyle/>
          <a:p>
            <a:pPr indent="0" marL="0">
              <a:buNone/>
            </a:pPr>
            <a:r>
              <a:rPr lang="en-US" sz="1100" dirty="0">
                <a:solidFill>
                  <a:srgbClr val="A9D6D0"/>
                </a:solidFill>
                <a:latin typeface="Calibri" pitchFamily="34" charset="0"/>
                <a:ea typeface="Calibri" pitchFamily="34" charset="-122"/>
                <a:cs typeface="Calibri" pitchFamily="34" charset="-120"/>
              </a:rPr>
              <a:t>Portfolio case study for the Data Business Analyst role · Specsavers Canada, Burnaby, BC · September 2026</a:t>
            </a:r>
            <a:endParaRPr lang="en-US" sz="1100" dirty="0"/>
          </a:p>
        </p:txBody>
      </p:sp>
      <p:sp>
        <p:nvSpPr>
          <p:cNvPr id="7" name="Shape 5"/>
          <p:cNvSpPr/>
          <p:nvPr/>
        </p:nvSpPr>
        <p:spPr>
          <a:xfrm>
            <a:off x="7818120" y="640080"/>
            <a:ext cx="3749040" cy="5440680"/>
          </a:xfrm>
          <a:prstGeom prst="roundRect">
            <a:avLst>
              <a:gd name="adj" fmla="val 1951"/>
            </a:avLst>
          </a:prstGeom>
          <a:solidFill>
            <a:srgbClr val="08423E"/>
          </a:solidFill>
          <a:ln/>
        </p:spPr>
      </p:sp>
      <p:sp>
        <p:nvSpPr>
          <p:cNvPr id="8" name="Text 6"/>
          <p:cNvSpPr txBox="1"/>
          <p:nvPr/>
        </p:nvSpPr>
        <p:spPr>
          <a:xfrm>
            <a:off x="8092440" y="868680"/>
            <a:ext cx="3291840"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Outside-in disclaimer</a:t>
            </a:r>
            <a:endParaRPr lang="en-US" sz="1500" dirty="0"/>
          </a:p>
        </p:txBody>
      </p:sp>
      <p:sp>
        <p:nvSpPr>
          <p:cNvPr id="9" name="Text 7"/>
          <p:cNvSpPr txBox="1"/>
          <p:nvPr/>
        </p:nvSpPr>
        <p:spPr>
          <a:xfrm>
            <a:off x="8092440" y="1280160"/>
            <a:ext cx="3246120" cy="329184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DDEFEC"/>
                </a:solidFill>
                <a:latin typeface="Calibri" pitchFamily="34" charset="0"/>
                <a:ea typeface="Calibri" pitchFamily="34" charset="-122"/>
                <a:cs typeface="Calibri" pitchFamily="34" charset="-120"/>
              </a:rPr>
              <a:t>Built only from public information and synthetic data.</a:t>
            </a:r>
            <a:endParaRPr lang="en-US" sz="1250" dirty="0"/>
          </a:p>
          <a:p>
            <a:pPr marL="152400" indent="-152400">
              <a:spcAft>
                <a:spcPts val="800"/>
              </a:spcAft>
              <a:buSzPct val="100000"/>
              <a:buChar char="•"/>
            </a:pPr>
            <a:r>
              <a:rPr lang="en-US" sz="1250" dirty="0">
                <a:solidFill>
                  <a:srgbClr val="DDEFEC"/>
                </a:solidFill>
                <a:latin typeface="Calibri" pitchFamily="34" charset="0"/>
                <a:ea typeface="Calibri" pitchFamily="34" charset="-122"/>
                <a:cs typeface="Calibri" pitchFamily="34" charset="-120"/>
              </a:rPr>
              <a:t>Does not claim that Specsavers' reporting is inadequate or that any stakeholder reviewed this work.</a:t>
            </a:r>
            <a:endParaRPr lang="en-US" sz="1250" dirty="0"/>
          </a:p>
          <a:p>
            <a:pPr marL="152400" indent="-152400">
              <a:spcAft>
                <a:spcPts val="800"/>
              </a:spcAft>
              <a:buSzPct val="100000"/>
              <a:buChar char="•"/>
            </a:pPr>
            <a:r>
              <a:rPr lang="en-US" sz="1250" dirty="0">
                <a:solidFill>
                  <a:srgbClr val="DDEFEC"/>
                </a:solidFill>
                <a:latin typeface="Calibri" pitchFamily="34" charset="0"/>
                <a:ea typeface="Calibri" pitchFamily="34" charset="-122"/>
                <a:cs typeface="Calibri" pitchFamily="34" charset="-120"/>
              </a:rPr>
              <a:t>Every number in the prototype is fictional.</a:t>
            </a:r>
            <a:endParaRPr lang="en-US" sz="1250" dirty="0"/>
          </a:p>
          <a:p>
            <a:pPr marL="152400" indent="-152400">
              <a:spcAft>
                <a:spcPts val="800"/>
              </a:spcAft>
              <a:buSzPct val="100000"/>
              <a:buChar char="•"/>
            </a:pPr>
            <a:r>
              <a:rPr lang="en-US" sz="1250" dirty="0">
                <a:solidFill>
                  <a:srgbClr val="DDEFEC"/>
                </a:solidFill>
                <a:latin typeface="Calibri" pitchFamily="34" charset="0"/>
                <a:ea typeface="Calibri" pitchFamily="34" charset="-122"/>
                <a:cs typeface="Calibri" pitchFamily="34" charset="-120"/>
              </a:rPr>
              <a:t>Targets, thresholds and definitions are illustrative proposals.</a:t>
            </a:r>
            <a:endParaRPr lang="en-US" sz="1250" dirty="0"/>
          </a:p>
          <a:p>
            <a:pPr marL="152400" indent="-152400">
              <a:spcAft>
                <a:spcPts val="800"/>
              </a:spcAft>
              <a:buSzPct val="100000"/>
              <a:buChar char="•"/>
            </a:pPr>
            <a:r>
              <a:rPr lang="en-US" sz="1250" dirty="0">
                <a:solidFill>
                  <a:srgbClr val="DDEFEC"/>
                </a:solidFill>
                <a:latin typeface="Calibri" pitchFamily="34" charset="0"/>
                <a:ea typeface="Calibri" pitchFamily="34" charset="-122"/>
                <a:cs typeface="Calibri" pitchFamily="34" charset="-120"/>
              </a:rPr>
              <a:t>No patient-identifiable data, diagnoses or individual performance.</a:t>
            </a:r>
            <a:endParaRPr lang="en-US" sz="1250" dirty="0"/>
          </a:p>
        </p:txBody>
      </p:sp>
      <p:sp>
        <p:nvSpPr>
          <p:cNvPr id="10" name="Text 8"/>
          <p:cNvSpPr txBox="1"/>
          <p:nvPr/>
        </p:nvSpPr>
        <p:spPr>
          <a:xfrm>
            <a:off x="8092440" y="4754880"/>
            <a:ext cx="3291840" cy="27432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Evidence labels used throughout</a:t>
            </a:r>
            <a:endParaRPr lang="en-US" sz="1100" dirty="0"/>
          </a:p>
        </p:txBody>
      </p:sp>
      <p:sp>
        <p:nvSpPr>
          <p:cNvPr id="11" name="Text 9"/>
          <p:cNvSpPr txBox="1"/>
          <p:nvPr/>
        </p:nvSpPr>
        <p:spPr>
          <a:xfrm>
            <a:off x="8092440" y="5120640"/>
            <a:ext cx="574243" cy="228600"/>
          </a:xfrm>
          <a:prstGeom prst="roundRect">
            <a:avLst>
              <a:gd name="adj" fmla="val 40000"/>
            </a:avLst>
          </a:prstGeom>
          <a:solidFill>
            <a:srgbClr val="0B5D57"/>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FACT</a:t>
            </a:r>
            <a:endParaRPr lang="en-US" sz="900" dirty="0"/>
          </a:p>
        </p:txBody>
      </p:sp>
      <p:sp>
        <p:nvSpPr>
          <p:cNvPr id="12" name="Text 10"/>
          <p:cNvSpPr txBox="1"/>
          <p:nvPr/>
        </p:nvSpPr>
        <p:spPr>
          <a:xfrm>
            <a:off x="8823960" y="5120640"/>
            <a:ext cx="949147" cy="228600"/>
          </a:xfrm>
          <a:prstGeom prst="roundRect">
            <a:avLst>
              <a:gd name="adj" fmla="val 40000"/>
            </a:avLst>
          </a:prstGeom>
          <a:solidFill>
            <a:srgbClr val="5E4B8B"/>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INFERENCE</a:t>
            </a:r>
            <a:endParaRPr lang="en-US" sz="900" dirty="0"/>
          </a:p>
        </p:txBody>
      </p:sp>
      <p:sp>
        <p:nvSpPr>
          <p:cNvPr id="13" name="Text 11"/>
          <p:cNvSpPr txBox="1"/>
          <p:nvPr/>
        </p:nvSpPr>
        <p:spPr>
          <a:xfrm>
            <a:off x="9994392" y="5120640"/>
            <a:ext cx="1024128" cy="228600"/>
          </a:xfrm>
          <a:prstGeom prst="roundRect">
            <a:avLst>
              <a:gd name="adj" fmla="val 40000"/>
            </a:avLst>
          </a:prstGeom>
          <a:solidFill>
            <a:srgbClr val="8A5300"/>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ASSUMPTION</a:t>
            </a:r>
            <a:endParaRPr lang="en-US" sz="900" dirty="0"/>
          </a:p>
        </p:txBody>
      </p:sp>
      <p:sp>
        <p:nvSpPr>
          <p:cNvPr id="14" name="Text 12"/>
          <p:cNvSpPr txBox="1"/>
          <p:nvPr/>
        </p:nvSpPr>
        <p:spPr>
          <a:xfrm>
            <a:off x="8092440" y="5458968"/>
            <a:ext cx="949147" cy="228600"/>
          </a:xfrm>
          <a:prstGeom prst="roundRect">
            <a:avLst>
              <a:gd name="adj" fmla="val 40000"/>
            </a:avLst>
          </a:prstGeom>
          <a:solidFill>
            <a:srgbClr val="A84A14"/>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SYNTHETIC</a:t>
            </a:r>
            <a:endParaRPr lang="en-US" sz="900" dirty="0"/>
          </a:p>
        </p:txBody>
      </p:sp>
      <p:sp>
        <p:nvSpPr>
          <p:cNvPr id="15" name="Text 13"/>
          <p:cNvSpPr txBox="1"/>
          <p:nvPr/>
        </p:nvSpPr>
        <p:spPr>
          <a:xfrm>
            <a:off x="9208008" y="5458968"/>
            <a:ext cx="1174090" cy="228600"/>
          </a:xfrm>
          <a:prstGeom prst="roundRect">
            <a:avLst>
              <a:gd name="adj" fmla="val 40000"/>
            </a:avLst>
          </a:prstGeom>
          <a:solidFill>
            <a:srgbClr val="6B7B85"/>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ILLUSTRATIVE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SPECSAVERS CANADA CONTEXT — PUBLIC EVIDENCE, DATED</a:t>
            </a:r>
            <a:endParaRPr lang="en-US" sz="1100" dirty="0"/>
          </a:p>
        </p:txBody>
      </p:sp>
      <p:sp>
        <p:nvSpPr>
          <p:cNvPr id="3" name="Text 1"/>
          <p:cNvSpPr txBox="1"/>
          <p:nvPr/>
        </p:nvSpPr>
        <p:spPr>
          <a:xfrm>
            <a:off x="457200" y="548640"/>
            <a:ext cx="11247120" cy="640080"/>
          </a:xfrm>
          <a:prstGeom prst="rect">
            <a:avLst/>
          </a:prstGeom>
          <a:noFill/>
          <a:ln/>
        </p:spPr>
        <p:txBody>
          <a:bodyPr wrap="square" lIns="0" tIns="0" rIns="0" bIns="0" rtlCol="0" anchor="t"/>
          <a:lstStyle/>
          <a:p>
            <a:pPr indent="0" marL="0">
              <a:buNone/>
            </a:pPr>
            <a:r>
              <a:rPr lang="en-US" sz="2800" b="1" dirty="0">
                <a:solidFill>
                  <a:srgbClr val="1D2A33"/>
                </a:solidFill>
                <a:latin typeface="Cambria" pitchFamily="34" charset="0"/>
                <a:ea typeface="Cambria" pitchFamily="34" charset="-122"/>
                <a:cs typeface="Cambria" pitchFamily="34" charset="-120"/>
              </a:rPr>
              <a:t>Rapid, geographically diverse growth</a:t>
            </a:r>
            <a:endParaRPr lang="en-US" sz="2800" dirty="0"/>
          </a:p>
        </p:txBody>
      </p:sp>
      <p:sp>
        <p:nvSpPr>
          <p:cNvPr id="4" name="Text 2"/>
          <p:cNvSpPr txBox="1"/>
          <p:nvPr/>
        </p:nvSpPr>
        <p:spPr>
          <a:xfrm>
            <a:off x="11247120" y="292608"/>
            <a:ext cx="502920" cy="256032"/>
          </a:xfrm>
          <a:prstGeom prst="rect">
            <a:avLst/>
          </a:prstGeom>
          <a:noFill/>
          <a:ln/>
        </p:spPr>
        <p:txBody>
          <a:bodyPr wrap="square" lIns="0" tIns="0" rIns="0" bIns="0" rtlCol="0" anchor="t"/>
          <a:lstStyle/>
          <a:p>
            <a:pPr algn="r" indent="0" marL="0">
              <a:buNone/>
            </a:pPr>
            <a:r>
              <a:rPr lang="en-US" sz="1100" dirty="0">
                <a:solidFill>
                  <a:srgbClr val="56656F"/>
                </a:solidFill>
                <a:latin typeface="Calibri" pitchFamily="34" charset="0"/>
                <a:ea typeface="Calibri" pitchFamily="34" charset="-122"/>
                <a:cs typeface="Calibri" pitchFamily="34" charset="-120"/>
              </a:rPr>
              <a:t>2</a:t>
            </a:r>
            <a:endParaRPr lang="en-US" sz="1100" dirty="0"/>
          </a:p>
        </p:txBody>
      </p:sp>
      <p:sp>
        <p:nvSpPr>
          <p:cNvPr id="5" name="Shape 3"/>
          <p:cNvSpPr/>
          <p:nvPr/>
        </p:nvSpPr>
        <p:spPr>
          <a:xfrm>
            <a:off x="457200" y="1417320"/>
            <a:ext cx="2743200" cy="2286000"/>
          </a:xfrm>
          <a:prstGeom prst="roundRect">
            <a:avLst>
              <a:gd name="adj" fmla="val 3200"/>
            </a:avLst>
          </a:prstGeom>
          <a:solidFill>
            <a:srgbClr val="F4F7F8"/>
          </a:solidFill>
          <a:ln/>
        </p:spPr>
      </p:sp>
      <p:sp>
        <p:nvSpPr>
          <p:cNvPr id="6" name="Text 4"/>
          <p:cNvSpPr txBox="1"/>
          <p:nvPr/>
        </p:nvSpPr>
        <p:spPr>
          <a:xfrm>
            <a:off x="658368" y="1554480"/>
            <a:ext cx="2377440" cy="731520"/>
          </a:xfrm>
          <a:prstGeom prst="rect">
            <a:avLst/>
          </a:prstGeom>
          <a:noFill/>
          <a:ln/>
        </p:spPr>
        <p:txBody>
          <a:bodyPr wrap="square" lIns="0" tIns="0" rIns="0" bIns="0" rtlCol="0" anchor="t"/>
          <a:lstStyle/>
          <a:p>
            <a:pPr indent="0" marL="0">
              <a:buNone/>
            </a:pPr>
            <a:r>
              <a:rPr lang="en-US" sz="3800" b="1" dirty="0">
                <a:solidFill>
                  <a:srgbClr val="0B5D57"/>
                </a:solidFill>
                <a:latin typeface="Cambria" pitchFamily="34" charset="0"/>
                <a:ea typeface="Cambria" pitchFamily="34" charset="-122"/>
                <a:cs typeface="Cambria" pitchFamily="34" charset="-120"/>
              </a:rPr>
              <a:t>111</a:t>
            </a:r>
            <a:endParaRPr lang="en-US" sz="3800" dirty="0"/>
          </a:p>
        </p:txBody>
      </p:sp>
      <p:sp>
        <p:nvSpPr>
          <p:cNvPr id="7" name="Text 5"/>
          <p:cNvSpPr txBox="1"/>
          <p:nvPr/>
        </p:nvSpPr>
        <p:spPr>
          <a:xfrm>
            <a:off x="658368" y="2286000"/>
            <a:ext cx="2377440" cy="960120"/>
          </a:xfrm>
          <a:prstGeom prst="rect">
            <a:avLst/>
          </a:prstGeom>
          <a:noFill/>
          <a:ln/>
        </p:spPr>
        <p:txBody>
          <a:bodyPr wrap="square" lIns="0" tIns="0" rIns="0" bIns="0" rtlCol="0" anchor="t"/>
          <a:lstStyle/>
          <a:p>
            <a:pPr indent="0" marL="0">
              <a:buNone/>
            </a:pPr>
            <a:r>
              <a:rPr lang="en-US" sz="1250" dirty="0">
                <a:solidFill>
                  <a:srgbClr val="1D2A33"/>
                </a:solidFill>
                <a:latin typeface="Calibri" pitchFamily="34" charset="0"/>
                <a:ea typeface="Calibri" pitchFamily="34" charset="-122"/>
                <a:cs typeface="Calibri" pitchFamily="34" charset="-120"/>
              </a:rPr>
              <a:t>in-grocery locations announced in Jul 2025 and reported open during 2025 (release of 22 Jun 2026)</a:t>
            </a:r>
            <a:endParaRPr lang="en-US" sz="1250" dirty="0"/>
          </a:p>
        </p:txBody>
      </p:sp>
      <p:sp>
        <p:nvSpPr>
          <p:cNvPr id="8" name="Text 6"/>
          <p:cNvSpPr txBox="1"/>
          <p:nvPr/>
        </p:nvSpPr>
        <p:spPr>
          <a:xfrm>
            <a:off x="658368" y="3319272"/>
            <a:ext cx="574243" cy="228600"/>
          </a:xfrm>
          <a:prstGeom prst="roundRect">
            <a:avLst>
              <a:gd name="adj" fmla="val 40000"/>
            </a:avLst>
          </a:prstGeom>
          <a:solidFill>
            <a:srgbClr val="0B5D57"/>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FACT</a:t>
            </a:r>
            <a:endParaRPr lang="en-US" sz="900" dirty="0"/>
          </a:p>
        </p:txBody>
      </p:sp>
      <p:sp>
        <p:nvSpPr>
          <p:cNvPr id="9" name="Text 7"/>
          <p:cNvSpPr txBox="1"/>
          <p:nvPr/>
        </p:nvSpPr>
        <p:spPr>
          <a:xfrm>
            <a:off x="1874520" y="3337560"/>
            <a:ext cx="1188720" cy="219456"/>
          </a:xfrm>
          <a:prstGeom prst="rect">
            <a:avLst/>
          </a:prstGeom>
          <a:noFill/>
          <a:ln/>
        </p:spPr>
        <p:txBody>
          <a:bodyPr wrap="square" lIns="0" tIns="0" rIns="0" bIns="0" rtlCol="0" anchor="t"/>
          <a:lstStyle/>
          <a:p>
            <a:pPr algn="r" indent="0" marL="0">
              <a:buNone/>
            </a:pPr>
            <a:r>
              <a:rPr lang="en-US" sz="950" dirty="0">
                <a:solidFill>
                  <a:srgbClr val="56656F"/>
                </a:solidFill>
                <a:latin typeface="Calibri" pitchFamily="34" charset="0"/>
                <a:ea typeface="Calibri" pitchFamily="34" charset="-122"/>
                <a:cs typeface="Calibri" pitchFamily="34" charset="-120"/>
              </a:rPr>
              <a:t>EV-01, EV-17</a:t>
            </a:r>
            <a:endParaRPr lang="en-US" sz="950" dirty="0"/>
          </a:p>
        </p:txBody>
      </p:sp>
      <p:sp>
        <p:nvSpPr>
          <p:cNvPr id="10" name="Shape 8"/>
          <p:cNvSpPr/>
          <p:nvPr/>
        </p:nvSpPr>
        <p:spPr>
          <a:xfrm>
            <a:off x="3383280" y="1417320"/>
            <a:ext cx="2743200" cy="2286000"/>
          </a:xfrm>
          <a:prstGeom prst="roundRect">
            <a:avLst>
              <a:gd name="adj" fmla="val 3200"/>
            </a:avLst>
          </a:prstGeom>
          <a:solidFill>
            <a:srgbClr val="F4F7F8"/>
          </a:solidFill>
          <a:ln/>
        </p:spPr>
      </p:sp>
      <p:sp>
        <p:nvSpPr>
          <p:cNvPr id="11" name="Text 9"/>
          <p:cNvSpPr txBox="1"/>
          <p:nvPr/>
        </p:nvSpPr>
        <p:spPr>
          <a:xfrm>
            <a:off x="3584448" y="1554480"/>
            <a:ext cx="2377440" cy="731520"/>
          </a:xfrm>
          <a:prstGeom prst="rect">
            <a:avLst/>
          </a:prstGeom>
          <a:noFill/>
          <a:ln/>
        </p:spPr>
        <p:txBody>
          <a:bodyPr wrap="square" lIns="0" tIns="0" rIns="0" bIns="0" rtlCol="0" anchor="t"/>
          <a:lstStyle/>
          <a:p>
            <a:pPr indent="0" marL="0">
              <a:buNone/>
            </a:pPr>
            <a:r>
              <a:rPr lang="en-US" sz="3800" b="1" dirty="0">
                <a:solidFill>
                  <a:srgbClr val="0B5D57"/>
                </a:solidFill>
                <a:latin typeface="Cambria" pitchFamily="34" charset="0"/>
                <a:ea typeface="Cambria" pitchFamily="34" charset="-122"/>
                <a:cs typeface="Cambria" pitchFamily="34" charset="-120"/>
              </a:rPr>
              <a:t>270+</a:t>
            </a:r>
            <a:endParaRPr lang="en-US" sz="3800" dirty="0"/>
          </a:p>
        </p:txBody>
      </p:sp>
      <p:sp>
        <p:nvSpPr>
          <p:cNvPr id="12" name="Text 10"/>
          <p:cNvSpPr txBox="1"/>
          <p:nvPr/>
        </p:nvSpPr>
        <p:spPr>
          <a:xfrm>
            <a:off x="3584448" y="2286000"/>
            <a:ext cx="2377440" cy="960120"/>
          </a:xfrm>
          <a:prstGeom prst="rect">
            <a:avLst/>
          </a:prstGeom>
          <a:noFill/>
          <a:ln/>
        </p:spPr>
        <p:txBody>
          <a:bodyPr wrap="square" lIns="0" tIns="0" rIns="0" bIns="0" rtlCol="0" anchor="t"/>
          <a:lstStyle/>
          <a:p>
            <a:pPr indent="0" marL="0">
              <a:buNone/>
            </a:pPr>
            <a:r>
              <a:rPr lang="en-US" sz="1250" dirty="0">
                <a:solidFill>
                  <a:srgbClr val="1D2A33"/>
                </a:solidFill>
                <a:latin typeface="Calibri" pitchFamily="34" charset="0"/>
                <a:ea typeface="Calibri" pitchFamily="34" charset="-122"/>
                <a:cs typeface="Calibri" pitchFamily="34" charset="-120"/>
              </a:rPr>
              <a:t>locations across nine provinces and one territory, as reported in Mar and Jun 2026</a:t>
            </a:r>
            <a:endParaRPr lang="en-US" sz="1250" dirty="0"/>
          </a:p>
        </p:txBody>
      </p:sp>
      <p:sp>
        <p:nvSpPr>
          <p:cNvPr id="13" name="Text 11"/>
          <p:cNvSpPr txBox="1"/>
          <p:nvPr/>
        </p:nvSpPr>
        <p:spPr>
          <a:xfrm>
            <a:off x="3584448" y="3319272"/>
            <a:ext cx="574243" cy="228600"/>
          </a:xfrm>
          <a:prstGeom prst="roundRect">
            <a:avLst>
              <a:gd name="adj" fmla="val 40000"/>
            </a:avLst>
          </a:prstGeom>
          <a:solidFill>
            <a:srgbClr val="0B5D57"/>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FACT</a:t>
            </a:r>
            <a:endParaRPr lang="en-US" sz="900" dirty="0"/>
          </a:p>
        </p:txBody>
      </p:sp>
      <p:sp>
        <p:nvSpPr>
          <p:cNvPr id="14" name="Text 12"/>
          <p:cNvSpPr txBox="1"/>
          <p:nvPr/>
        </p:nvSpPr>
        <p:spPr>
          <a:xfrm>
            <a:off x="4800600" y="3337560"/>
            <a:ext cx="1188720" cy="219456"/>
          </a:xfrm>
          <a:prstGeom prst="rect">
            <a:avLst/>
          </a:prstGeom>
          <a:noFill/>
          <a:ln/>
        </p:spPr>
        <p:txBody>
          <a:bodyPr wrap="square" lIns="0" tIns="0" rIns="0" bIns="0" rtlCol="0" anchor="t"/>
          <a:lstStyle/>
          <a:p>
            <a:pPr algn="r" indent="0" marL="0">
              <a:buNone/>
            </a:pPr>
            <a:r>
              <a:rPr lang="en-US" sz="950" dirty="0">
                <a:solidFill>
                  <a:srgbClr val="56656F"/>
                </a:solidFill>
                <a:latin typeface="Calibri" pitchFamily="34" charset="0"/>
                <a:ea typeface="Calibri" pitchFamily="34" charset="-122"/>
                <a:cs typeface="Calibri" pitchFamily="34" charset="-120"/>
              </a:rPr>
              <a:t>EV-02, EV-17</a:t>
            </a:r>
            <a:endParaRPr lang="en-US" sz="950" dirty="0"/>
          </a:p>
        </p:txBody>
      </p:sp>
      <p:sp>
        <p:nvSpPr>
          <p:cNvPr id="15" name="Shape 13"/>
          <p:cNvSpPr/>
          <p:nvPr/>
        </p:nvSpPr>
        <p:spPr>
          <a:xfrm>
            <a:off x="457200" y="3886200"/>
            <a:ext cx="2743200" cy="2286000"/>
          </a:xfrm>
          <a:prstGeom prst="roundRect">
            <a:avLst>
              <a:gd name="adj" fmla="val 3200"/>
            </a:avLst>
          </a:prstGeom>
          <a:solidFill>
            <a:srgbClr val="F4F7F8"/>
          </a:solidFill>
          <a:ln/>
        </p:spPr>
      </p:sp>
      <p:sp>
        <p:nvSpPr>
          <p:cNvPr id="16" name="Text 14"/>
          <p:cNvSpPr txBox="1"/>
          <p:nvPr/>
        </p:nvSpPr>
        <p:spPr>
          <a:xfrm>
            <a:off x="658368" y="4023360"/>
            <a:ext cx="2377440" cy="731520"/>
          </a:xfrm>
          <a:prstGeom prst="rect">
            <a:avLst/>
          </a:prstGeom>
          <a:noFill/>
          <a:ln/>
        </p:spPr>
        <p:txBody>
          <a:bodyPr wrap="square" lIns="0" tIns="0" rIns="0" bIns="0" rtlCol="0" anchor="t"/>
          <a:lstStyle/>
          <a:p>
            <a:pPr indent="0" marL="0">
              <a:buNone/>
            </a:pPr>
            <a:r>
              <a:rPr lang="en-US" sz="3800" b="1" dirty="0">
                <a:solidFill>
                  <a:srgbClr val="5E4B8B"/>
                </a:solidFill>
                <a:latin typeface="Cambria" pitchFamily="34" charset="0"/>
                <a:ea typeface="Cambria" pitchFamily="34" charset="-122"/>
                <a:cs typeface="Cambria" pitchFamily="34" charset="-120"/>
              </a:rPr>
              <a:t>≈ half</a:t>
            </a:r>
            <a:endParaRPr lang="en-US" sz="3800" dirty="0"/>
          </a:p>
        </p:txBody>
      </p:sp>
      <p:sp>
        <p:nvSpPr>
          <p:cNvPr id="17" name="Text 15"/>
          <p:cNvSpPr txBox="1"/>
          <p:nvPr/>
        </p:nvSpPr>
        <p:spPr>
          <a:xfrm>
            <a:off x="658368" y="4754880"/>
            <a:ext cx="2377440" cy="960120"/>
          </a:xfrm>
          <a:prstGeom prst="rect">
            <a:avLst/>
          </a:prstGeom>
          <a:noFill/>
          <a:ln/>
        </p:spPr>
        <p:txBody>
          <a:bodyPr wrap="square" lIns="0" tIns="0" rIns="0" bIns="0" rtlCol="0" anchor="t"/>
          <a:lstStyle/>
          <a:p>
            <a:pPr indent="0" marL="0">
              <a:buNone/>
            </a:pPr>
            <a:r>
              <a:rPr lang="en-US" sz="1250" dirty="0">
                <a:solidFill>
                  <a:srgbClr val="1D2A33"/>
                </a:solidFill>
                <a:latin typeface="Calibri" pitchFamily="34" charset="0"/>
                <a:ea typeface="Calibri" pitchFamily="34" charset="-122"/>
                <a:cs typeface="Calibri" pitchFamily="34" charset="-120"/>
              </a:rPr>
              <a:t>of the network opened in 2025: 130+ openings of 270+ stores (Mar 2026) — my arithmetic on lower bounds</a:t>
            </a:r>
            <a:endParaRPr lang="en-US" sz="1250" dirty="0"/>
          </a:p>
        </p:txBody>
      </p:sp>
      <p:sp>
        <p:nvSpPr>
          <p:cNvPr id="18" name="Text 16"/>
          <p:cNvSpPr txBox="1"/>
          <p:nvPr/>
        </p:nvSpPr>
        <p:spPr>
          <a:xfrm>
            <a:off x="658368" y="5788152"/>
            <a:ext cx="949147" cy="228600"/>
          </a:xfrm>
          <a:prstGeom prst="roundRect">
            <a:avLst>
              <a:gd name="adj" fmla="val 40000"/>
            </a:avLst>
          </a:prstGeom>
          <a:solidFill>
            <a:srgbClr val="5E4B8B"/>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INFERENCE</a:t>
            </a:r>
            <a:endParaRPr lang="en-US" sz="900" dirty="0"/>
          </a:p>
        </p:txBody>
      </p:sp>
      <p:sp>
        <p:nvSpPr>
          <p:cNvPr id="19" name="Text 17"/>
          <p:cNvSpPr txBox="1"/>
          <p:nvPr/>
        </p:nvSpPr>
        <p:spPr>
          <a:xfrm>
            <a:off x="1874520" y="5806440"/>
            <a:ext cx="1188720" cy="219456"/>
          </a:xfrm>
          <a:prstGeom prst="rect">
            <a:avLst/>
          </a:prstGeom>
          <a:noFill/>
          <a:ln/>
        </p:spPr>
        <p:txBody>
          <a:bodyPr wrap="square" lIns="0" tIns="0" rIns="0" bIns="0" rtlCol="0" anchor="t"/>
          <a:lstStyle/>
          <a:p>
            <a:pPr algn="r" indent="0" marL="0">
              <a:buNone/>
            </a:pPr>
            <a:r>
              <a:rPr lang="en-US" sz="950" dirty="0">
                <a:solidFill>
                  <a:srgbClr val="56656F"/>
                </a:solidFill>
                <a:latin typeface="Calibri" pitchFamily="34" charset="0"/>
                <a:ea typeface="Calibri" pitchFamily="34" charset="-122"/>
                <a:cs typeface="Calibri" pitchFamily="34" charset="-120"/>
              </a:rPr>
              <a:t>EV-02</a:t>
            </a:r>
            <a:endParaRPr lang="en-US" sz="950" dirty="0"/>
          </a:p>
        </p:txBody>
      </p:sp>
      <p:sp>
        <p:nvSpPr>
          <p:cNvPr id="20" name="Shape 18"/>
          <p:cNvSpPr/>
          <p:nvPr/>
        </p:nvSpPr>
        <p:spPr>
          <a:xfrm>
            <a:off x="3383280" y="3886200"/>
            <a:ext cx="2743200" cy="2286000"/>
          </a:xfrm>
          <a:prstGeom prst="roundRect">
            <a:avLst>
              <a:gd name="adj" fmla="val 3200"/>
            </a:avLst>
          </a:prstGeom>
          <a:solidFill>
            <a:srgbClr val="F4F7F8"/>
          </a:solidFill>
          <a:ln/>
        </p:spPr>
      </p:sp>
      <p:sp>
        <p:nvSpPr>
          <p:cNvPr id="21" name="Text 19"/>
          <p:cNvSpPr txBox="1"/>
          <p:nvPr/>
        </p:nvSpPr>
        <p:spPr>
          <a:xfrm>
            <a:off x="3584448" y="4023360"/>
            <a:ext cx="2377440" cy="731520"/>
          </a:xfrm>
          <a:prstGeom prst="rect">
            <a:avLst/>
          </a:prstGeom>
          <a:noFill/>
          <a:ln/>
        </p:spPr>
        <p:txBody>
          <a:bodyPr wrap="square" lIns="0" tIns="0" rIns="0" bIns="0" rtlCol="0" anchor="t"/>
          <a:lstStyle/>
          <a:p>
            <a:pPr indent="0" marL="0">
              <a:buNone/>
            </a:pPr>
            <a:r>
              <a:rPr lang="en-US" sz="3800" b="1" dirty="0">
                <a:solidFill>
                  <a:srgbClr val="0B5D57"/>
                </a:solidFill>
                <a:latin typeface="Cambria" pitchFamily="34" charset="0"/>
                <a:ea typeface="Cambria" pitchFamily="34" charset="-122"/>
                <a:cs typeface="Cambria" pitchFamily="34" charset="-120"/>
              </a:rPr>
              <a:t>20%</a:t>
            </a:r>
            <a:endParaRPr lang="en-US" sz="3800" dirty="0"/>
          </a:p>
        </p:txBody>
      </p:sp>
      <p:sp>
        <p:nvSpPr>
          <p:cNvPr id="22" name="Text 20"/>
          <p:cNvSpPr txBox="1"/>
          <p:nvPr/>
        </p:nvSpPr>
        <p:spPr>
          <a:xfrm>
            <a:off x="3584448" y="4754880"/>
            <a:ext cx="2377440" cy="960120"/>
          </a:xfrm>
          <a:prstGeom prst="rect">
            <a:avLst/>
          </a:prstGeom>
          <a:noFill/>
          <a:ln/>
        </p:spPr>
        <p:txBody>
          <a:bodyPr wrap="square" lIns="0" tIns="0" rIns="0" bIns="0" rtlCol="0" anchor="t"/>
          <a:lstStyle/>
          <a:p>
            <a:pPr indent="0" marL="0">
              <a:buNone/>
            </a:pPr>
            <a:r>
              <a:rPr lang="en-US" sz="1250" dirty="0">
                <a:solidFill>
                  <a:srgbClr val="1D2A33"/>
                </a:solidFill>
                <a:latin typeface="Calibri" pitchFamily="34" charset="0"/>
                <a:ea typeface="Calibri" pitchFamily="34" charset="-122"/>
                <a:cs typeface="Calibri" pitchFamily="34" charset="-120"/>
              </a:rPr>
              <a:t>of stores were open under six months at the 100-store milestone (Feb 2024)</a:t>
            </a:r>
            <a:endParaRPr lang="en-US" sz="1250" dirty="0"/>
          </a:p>
        </p:txBody>
      </p:sp>
      <p:sp>
        <p:nvSpPr>
          <p:cNvPr id="23" name="Text 21"/>
          <p:cNvSpPr txBox="1"/>
          <p:nvPr/>
        </p:nvSpPr>
        <p:spPr>
          <a:xfrm>
            <a:off x="3584448" y="5788152"/>
            <a:ext cx="574243" cy="228600"/>
          </a:xfrm>
          <a:prstGeom prst="roundRect">
            <a:avLst>
              <a:gd name="adj" fmla="val 40000"/>
            </a:avLst>
          </a:prstGeom>
          <a:solidFill>
            <a:srgbClr val="0B5D57"/>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FACT</a:t>
            </a:r>
            <a:endParaRPr lang="en-US" sz="900" dirty="0"/>
          </a:p>
        </p:txBody>
      </p:sp>
      <p:sp>
        <p:nvSpPr>
          <p:cNvPr id="24" name="Text 22"/>
          <p:cNvSpPr txBox="1"/>
          <p:nvPr/>
        </p:nvSpPr>
        <p:spPr>
          <a:xfrm>
            <a:off x="4800600" y="5806440"/>
            <a:ext cx="1188720" cy="219456"/>
          </a:xfrm>
          <a:prstGeom prst="rect">
            <a:avLst/>
          </a:prstGeom>
          <a:noFill/>
          <a:ln/>
        </p:spPr>
        <p:txBody>
          <a:bodyPr wrap="square" lIns="0" tIns="0" rIns="0" bIns="0" rtlCol="0" anchor="t"/>
          <a:lstStyle/>
          <a:p>
            <a:pPr algn="r" indent="0" marL="0">
              <a:buNone/>
            </a:pPr>
            <a:r>
              <a:rPr lang="en-US" sz="950" dirty="0">
                <a:solidFill>
                  <a:srgbClr val="56656F"/>
                </a:solidFill>
                <a:latin typeface="Calibri" pitchFamily="34" charset="0"/>
                <a:ea typeface="Calibri" pitchFamily="34" charset="-122"/>
                <a:cs typeface="Calibri" pitchFamily="34" charset="-120"/>
              </a:rPr>
              <a:t>EV-06</a:t>
            </a:r>
            <a:endParaRPr lang="en-US" sz="950" dirty="0"/>
          </a:p>
        </p:txBody>
      </p:sp>
      <p:sp>
        <p:nvSpPr>
          <p:cNvPr id="25" name="Text 23"/>
          <p:cNvSpPr txBox="1"/>
          <p:nvPr/>
        </p:nvSpPr>
        <p:spPr>
          <a:xfrm>
            <a:off x="6492240" y="1371600"/>
            <a:ext cx="3931920" cy="292608"/>
          </a:xfrm>
          <a:prstGeom prst="rect">
            <a:avLst/>
          </a:prstGeom>
          <a:noFill/>
          <a:ln/>
        </p:spPr>
        <p:txBody>
          <a:bodyPr wrap="square" lIns="0" tIns="0" rIns="0" bIns="0" rtlCol="0" anchor="t"/>
          <a:lstStyle/>
          <a:p>
            <a:pPr indent="0" marL="0">
              <a:buNone/>
            </a:pPr>
            <a:r>
              <a:rPr lang="en-US" sz="1500" b="1" dirty="0">
                <a:solidFill>
                  <a:srgbClr val="1D2A33"/>
                </a:solidFill>
                <a:latin typeface="Cambria" pitchFamily="34" charset="0"/>
                <a:ea typeface="Cambria" pitchFamily="34" charset="-122"/>
                <a:cs typeface="Cambria" pitchFamily="34" charset="-120"/>
              </a:rPr>
              <a:t>Partnership operating model</a:t>
            </a:r>
            <a:endParaRPr lang="en-US" sz="1500" dirty="0"/>
          </a:p>
        </p:txBody>
      </p:sp>
      <p:sp>
        <p:nvSpPr>
          <p:cNvPr id="26" name="Text 24"/>
          <p:cNvSpPr txBox="1"/>
          <p:nvPr/>
        </p:nvSpPr>
        <p:spPr>
          <a:xfrm>
            <a:off x="10927080" y="1408176"/>
            <a:ext cx="574243" cy="228600"/>
          </a:xfrm>
          <a:prstGeom prst="roundRect">
            <a:avLst>
              <a:gd name="adj" fmla="val 40000"/>
            </a:avLst>
          </a:prstGeom>
          <a:solidFill>
            <a:srgbClr val="0B5D57"/>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FACT</a:t>
            </a:r>
            <a:endParaRPr lang="en-US" sz="900" dirty="0"/>
          </a:p>
        </p:txBody>
      </p:sp>
      <p:sp>
        <p:nvSpPr>
          <p:cNvPr id="27" name="Shape 25"/>
          <p:cNvSpPr/>
          <p:nvPr/>
        </p:nvSpPr>
        <p:spPr>
          <a:xfrm>
            <a:off x="6492240" y="1783080"/>
            <a:ext cx="2514600" cy="1097280"/>
          </a:xfrm>
          <a:prstGeom prst="roundRect">
            <a:avLst>
              <a:gd name="adj" fmla="val 6667"/>
            </a:avLst>
          </a:prstGeom>
          <a:solidFill>
            <a:srgbClr val="E3EFED"/>
          </a:solidFill>
          <a:ln/>
        </p:spPr>
      </p:sp>
      <p:sp>
        <p:nvSpPr>
          <p:cNvPr id="28" name="Text 26"/>
          <p:cNvSpPr txBox="1"/>
          <p:nvPr/>
        </p:nvSpPr>
        <p:spPr>
          <a:xfrm>
            <a:off x="6629400" y="1901952"/>
            <a:ext cx="2286000" cy="914400"/>
          </a:xfrm>
          <a:prstGeom prst="rect">
            <a:avLst/>
          </a:prstGeom>
          <a:noFill/>
          <a:ln/>
        </p:spPr>
        <p:txBody>
          <a:bodyPr wrap="square" lIns="0" tIns="0" rIns="0" bIns="0" rtlCol="0" anchor="t"/>
          <a:lstStyle/>
          <a:p>
            <a:pPr indent="0" marL="0">
              <a:buNone/>
            </a:pPr>
            <a:r>
              <a:rPr lang="en-US" sz="1300" b="1" dirty="0">
                <a:solidFill>
                  <a:srgbClr val="1D2A33"/>
                </a:solidFill>
                <a:latin typeface="Calibri" pitchFamily="34" charset="0"/>
                <a:ea typeface="Calibri" pitchFamily="34" charset="-122"/>
                <a:cs typeface="Calibri" pitchFamily="34" charset="-120"/>
              </a:rPr>
              <a:t>Optometry Partner</a:t>
            </a:r>
            <a:endParaRPr lang="en-US" sz="1300" dirty="0"/>
          </a:p>
          <a:p>
            <a:pPr indent="0" marL="0">
              <a:buNone/>
            </a:pPr>
            <a:r>
              <a:rPr lang="en-US" sz="1150" dirty="0">
                <a:solidFill>
                  <a:srgbClr val="56656F"/>
                </a:solidFill>
                <a:latin typeface="Calibri" pitchFamily="34" charset="0"/>
                <a:ea typeface="Calibri" pitchFamily="34" charset="-122"/>
                <a:cs typeface="Calibri" pitchFamily="34" charset="-120"/>
              </a:rPr>
              <a:t>Independent optometry corporation · clinical leader</a:t>
            </a:r>
            <a:endParaRPr lang="en-US" sz="1300" dirty="0"/>
          </a:p>
        </p:txBody>
      </p:sp>
      <p:sp>
        <p:nvSpPr>
          <p:cNvPr id="29" name="Shape 27"/>
          <p:cNvSpPr/>
          <p:nvPr/>
        </p:nvSpPr>
        <p:spPr>
          <a:xfrm>
            <a:off x="9189720" y="1783080"/>
            <a:ext cx="2514600" cy="1097280"/>
          </a:xfrm>
          <a:prstGeom prst="roundRect">
            <a:avLst>
              <a:gd name="adj" fmla="val 6667"/>
            </a:avLst>
          </a:prstGeom>
          <a:solidFill>
            <a:srgbClr val="E3EFED"/>
          </a:solidFill>
          <a:ln/>
        </p:spPr>
      </p:sp>
      <p:sp>
        <p:nvSpPr>
          <p:cNvPr id="30" name="Text 28"/>
          <p:cNvSpPr txBox="1"/>
          <p:nvPr/>
        </p:nvSpPr>
        <p:spPr>
          <a:xfrm>
            <a:off x="9326880" y="1901952"/>
            <a:ext cx="2286000" cy="914400"/>
          </a:xfrm>
          <a:prstGeom prst="rect">
            <a:avLst/>
          </a:prstGeom>
          <a:noFill/>
          <a:ln/>
        </p:spPr>
        <p:txBody>
          <a:bodyPr wrap="square" lIns="0" tIns="0" rIns="0" bIns="0" rtlCol="0" anchor="t"/>
          <a:lstStyle/>
          <a:p>
            <a:pPr indent="0" marL="0">
              <a:buNone/>
            </a:pPr>
            <a:r>
              <a:rPr lang="en-US" sz="1300" b="1" dirty="0">
                <a:solidFill>
                  <a:srgbClr val="1D2A33"/>
                </a:solidFill>
                <a:latin typeface="Calibri" pitchFamily="34" charset="0"/>
                <a:ea typeface="Calibri" pitchFamily="34" charset="-122"/>
                <a:cs typeface="Calibri" pitchFamily="34" charset="-120"/>
              </a:rPr>
              <a:t>Retail Partner</a:t>
            </a:r>
            <a:endParaRPr lang="en-US" sz="1300" dirty="0"/>
          </a:p>
          <a:p>
            <a:pPr indent="0" marL="0">
              <a:buNone/>
            </a:pPr>
            <a:r>
              <a:rPr lang="en-US" sz="1150" dirty="0">
                <a:solidFill>
                  <a:srgbClr val="56656F"/>
                </a:solidFill>
                <a:latin typeface="Calibri" pitchFamily="34" charset="0"/>
                <a:ea typeface="Calibri" pitchFamily="34" charset="-122"/>
                <a:cs typeface="Calibri" pitchFamily="34" charset="-120"/>
              </a:rPr>
              <a:t>Specsavers retail corporation · store leader</a:t>
            </a:r>
            <a:endParaRPr lang="en-US" sz="1300" dirty="0"/>
          </a:p>
        </p:txBody>
      </p:sp>
      <p:sp>
        <p:nvSpPr>
          <p:cNvPr id="31" name="Shape 29"/>
          <p:cNvSpPr/>
          <p:nvPr/>
        </p:nvSpPr>
        <p:spPr>
          <a:xfrm>
            <a:off x="6492240" y="3017520"/>
            <a:ext cx="5212080" cy="1325880"/>
          </a:xfrm>
          <a:prstGeom prst="roundRect">
            <a:avLst>
              <a:gd name="adj" fmla="val 5517"/>
            </a:avLst>
          </a:prstGeom>
          <a:solidFill>
            <a:srgbClr val="0B5D57"/>
          </a:solidFill>
          <a:ln/>
        </p:spPr>
      </p:sp>
      <p:sp>
        <p:nvSpPr>
          <p:cNvPr id="32" name="Text 30"/>
          <p:cNvSpPr txBox="1"/>
          <p:nvPr/>
        </p:nvSpPr>
        <p:spPr>
          <a:xfrm>
            <a:off x="6656832" y="3127248"/>
            <a:ext cx="4892040" cy="11430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Central support services</a:t>
            </a:r>
            <a:endParaRPr lang="en-US" sz="1300" dirty="0"/>
          </a:p>
          <a:p>
            <a:pPr indent="0" marL="0">
              <a:buNone/>
            </a:pPr>
            <a:r>
              <a:rPr lang="en-US" sz="1150" dirty="0">
                <a:solidFill>
                  <a:srgbClr val="FFFFFF"/>
                </a:solidFill>
                <a:latin typeface="Calibri" pitchFamily="34" charset="0"/>
                <a:ea typeface="Calibri" pitchFamily="34" charset="-122"/>
                <a:cs typeface="Calibri" pitchFamily="34" charset="-120"/>
              </a:rPr>
              <a:t>Procurement · supply chain · marketing and patient recall · IT and patient-record systems · training · finance · business development</a:t>
            </a:r>
            <a:endParaRPr lang="en-US" sz="1300" dirty="0"/>
          </a:p>
        </p:txBody>
      </p:sp>
      <p:sp>
        <p:nvSpPr>
          <p:cNvPr id="33" name="Text 31"/>
          <p:cNvSpPr txBox="1"/>
          <p:nvPr/>
        </p:nvSpPr>
        <p:spPr>
          <a:xfrm>
            <a:off x="6492240" y="4434840"/>
            <a:ext cx="5212080" cy="274320"/>
          </a:xfrm>
          <a:prstGeom prst="rect">
            <a:avLst/>
          </a:prstGeom>
          <a:noFill/>
          <a:ln/>
        </p:spPr>
        <p:txBody>
          <a:bodyPr wrap="square" lIns="0" tIns="0" rIns="0" bIns="0" rtlCol="0" anchor="t"/>
          <a:lstStyle/>
          <a:p>
            <a:pPr indent="0" marL="0">
              <a:buNone/>
            </a:pPr>
            <a:r>
              <a:rPr lang="en-US" sz="1100" i="1" dirty="0">
                <a:solidFill>
                  <a:srgbClr val="56656F"/>
                </a:solidFill>
                <a:latin typeface="Calibri" pitchFamily="34" charset="0"/>
                <a:ea typeface="Calibri" pitchFamily="34" charset="-122"/>
                <a:cs typeface="Calibri" pitchFamily="34" charset="-120"/>
              </a:rPr>
              <a:t>Each business is owned "in accordance with provincial regulations" (prospectus, EV-04)</a:t>
            </a:r>
            <a:endParaRPr lang="en-US" sz="1100" dirty="0"/>
          </a:p>
        </p:txBody>
      </p:sp>
      <p:sp>
        <p:nvSpPr>
          <p:cNvPr id="34" name="Shape 32"/>
          <p:cNvSpPr/>
          <p:nvPr/>
        </p:nvSpPr>
        <p:spPr>
          <a:xfrm>
            <a:off x="6492240" y="4846320"/>
            <a:ext cx="5212080" cy="1417320"/>
          </a:xfrm>
          <a:prstGeom prst="roundRect">
            <a:avLst>
              <a:gd name="adj" fmla="val 5161"/>
            </a:avLst>
          </a:prstGeom>
          <a:solidFill>
            <a:srgbClr val="FBEAE0"/>
          </a:solidFill>
          <a:ln/>
        </p:spPr>
      </p:sp>
      <p:sp>
        <p:nvSpPr>
          <p:cNvPr id="35" name="Text 33"/>
          <p:cNvSpPr txBox="1"/>
          <p:nvPr/>
        </p:nvSpPr>
        <p:spPr>
          <a:xfrm>
            <a:off x="6656832" y="4937760"/>
            <a:ext cx="4937760" cy="274320"/>
          </a:xfrm>
          <a:prstGeom prst="rect">
            <a:avLst/>
          </a:prstGeom>
          <a:noFill/>
          <a:ln/>
        </p:spPr>
        <p:txBody>
          <a:bodyPr wrap="square" lIns="0" tIns="0" rIns="0" bIns="0" rtlCol="0" anchor="t"/>
          <a:lstStyle/>
          <a:p>
            <a:pPr indent="0" marL="0">
              <a:buNone/>
            </a:pPr>
            <a:r>
              <a:rPr lang="en-US" sz="1150" b="1" dirty="0">
                <a:solidFill>
                  <a:srgbClr val="1D2A33"/>
                </a:solidFill>
                <a:latin typeface="Calibri" pitchFamily="34" charset="0"/>
                <a:ea typeface="Calibri" pitchFamily="34" charset="-122"/>
                <a:cs typeface="Calibri" pitchFamily="34" charset="-120"/>
              </a:rPr>
              <a:t>Access challenge (Specsavers-commissioned survey, n = 2,022, Feb 2025)</a:t>
            </a:r>
            <a:endParaRPr lang="en-US" sz="1150" dirty="0"/>
          </a:p>
        </p:txBody>
      </p:sp>
      <p:sp>
        <p:nvSpPr>
          <p:cNvPr id="36" name="Text 34"/>
          <p:cNvSpPr txBox="1"/>
          <p:nvPr/>
        </p:nvSpPr>
        <p:spPr>
          <a:xfrm>
            <a:off x="6656832" y="5257800"/>
            <a:ext cx="4937760" cy="640080"/>
          </a:xfrm>
          <a:prstGeom prst="rect">
            <a:avLst/>
          </a:prstGeom>
          <a:noFill/>
          <a:ln/>
        </p:spPr>
        <p:txBody>
          <a:bodyPr wrap="square" lIns="0" tIns="0" rIns="0" bIns="0" rtlCol="0" anchor="t"/>
          <a:lstStyle/>
          <a:p>
            <a:pPr indent="0" marL="0">
              <a:buNone/>
            </a:pPr>
            <a:r>
              <a:rPr lang="en-US" sz="1250" b="1" dirty="0">
                <a:solidFill>
                  <a:srgbClr val="A84A14"/>
                </a:solidFill>
                <a:latin typeface="Calibri" pitchFamily="34" charset="0"/>
                <a:ea typeface="Calibri" pitchFamily="34" charset="-122"/>
                <a:cs typeface="Calibri" pitchFamily="34" charset="-120"/>
              </a:rPr>
              <a:t>1 in 3 </a:t>
            </a:r>
            <a:pPr indent="0" marL="0">
              <a:buNone/>
            </a:pPr>
            <a:r>
              <a:rPr lang="en-US" sz="1250" dirty="0">
                <a:solidFill>
                  <a:srgbClr val="1D2A33"/>
                </a:solidFill>
                <a:latin typeface="Calibri" pitchFamily="34" charset="0"/>
                <a:ea typeface="Calibri" pitchFamily="34" charset="-122"/>
                <a:cs typeface="Calibri" pitchFamily="34" charset="-120"/>
              </a:rPr>
              <a:t>adults overdue for an eye exam · </a:t>
            </a:r>
            <a:pPr indent="0" marL="0">
              <a:buNone/>
            </a:pPr>
            <a:r>
              <a:rPr lang="en-US" sz="1250" b="1" dirty="0">
                <a:solidFill>
                  <a:srgbClr val="A84A14"/>
                </a:solidFill>
                <a:latin typeface="Calibri" pitchFamily="34" charset="0"/>
                <a:ea typeface="Calibri" pitchFamily="34" charset="-122"/>
                <a:cs typeface="Calibri" pitchFamily="34" charset="-120"/>
              </a:rPr>
              <a:t>51% </a:t>
            </a:r>
            <a:pPr indent="0" marL="0">
              <a:buNone/>
            </a:pPr>
            <a:r>
              <a:rPr lang="en-US" sz="1250" dirty="0">
                <a:solidFill>
                  <a:srgbClr val="1D2A33"/>
                </a:solidFill>
                <a:latin typeface="Calibri" pitchFamily="34" charset="0"/>
                <a:ea typeface="Calibri" pitchFamily="34" charset="-122"/>
                <a:cs typeface="Calibri" pitchFamily="34" charset="-120"/>
              </a:rPr>
              <a:t>cite cost · </a:t>
            </a:r>
            <a:pPr indent="0" marL="0">
              <a:buNone/>
            </a:pPr>
            <a:r>
              <a:rPr lang="en-US" sz="1250" b="1" dirty="0">
                <a:solidFill>
                  <a:srgbClr val="A84A14"/>
                </a:solidFill>
                <a:latin typeface="Calibri" pitchFamily="34" charset="0"/>
                <a:ea typeface="Calibri" pitchFamily="34" charset="-122"/>
                <a:cs typeface="Calibri" pitchFamily="34" charset="-120"/>
              </a:rPr>
              <a:t>61% </a:t>
            </a:r>
            <a:pPr indent="0" marL="0">
              <a:buNone/>
            </a:pPr>
            <a:r>
              <a:rPr lang="en-US" sz="1250" dirty="0">
                <a:solidFill>
                  <a:srgbClr val="1D2A33"/>
                </a:solidFill>
                <a:latin typeface="Calibri" pitchFamily="34" charset="0"/>
                <a:ea typeface="Calibri" pitchFamily="34" charset="-122"/>
                <a:cs typeface="Calibri" pitchFamily="34" charset="-120"/>
              </a:rPr>
              <a:t>of people who qualify for provincial coverage don't think they are covered</a:t>
            </a:r>
            <a:endParaRPr lang="en-US" sz="1250" dirty="0"/>
          </a:p>
        </p:txBody>
      </p:sp>
      <p:sp>
        <p:nvSpPr>
          <p:cNvPr id="37" name="Text 35"/>
          <p:cNvSpPr txBox="1"/>
          <p:nvPr/>
        </p:nvSpPr>
        <p:spPr>
          <a:xfrm>
            <a:off x="6656832" y="5943600"/>
            <a:ext cx="1698955" cy="228600"/>
          </a:xfrm>
          <a:prstGeom prst="roundRect">
            <a:avLst>
              <a:gd name="adj" fmla="val 40000"/>
            </a:avLst>
          </a:prstGeom>
          <a:solidFill>
            <a:srgbClr val="6B7B85"/>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COMMISSIONED SURVEY</a:t>
            </a:r>
            <a:endParaRPr lang="en-US" sz="900" dirty="0"/>
          </a:p>
        </p:txBody>
      </p:sp>
      <p:sp>
        <p:nvSpPr>
          <p:cNvPr id="38" name="Text 36"/>
          <p:cNvSpPr txBox="1"/>
          <p:nvPr/>
        </p:nvSpPr>
        <p:spPr>
          <a:xfrm>
            <a:off x="457200" y="6419088"/>
            <a:ext cx="11247120" cy="292608"/>
          </a:xfrm>
          <a:prstGeom prst="rect">
            <a:avLst/>
          </a:prstGeom>
          <a:noFill/>
          <a:ln/>
        </p:spPr>
        <p:txBody>
          <a:bodyPr wrap="square" lIns="0" tIns="0" rIns="0" bIns="0" rtlCol="0" anchor="t"/>
          <a:lstStyle/>
          <a:p>
            <a:pPr indent="0" marL="0">
              <a:buNone/>
            </a:pPr>
            <a:r>
              <a:rPr lang="en-US" sz="900" dirty="0">
                <a:solidFill>
                  <a:srgbClr val="56656F"/>
                </a:solidFill>
                <a:latin typeface="Calibri" pitchFamily="34" charset="0"/>
                <a:ea typeface="Calibri" pitchFamily="34" charset="-122"/>
                <a:cs typeface="Calibri" pitchFamily="34" charset="-120"/>
              </a:rPr>
              <a:t>Sources: Loblaw releases (30 Jul 2025; 22 Jun 2026); Specsavers releases via Newswire (7 Feb 2024; 9 Oct 2025; 11 Mar 2026); partnership prospectus (Oct 2025). Links: Appendix A1.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BUSINESS DECISION AND HYPOTHESIS</a:t>
            </a:r>
            <a:endParaRPr lang="en-US" sz="1100" dirty="0"/>
          </a:p>
        </p:txBody>
      </p:sp>
      <p:sp>
        <p:nvSpPr>
          <p:cNvPr id="3" name="Text 1"/>
          <p:cNvSpPr txBox="1"/>
          <p:nvPr/>
        </p:nvSpPr>
        <p:spPr>
          <a:xfrm>
            <a:off x="457200" y="548640"/>
            <a:ext cx="11247120" cy="640080"/>
          </a:xfrm>
          <a:prstGeom prst="rect">
            <a:avLst/>
          </a:prstGeom>
          <a:noFill/>
          <a:ln/>
        </p:spPr>
        <p:txBody>
          <a:bodyPr wrap="square" lIns="0" tIns="0" rIns="0" bIns="0" rtlCol="0" anchor="t"/>
          <a:lstStyle/>
          <a:p>
            <a:pPr indent="0" marL="0">
              <a:buNone/>
            </a:pPr>
            <a:r>
              <a:rPr lang="en-US" sz="2800" b="1" dirty="0">
                <a:solidFill>
                  <a:srgbClr val="1D2A33"/>
                </a:solidFill>
                <a:latin typeface="Cambria" pitchFamily="34" charset="0"/>
                <a:ea typeface="Cambria" pitchFamily="34" charset="-122"/>
                <a:cs typeface="Cambria" pitchFamily="34" charset="-120"/>
              </a:rPr>
              <a:t>Unadjusted store comparisons could mislead in a network like this</a:t>
            </a:r>
            <a:endParaRPr lang="en-US" sz="2800" dirty="0"/>
          </a:p>
        </p:txBody>
      </p:sp>
      <p:sp>
        <p:nvSpPr>
          <p:cNvPr id="4" name="Text 2"/>
          <p:cNvSpPr txBox="1"/>
          <p:nvPr/>
        </p:nvSpPr>
        <p:spPr>
          <a:xfrm>
            <a:off x="11247120" y="292608"/>
            <a:ext cx="502920" cy="256032"/>
          </a:xfrm>
          <a:prstGeom prst="rect">
            <a:avLst/>
          </a:prstGeom>
          <a:noFill/>
          <a:ln/>
        </p:spPr>
        <p:txBody>
          <a:bodyPr wrap="square" lIns="0" tIns="0" rIns="0" bIns="0" rtlCol="0" anchor="t"/>
          <a:lstStyle/>
          <a:p>
            <a:pPr algn="r" indent="0" marL="0">
              <a:buNone/>
            </a:pPr>
            <a:r>
              <a:rPr lang="en-US" sz="1100" dirty="0">
                <a:solidFill>
                  <a:srgbClr val="56656F"/>
                </a:solidFill>
                <a:latin typeface="Calibri" pitchFamily="34" charset="0"/>
                <a:ea typeface="Calibri" pitchFamily="34" charset="-122"/>
                <a:cs typeface="Calibri" pitchFamily="34" charset="-120"/>
              </a:rPr>
              <a:t>3</a:t>
            </a:r>
            <a:endParaRPr lang="en-US" sz="1100" dirty="0"/>
          </a:p>
        </p:txBody>
      </p:sp>
      <p:sp>
        <p:nvSpPr>
          <p:cNvPr id="5" name="Shape 3"/>
          <p:cNvSpPr/>
          <p:nvPr/>
        </p:nvSpPr>
        <p:spPr>
          <a:xfrm>
            <a:off x="457200" y="1371600"/>
            <a:ext cx="11274552" cy="1188720"/>
          </a:xfrm>
          <a:prstGeom prst="roundRect">
            <a:avLst>
              <a:gd name="adj" fmla="val 6154"/>
            </a:avLst>
          </a:prstGeom>
          <a:solidFill>
            <a:srgbClr val="E3EFED"/>
          </a:solidFill>
          <a:ln/>
        </p:spPr>
      </p:sp>
      <p:sp>
        <p:nvSpPr>
          <p:cNvPr id="6" name="Text 4"/>
          <p:cNvSpPr txBox="1"/>
          <p:nvPr/>
        </p:nvSpPr>
        <p:spPr>
          <a:xfrm>
            <a:off x="685800" y="1481328"/>
            <a:ext cx="10241280" cy="1005840"/>
          </a:xfrm>
          <a:prstGeom prst="rect">
            <a:avLst/>
          </a:prstGeom>
          <a:noFill/>
          <a:ln/>
        </p:spPr>
        <p:txBody>
          <a:bodyPr wrap="square" lIns="0" tIns="0" rIns="0" bIns="0" rtlCol="0" anchor="t"/>
          <a:lstStyle/>
          <a:p>
            <a:pPr indent="0" marL="0">
              <a:buNone/>
            </a:pPr>
            <a:r>
              <a:rPr lang="en-US" sz="1400" b="1" dirty="0">
                <a:solidFill>
                  <a:srgbClr val="0B5D57"/>
                </a:solidFill>
                <a:latin typeface="Calibri" pitchFamily="34" charset="0"/>
                <a:ea typeface="Calibri" pitchFamily="34" charset="-122"/>
                <a:cs typeface="Calibri" pitchFamily="34" charset="-120"/>
              </a:rPr>
              <a:t>Decision the product supports: </a:t>
            </a:r>
            <a:pPr indent="0" marL="0">
              <a:buNone/>
            </a:pPr>
            <a:r>
              <a:rPr lang="en-US" sz="1400" i="1" dirty="0">
                <a:solidFill>
                  <a:srgbClr val="1D2A33"/>
                </a:solidFill>
                <a:latin typeface="Calibri" pitchFamily="34" charset="0"/>
                <a:ea typeface="Calibri" pitchFamily="34" charset="-122"/>
                <a:cs typeface="Calibri" pitchFamily="34" charset="-120"/>
              </a:rPr>
              <a:t>“Which stores warrant attention relative to comparable stores, which candidate factors should be investigated, and which business team should follow up?”</a:t>
            </a:r>
            <a:endParaRPr lang="en-US" sz="1400" dirty="0"/>
          </a:p>
          <a:p>
            <a:pPr indent="0" marL="0">
              <a:buNone/>
            </a:pPr>
            <a:r>
              <a:rPr lang="en-US" sz="1400" b="1" dirty="0">
                <a:solidFill>
                  <a:srgbClr val="1D2A33"/>
                </a:solidFill>
                <a:latin typeface="Calibri" pitchFamily="34" charset="0"/>
                <a:ea typeface="Calibri" pitchFamily="34" charset="-122"/>
                <a:cs typeface="Calibri" pitchFamily="34" charset="-120"/>
              </a:rPr>
              <a:t>Hypothesis: </a:t>
            </a:r>
            <a:pPr indent="0" marL="0">
              <a:buNone/>
            </a:pPr>
            <a:r>
              <a:rPr lang="en-US" sz="1400" dirty="0">
                <a:solidFill>
                  <a:srgbClr val="1D2A33"/>
                </a:solidFill>
                <a:latin typeface="Calibri" pitchFamily="34" charset="0"/>
                <a:ea typeface="Calibri" pitchFamily="34" charset="-122"/>
                <a:cs typeface="Calibri" pitchFamily="34" charset="-120"/>
              </a:rPr>
              <a:t>partners and support-office teams may benefit from a consistent, fair way to monitor ramp-up and compare like-for-like stores.</a:t>
            </a:r>
            <a:endParaRPr lang="en-US" sz="1400" dirty="0"/>
          </a:p>
        </p:txBody>
      </p:sp>
      <p:sp>
        <p:nvSpPr>
          <p:cNvPr id="7" name="Text 5"/>
          <p:cNvSpPr txBox="1"/>
          <p:nvPr/>
        </p:nvSpPr>
        <p:spPr>
          <a:xfrm>
            <a:off x="10378440" y="2240280"/>
            <a:ext cx="949147" cy="228600"/>
          </a:xfrm>
          <a:prstGeom prst="roundRect">
            <a:avLst>
              <a:gd name="adj" fmla="val 40000"/>
            </a:avLst>
          </a:prstGeom>
          <a:solidFill>
            <a:srgbClr val="5E4B8B"/>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INFERENCE</a:t>
            </a:r>
            <a:endParaRPr lang="en-US" sz="900" dirty="0"/>
          </a:p>
        </p:txBody>
      </p:sp>
      <p:sp>
        <p:nvSpPr>
          <p:cNvPr id="8" name="Shape 6"/>
          <p:cNvSpPr/>
          <p:nvPr/>
        </p:nvSpPr>
        <p:spPr>
          <a:xfrm>
            <a:off x="457200" y="2743200"/>
            <a:ext cx="2697480" cy="1417320"/>
          </a:xfrm>
          <a:prstGeom prst="roundRect">
            <a:avLst>
              <a:gd name="adj" fmla="val 5161"/>
            </a:avLst>
          </a:prstGeom>
          <a:solidFill>
            <a:srgbClr val="F4F7F8"/>
          </a:solidFill>
          <a:ln/>
        </p:spPr>
      </p:sp>
      <p:sp>
        <p:nvSpPr>
          <p:cNvPr id="9" name="Text 7"/>
          <p:cNvSpPr txBox="1"/>
          <p:nvPr/>
        </p:nvSpPr>
        <p:spPr>
          <a:xfrm>
            <a:off x="621792" y="2862072"/>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097280" y="2898648"/>
            <a:ext cx="1965960" cy="320040"/>
          </a:xfrm>
          <a:prstGeom prst="rect">
            <a:avLst/>
          </a:prstGeom>
          <a:noFill/>
          <a:ln/>
        </p:spPr>
        <p:txBody>
          <a:bodyPr wrap="square" lIns="0" tIns="0" rIns="0" bIns="0" rtlCol="0" anchor="t"/>
          <a:lstStyle/>
          <a:p>
            <a:pPr indent="0" marL="0">
              <a:buNone/>
            </a:pPr>
            <a:r>
              <a:rPr lang="en-US" sz="1400" b="1" dirty="0">
                <a:solidFill>
                  <a:srgbClr val="1D2A33"/>
                </a:solidFill>
                <a:latin typeface="Calibri" pitchFamily="34" charset="0"/>
                <a:ea typeface="Calibri" pitchFamily="34" charset="-122"/>
                <a:cs typeface="Calibri" pitchFamily="34" charset="-120"/>
              </a:rPr>
              <a:t>Maturity mix</a:t>
            </a:r>
            <a:endParaRPr lang="en-US" sz="1400" dirty="0"/>
          </a:p>
        </p:txBody>
      </p:sp>
      <p:sp>
        <p:nvSpPr>
          <p:cNvPr id="11" name="Text 9"/>
          <p:cNvSpPr txBox="1"/>
          <p:nvPr/>
        </p:nvSpPr>
        <p:spPr>
          <a:xfrm>
            <a:off x="640080" y="3337560"/>
            <a:ext cx="2377440" cy="777240"/>
          </a:xfrm>
          <a:prstGeom prst="rect">
            <a:avLst/>
          </a:prstGeom>
          <a:noFill/>
          <a:ln/>
        </p:spPr>
        <p:txBody>
          <a:bodyPr wrap="square" lIns="0" tIns="0" rIns="0" bIns="0" rtlCol="0" anchor="t"/>
          <a:lstStyle/>
          <a:p>
            <a:pPr indent="0" marL="0">
              <a:buNone/>
            </a:pPr>
            <a:r>
              <a:rPr lang="en-US" sz="1250" dirty="0">
                <a:solidFill>
                  <a:srgbClr val="1D2A33"/>
                </a:solidFill>
                <a:latin typeface="Calibri" pitchFamily="34" charset="0"/>
                <a:ea typeface="Calibri" pitchFamily="34" charset="-122"/>
                <a:cs typeface="Calibri" pitchFamily="34" charset="-120"/>
              </a:rPr>
              <a:t>Many stores are young; volume grows with age.</a:t>
            </a:r>
            <a:endParaRPr lang="en-US" sz="1250" dirty="0"/>
          </a:p>
        </p:txBody>
      </p:sp>
      <p:sp>
        <p:nvSpPr>
          <p:cNvPr id="12" name="Shape 10"/>
          <p:cNvSpPr/>
          <p:nvPr/>
        </p:nvSpPr>
        <p:spPr>
          <a:xfrm>
            <a:off x="3291840" y="2743200"/>
            <a:ext cx="2697480" cy="1417320"/>
          </a:xfrm>
          <a:prstGeom prst="roundRect">
            <a:avLst>
              <a:gd name="adj" fmla="val 5161"/>
            </a:avLst>
          </a:prstGeom>
          <a:solidFill>
            <a:srgbClr val="F4F7F8"/>
          </a:solidFill>
          <a:ln/>
        </p:spPr>
      </p:sp>
      <p:sp>
        <p:nvSpPr>
          <p:cNvPr id="13" name="Text 11"/>
          <p:cNvSpPr txBox="1"/>
          <p:nvPr/>
        </p:nvSpPr>
        <p:spPr>
          <a:xfrm>
            <a:off x="3456432" y="2862072"/>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931920" y="2898648"/>
            <a:ext cx="1965960" cy="320040"/>
          </a:xfrm>
          <a:prstGeom prst="rect">
            <a:avLst/>
          </a:prstGeom>
          <a:noFill/>
          <a:ln/>
        </p:spPr>
        <p:txBody>
          <a:bodyPr wrap="square" lIns="0" tIns="0" rIns="0" bIns="0" rtlCol="0" anchor="t"/>
          <a:lstStyle/>
          <a:p>
            <a:pPr indent="0" marL="0">
              <a:buNone/>
            </a:pPr>
            <a:r>
              <a:rPr lang="en-US" sz="1400" b="1" dirty="0">
                <a:solidFill>
                  <a:srgbClr val="1D2A33"/>
                </a:solidFill>
                <a:latin typeface="Calibri" pitchFamily="34" charset="0"/>
                <a:ea typeface="Calibri" pitchFamily="34" charset="-122"/>
                <a:cs typeface="Calibri" pitchFamily="34" charset="-120"/>
              </a:rPr>
              <a:t>Structural diversity</a:t>
            </a:r>
            <a:endParaRPr lang="en-US" sz="1400" dirty="0"/>
          </a:p>
        </p:txBody>
      </p:sp>
      <p:sp>
        <p:nvSpPr>
          <p:cNvPr id="15" name="Text 13"/>
          <p:cNvSpPr txBox="1"/>
          <p:nvPr/>
        </p:nvSpPr>
        <p:spPr>
          <a:xfrm>
            <a:off x="3474720" y="3337560"/>
            <a:ext cx="2377440" cy="777240"/>
          </a:xfrm>
          <a:prstGeom prst="rect">
            <a:avLst/>
          </a:prstGeom>
          <a:noFill/>
          <a:ln/>
        </p:spPr>
        <p:txBody>
          <a:bodyPr wrap="square" lIns="0" tIns="0" rIns="0" bIns="0" rtlCol="0" anchor="t"/>
          <a:lstStyle/>
          <a:p>
            <a:pPr indent="0" marL="0">
              <a:buNone/>
            </a:pPr>
            <a:r>
              <a:rPr lang="en-US" sz="1250" dirty="0">
                <a:solidFill>
                  <a:srgbClr val="1D2A33"/>
                </a:solidFill>
                <a:latin typeface="Calibri" pitchFamily="34" charset="0"/>
                <a:ea typeface="Calibri" pitchFamily="34" charset="-122"/>
                <a:cs typeface="Calibri" pitchFamily="34" charset="-120"/>
              </a:rPr>
              <a:t>Province, regulation and host format differ.</a:t>
            </a:r>
            <a:endParaRPr lang="en-US" sz="1250" dirty="0"/>
          </a:p>
        </p:txBody>
      </p:sp>
      <p:sp>
        <p:nvSpPr>
          <p:cNvPr id="16" name="Shape 14"/>
          <p:cNvSpPr/>
          <p:nvPr/>
        </p:nvSpPr>
        <p:spPr>
          <a:xfrm>
            <a:off x="6126480" y="2743200"/>
            <a:ext cx="2697480" cy="1417320"/>
          </a:xfrm>
          <a:prstGeom prst="roundRect">
            <a:avLst>
              <a:gd name="adj" fmla="val 5161"/>
            </a:avLst>
          </a:prstGeom>
          <a:solidFill>
            <a:srgbClr val="F4F7F8"/>
          </a:solidFill>
          <a:ln/>
        </p:spPr>
      </p:sp>
      <p:sp>
        <p:nvSpPr>
          <p:cNvPr id="17" name="Text 15"/>
          <p:cNvSpPr txBox="1"/>
          <p:nvPr/>
        </p:nvSpPr>
        <p:spPr>
          <a:xfrm>
            <a:off x="6291072" y="2862072"/>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766560" y="2898648"/>
            <a:ext cx="1965960" cy="320040"/>
          </a:xfrm>
          <a:prstGeom prst="rect">
            <a:avLst/>
          </a:prstGeom>
          <a:noFill/>
          <a:ln/>
        </p:spPr>
        <p:txBody>
          <a:bodyPr wrap="square" lIns="0" tIns="0" rIns="0" bIns="0" rtlCol="0" anchor="t"/>
          <a:lstStyle/>
          <a:p>
            <a:pPr indent="0" marL="0">
              <a:buNone/>
            </a:pPr>
            <a:r>
              <a:rPr lang="en-US" sz="1400" b="1" dirty="0">
                <a:solidFill>
                  <a:srgbClr val="1D2A33"/>
                </a:solidFill>
                <a:latin typeface="Calibri" pitchFamily="34" charset="0"/>
                <a:ea typeface="Calibri" pitchFamily="34" charset="-122"/>
                <a:cs typeface="Calibri" pitchFamily="34" charset="-120"/>
              </a:rPr>
              <a:t>Two entities</a:t>
            </a:r>
            <a:endParaRPr lang="en-US" sz="1400" dirty="0"/>
          </a:p>
        </p:txBody>
      </p:sp>
      <p:sp>
        <p:nvSpPr>
          <p:cNvPr id="19" name="Text 17"/>
          <p:cNvSpPr txBox="1"/>
          <p:nvPr/>
        </p:nvSpPr>
        <p:spPr>
          <a:xfrm>
            <a:off x="6309360" y="3337560"/>
            <a:ext cx="2377440" cy="777240"/>
          </a:xfrm>
          <a:prstGeom prst="rect">
            <a:avLst/>
          </a:prstGeom>
          <a:noFill/>
          <a:ln/>
        </p:spPr>
        <p:txBody>
          <a:bodyPr wrap="square" lIns="0" tIns="0" rIns="0" bIns="0" rtlCol="0" anchor="t"/>
          <a:lstStyle/>
          <a:p>
            <a:pPr indent="0" marL="0">
              <a:buNone/>
            </a:pPr>
            <a:r>
              <a:rPr lang="en-US" sz="1250" dirty="0">
                <a:solidFill>
                  <a:srgbClr val="1D2A33"/>
                </a:solidFill>
                <a:latin typeface="Calibri" pitchFamily="34" charset="0"/>
                <a:ea typeface="Calibri" pitchFamily="34" charset="-122"/>
                <a:cs typeface="Calibri" pitchFamily="34" charset="-120"/>
              </a:rPr>
              <a:t>Clinical and retail activity may sit in different systems.</a:t>
            </a:r>
            <a:endParaRPr lang="en-US" sz="1250" dirty="0"/>
          </a:p>
        </p:txBody>
      </p:sp>
      <p:sp>
        <p:nvSpPr>
          <p:cNvPr id="20" name="Shape 18"/>
          <p:cNvSpPr/>
          <p:nvPr/>
        </p:nvSpPr>
        <p:spPr>
          <a:xfrm>
            <a:off x="8961120" y="2743200"/>
            <a:ext cx="2697480" cy="1417320"/>
          </a:xfrm>
          <a:prstGeom prst="roundRect">
            <a:avLst>
              <a:gd name="adj" fmla="val 5161"/>
            </a:avLst>
          </a:prstGeom>
          <a:solidFill>
            <a:srgbClr val="F4F7F8"/>
          </a:solidFill>
          <a:ln/>
        </p:spPr>
      </p:sp>
      <p:sp>
        <p:nvSpPr>
          <p:cNvPr id="21" name="Text 19"/>
          <p:cNvSpPr txBox="1"/>
          <p:nvPr/>
        </p:nvSpPr>
        <p:spPr>
          <a:xfrm>
            <a:off x="9125712" y="2862072"/>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9601200" y="2898648"/>
            <a:ext cx="1965960" cy="320040"/>
          </a:xfrm>
          <a:prstGeom prst="rect">
            <a:avLst/>
          </a:prstGeom>
          <a:noFill/>
          <a:ln/>
        </p:spPr>
        <p:txBody>
          <a:bodyPr wrap="square" lIns="0" tIns="0" rIns="0" bIns="0" rtlCol="0" anchor="t"/>
          <a:lstStyle/>
          <a:p>
            <a:pPr indent="0" marL="0">
              <a:buNone/>
            </a:pPr>
            <a:r>
              <a:rPr lang="en-US" sz="1400" b="1" dirty="0">
                <a:solidFill>
                  <a:srgbClr val="1D2A33"/>
                </a:solidFill>
                <a:latin typeface="Calibri" pitchFamily="34" charset="0"/>
                <a:ea typeface="Calibri" pitchFamily="34" charset="-122"/>
                <a:cs typeface="Calibri" pitchFamily="34" charset="-120"/>
              </a:rPr>
              <a:t>Many owners</a:t>
            </a:r>
            <a:endParaRPr lang="en-US" sz="1400" dirty="0"/>
          </a:p>
        </p:txBody>
      </p:sp>
      <p:sp>
        <p:nvSpPr>
          <p:cNvPr id="23" name="Text 21"/>
          <p:cNvSpPr txBox="1"/>
          <p:nvPr/>
        </p:nvSpPr>
        <p:spPr>
          <a:xfrm>
            <a:off x="9144000" y="3337560"/>
            <a:ext cx="2377440" cy="777240"/>
          </a:xfrm>
          <a:prstGeom prst="rect">
            <a:avLst/>
          </a:prstGeom>
          <a:noFill/>
          <a:ln/>
        </p:spPr>
        <p:txBody>
          <a:bodyPr wrap="square" lIns="0" tIns="0" rIns="0" bIns="0" rtlCol="0" anchor="t"/>
          <a:lstStyle/>
          <a:p>
            <a:pPr indent="0" marL="0">
              <a:buNone/>
            </a:pPr>
            <a:r>
              <a:rPr lang="en-US" sz="1250" dirty="0">
                <a:solidFill>
                  <a:srgbClr val="1D2A33"/>
                </a:solidFill>
                <a:latin typeface="Calibri" pitchFamily="34" charset="0"/>
                <a:ea typeface="Calibri" pitchFamily="34" charset="-122"/>
                <a:cs typeface="Calibri" pitchFamily="34" charset="-120"/>
              </a:rPr>
              <a:t>Supply chain, marketing and finance each own part of the picture.</a:t>
            </a:r>
            <a:endParaRPr lang="en-US" sz="1250" dirty="0"/>
          </a:p>
        </p:txBody>
      </p:sp>
      <p:sp>
        <p:nvSpPr>
          <p:cNvPr id="24" name="Text 22"/>
          <p:cNvSpPr txBox="1"/>
          <p:nvPr/>
        </p:nvSpPr>
        <p:spPr>
          <a:xfrm>
            <a:off x="457200" y="4389120"/>
            <a:ext cx="4572000" cy="320040"/>
          </a:xfrm>
          <a:prstGeom prst="rect">
            <a:avLst/>
          </a:prstGeom>
          <a:noFill/>
          <a:ln/>
        </p:spPr>
        <p:txBody>
          <a:bodyPr wrap="square" lIns="0" tIns="0" rIns="0" bIns="0" rtlCol="0" anchor="t"/>
          <a:lstStyle/>
          <a:p>
            <a:pPr indent="0" marL="0">
              <a:buNone/>
            </a:pPr>
            <a:r>
              <a:rPr lang="en-US" sz="1600" b="1" dirty="0">
                <a:solidFill>
                  <a:srgbClr val="1D2A33"/>
                </a:solidFill>
                <a:latin typeface="Cambria" pitchFamily="34" charset="0"/>
                <a:ea typeface="Cambria" pitchFamily="34" charset="-122"/>
                <a:cs typeface="Cambria" pitchFamily="34" charset="-120"/>
              </a:rPr>
              <a:t>Why now</a:t>
            </a:r>
            <a:endParaRPr lang="en-US" sz="1600" dirty="0"/>
          </a:p>
        </p:txBody>
      </p:sp>
      <p:sp>
        <p:nvSpPr>
          <p:cNvPr id="25" name="Text 23"/>
          <p:cNvSpPr txBox="1"/>
          <p:nvPr/>
        </p:nvSpPr>
        <p:spPr>
          <a:xfrm>
            <a:off x="457200" y="4754880"/>
            <a:ext cx="5760720" cy="155448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rgbClr val="1D2A33"/>
                </a:solidFill>
                <a:latin typeface="Calibri" pitchFamily="34" charset="0"/>
                <a:ea typeface="Calibri" pitchFamily="34" charset="-122"/>
                <a:cs typeface="Calibri" pitchFamily="34" charset="-120"/>
              </a:rPr>
              <a:t>A large 2025 opening cohort is ramping up through 2026</a:t>
            </a:r>
            <a:endParaRPr lang="en-US" sz="1300" dirty="0"/>
          </a:p>
          <a:p>
            <a:pPr marL="152400" indent="-152400">
              <a:spcAft>
                <a:spcPts val="500"/>
              </a:spcAft>
              <a:buSzPct val="100000"/>
              <a:buChar char="•"/>
            </a:pPr>
            <a:r>
              <a:rPr lang="en-US" sz="1300" dirty="0">
                <a:solidFill>
                  <a:srgbClr val="1D2A33"/>
                </a:solidFill>
                <a:latin typeface="Calibri" pitchFamily="34" charset="0"/>
                <a:ea typeface="Calibri" pitchFamily="34" charset="-122"/>
                <a:cs typeface="Calibri" pitchFamily="34" charset="-120"/>
              </a:rPr>
              <a:t>New provinces with little historical baseline</a:t>
            </a:r>
            <a:endParaRPr lang="en-US" sz="1300" dirty="0"/>
          </a:p>
          <a:p>
            <a:pPr marL="152400" indent="-152400">
              <a:spcAft>
                <a:spcPts val="500"/>
              </a:spcAft>
              <a:buSzPct val="100000"/>
              <a:buChar char="•"/>
            </a:pPr>
            <a:r>
              <a:rPr lang="en-US" sz="1300" dirty="0">
                <a:solidFill>
                  <a:srgbClr val="1D2A33"/>
                </a:solidFill>
                <a:latin typeface="Calibri" pitchFamily="34" charset="0"/>
                <a:ea typeface="Calibri" pitchFamily="34" charset="-122"/>
                <a:cs typeface="Calibri" pitchFamily="34" charset="-120"/>
              </a:rPr>
              <a:t>PC Optimum earning from Jun 2026: a future data stream, outside the MVP</a:t>
            </a:r>
            <a:endParaRPr lang="en-US" sz="1300" dirty="0"/>
          </a:p>
          <a:p>
            <a:pPr marL="152400" indent="-152400">
              <a:spcAft>
                <a:spcPts val="500"/>
              </a:spcAft>
              <a:buSzPct val="100000"/>
              <a:buChar char="•"/>
            </a:pPr>
            <a:r>
              <a:rPr lang="en-US" sz="1300" dirty="0">
                <a:solidFill>
                  <a:srgbClr val="1D2A33"/>
                </a:solidFill>
                <a:latin typeface="Calibri" pitchFamily="34" charset="0"/>
                <a:ea typeface="Calibri" pitchFamily="34" charset="-122"/>
                <a:cs typeface="Calibri" pitchFamily="34" charset="-120"/>
              </a:rPr>
              <a:t>Burnaby data hiring shows investment — not proof of a reporting gap</a:t>
            </a:r>
            <a:endParaRPr lang="en-US" sz="1300" dirty="0"/>
          </a:p>
        </p:txBody>
      </p:sp>
      <p:sp>
        <p:nvSpPr>
          <p:cNvPr id="26" name="Shape 24"/>
          <p:cNvSpPr/>
          <p:nvPr/>
        </p:nvSpPr>
        <p:spPr>
          <a:xfrm>
            <a:off x="6446520" y="4389120"/>
            <a:ext cx="5285232" cy="1920240"/>
          </a:xfrm>
          <a:prstGeom prst="roundRect">
            <a:avLst>
              <a:gd name="adj" fmla="val 3810"/>
            </a:avLst>
          </a:prstGeom>
          <a:solidFill>
            <a:srgbClr val="FBEAE0"/>
          </a:solidFill>
          <a:ln/>
        </p:spPr>
      </p:sp>
      <p:sp>
        <p:nvSpPr>
          <p:cNvPr id="27" name="Text 25"/>
          <p:cNvSpPr txBox="1"/>
          <p:nvPr/>
        </p:nvSpPr>
        <p:spPr>
          <a:xfrm>
            <a:off x="6629400" y="4480560"/>
            <a:ext cx="4937760" cy="274320"/>
          </a:xfrm>
          <a:prstGeom prst="rect">
            <a:avLst/>
          </a:prstGeom>
          <a:noFill/>
          <a:ln/>
        </p:spPr>
        <p:txBody>
          <a:bodyPr wrap="square" lIns="0" tIns="0" rIns="0" bIns="0" rtlCol="0" anchor="t"/>
          <a:lstStyle/>
          <a:p>
            <a:pPr indent="0" marL="0">
              <a:buNone/>
            </a:pPr>
            <a:r>
              <a:rPr lang="en-US" sz="1400" b="1" dirty="0">
                <a:solidFill>
                  <a:srgbClr val="A84A14"/>
                </a:solidFill>
                <a:latin typeface="Calibri" pitchFamily="34" charset="0"/>
                <a:ea typeface="Calibri" pitchFamily="34" charset="-122"/>
                <a:cs typeface="Calibri" pitchFamily="34" charset="-120"/>
              </a:rPr>
              <a:t>What the evidence does not show</a:t>
            </a:r>
            <a:endParaRPr lang="en-US" sz="1400" dirty="0"/>
          </a:p>
        </p:txBody>
      </p:sp>
      <p:sp>
        <p:nvSpPr>
          <p:cNvPr id="28" name="Text 26"/>
          <p:cNvSpPr txBox="1"/>
          <p:nvPr/>
        </p:nvSpPr>
        <p:spPr>
          <a:xfrm>
            <a:off x="6629400" y="4800600"/>
            <a:ext cx="4937760" cy="548640"/>
          </a:xfrm>
          <a:prstGeom prst="rect">
            <a:avLst/>
          </a:prstGeom>
          <a:noFill/>
          <a:ln/>
        </p:spPr>
        <p:txBody>
          <a:bodyPr wrap="square" lIns="0" tIns="0" rIns="0" bIns="0" rtlCol="0" anchor="t"/>
          <a:lstStyle/>
          <a:p>
            <a:pPr indent="0" marL="0">
              <a:buNone/>
            </a:pPr>
            <a:r>
              <a:rPr lang="en-US" sz="1250" dirty="0">
                <a:solidFill>
                  <a:srgbClr val="1D2A33"/>
                </a:solidFill>
                <a:latin typeface="Calibri" pitchFamily="34" charset="0"/>
                <a:ea typeface="Calibri" pitchFamily="34" charset="-122"/>
                <a:cs typeface="Calibri" pitchFamily="34" charset="-120"/>
              </a:rPr>
              <a:t>No public evidence says current reporting is inadequate. Discovery would start with what exists today.</a:t>
            </a:r>
            <a:endParaRPr lang="en-US" sz="1250" dirty="0"/>
          </a:p>
        </p:txBody>
      </p:sp>
      <p:sp>
        <p:nvSpPr>
          <p:cNvPr id="29" name="Text 27"/>
          <p:cNvSpPr txBox="1"/>
          <p:nvPr/>
        </p:nvSpPr>
        <p:spPr>
          <a:xfrm>
            <a:off x="6629400" y="5394960"/>
            <a:ext cx="3749040" cy="868680"/>
          </a:xfrm>
          <a:prstGeom prst="rect">
            <a:avLst/>
          </a:prstGeom>
          <a:noFill/>
          <a:ln/>
        </p:spPr>
        <p:txBody>
          <a:bodyPr wrap="square" lIns="0" tIns="0" rIns="0" bIns="0" rtlCol="0" anchor="t"/>
          <a:lstStyle/>
          <a:p>
            <a:pPr indent="0" marL="0">
              <a:buNone/>
            </a:pPr>
            <a:r>
              <a:rPr lang="en-US" sz="1200" b="1" dirty="0">
                <a:solidFill>
                  <a:srgbClr val="1D2A33"/>
                </a:solidFill>
                <a:latin typeface="Calibri" pitchFamily="34" charset="0"/>
                <a:ea typeface="Calibri" pitchFamily="34" charset="-122"/>
                <a:cs typeface="Calibri" pitchFamily="34" charset="-120"/>
              </a:rPr>
              <a:t>Synthetic illustration (all 26 weeks): </a:t>
            </a:r>
            <a:pPr indent="0" marL="0">
              <a:buNone/>
            </a:pPr>
            <a:r>
              <a:rPr lang="en-US" sz="1200" dirty="0">
                <a:solidFill>
                  <a:srgbClr val="1D2A33"/>
                </a:solidFill>
                <a:latin typeface="Calibri" pitchFamily="34" charset="0"/>
                <a:ea typeface="Calibri" pitchFamily="34" charset="-122"/>
                <a:cs typeface="Calibri" pitchFamily="34" charset="-120"/>
              </a:rPr>
              <a:t>New stores average 66 exams per store-week vs 150 for Mature — an unadjusted comparison mixes store age with performance.</a:t>
            </a:r>
            <a:endParaRPr lang="en-US" sz="1200" dirty="0"/>
          </a:p>
        </p:txBody>
      </p:sp>
      <p:sp>
        <p:nvSpPr>
          <p:cNvPr id="30" name="Text 28"/>
          <p:cNvSpPr txBox="1"/>
          <p:nvPr/>
        </p:nvSpPr>
        <p:spPr>
          <a:xfrm>
            <a:off x="10561320" y="5989320"/>
            <a:ext cx="949147" cy="228600"/>
          </a:xfrm>
          <a:prstGeom prst="roundRect">
            <a:avLst>
              <a:gd name="adj" fmla="val 40000"/>
            </a:avLst>
          </a:prstGeom>
          <a:solidFill>
            <a:srgbClr val="A84A14"/>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SYNTHETIC</a:t>
            </a:r>
            <a:endParaRPr lang="en-US" sz="900" dirty="0"/>
          </a:p>
        </p:txBody>
      </p:sp>
      <p:sp>
        <p:nvSpPr>
          <p:cNvPr id="31" name="Text 29"/>
          <p:cNvSpPr txBox="1"/>
          <p:nvPr/>
        </p:nvSpPr>
        <p:spPr>
          <a:xfrm>
            <a:off x="457200" y="6419088"/>
            <a:ext cx="11247120" cy="292608"/>
          </a:xfrm>
          <a:prstGeom prst="rect">
            <a:avLst/>
          </a:prstGeom>
          <a:noFill/>
          <a:ln/>
        </p:spPr>
        <p:txBody>
          <a:bodyPr wrap="square" lIns="0" tIns="0" rIns="0" bIns="0" rtlCol="0" anchor="t"/>
          <a:lstStyle/>
          <a:p>
            <a:pPr indent="0" marL="0">
              <a:buNone/>
            </a:pPr>
            <a:r>
              <a:rPr lang="en-US" sz="900" dirty="0">
                <a:solidFill>
                  <a:srgbClr val="56656F"/>
                </a:solidFill>
                <a:latin typeface="Calibri" pitchFamily="34" charset="0"/>
                <a:ea typeface="Calibri" pitchFamily="34" charset="-122"/>
                <a:cs typeface="Calibri" pitchFamily="34" charset="-120"/>
              </a:rPr>
              <a:t>Sources: EV-01, EV-02, EV-08, EV-09, EV-17 (Appendix A2). Illustration: synthetic dataset (Appendix A8).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STAKEHOLDERS, DECISIONS AND DISCOVERY APPROACH</a:t>
            </a:r>
            <a:endParaRPr lang="en-US" sz="1100" dirty="0"/>
          </a:p>
        </p:txBody>
      </p:sp>
      <p:sp>
        <p:nvSpPr>
          <p:cNvPr id="3" name="Text 1"/>
          <p:cNvSpPr txBox="1"/>
          <p:nvPr/>
        </p:nvSpPr>
        <p:spPr>
          <a:xfrm>
            <a:off x="457200" y="548640"/>
            <a:ext cx="11247120" cy="640080"/>
          </a:xfrm>
          <a:prstGeom prst="rect">
            <a:avLst/>
          </a:prstGeom>
          <a:noFill/>
          <a:ln/>
        </p:spPr>
        <p:txBody>
          <a:bodyPr wrap="square" lIns="0" tIns="0" rIns="0" bIns="0" rtlCol="0" anchor="t"/>
          <a:lstStyle/>
          <a:p>
            <a:pPr indent="0" marL="0">
              <a:buNone/>
            </a:pPr>
            <a:r>
              <a:rPr lang="en-US" sz="2800" b="1" dirty="0">
                <a:solidFill>
                  <a:srgbClr val="1D2A33"/>
                </a:solidFill>
                <a:latin typeface="Cambria" pitchFamily="34" charset="0"/>
                <a:ea typeface="Cambria" pitchFamily="34" charset="-122"/>
                <a:cs typeface="Cambria" pitchFamily="34" charset="-120"/>
              </a:rPr>
              <a:t>Eighteen stakeholder groups, four core decisions</a:t>
            </a:r>
            <a:endParaRPr lang="en-US" sz="2800" dirty="0"/>
          </a:p>
        </p:txBody>
      </p:sp>
      <p:sp>
        <p:nvSpPr>
          <p:cNvPr id="4" name="Text 2"/>
          <p:cNvSpPr txBox="1"/>
          <p:nvPr/>
        </p:nvSpPr>
        <p:spPr>
          <a:xfrm>
            <a:off x="11247120" y="292608"/>
            <a:ext cx="502920" cy="256032"/>
          </a:xfrm>
          <a:prstGeom prst="rect">
            <a:avLst/>
          </a:prstGeom>
          <a:noFill/>
          <a:ln/>
        </p:spPr>
        <p:txBody>
          <a:bodyPr wrap="square" lIns="0" tIns="0" rIns="0" bIns="0" rtlCol="0" anchor="t"/>
          <a:lstStyle/>
          <a:p>
            <a:pPr algn="r" indent="0" marL="0">
              <a:buNone/>
            </a:pPr>
            <a:r>
              <a:rPr lang="en-US" sz="1100" dirty="0">
                <a:solidFill>
                  <a:srgbClr val="56656F"/>
                </a:solidFill>
                <a:latin typeface="Calibri" pitchFamily="34" charset="0"/>
                <a:ea typeface="Calibri" pitchFamily="34" charset="-122"/>
                <a:cs typeface="Calibri" pitchFamily="34" charset="-120"/>
              </a:rPr>
              <a:t>4</a:t>
            </a:r>
            <a:endParaRPr lang="en-US" sz="1100" dirty="0"/>
          </a:p>
        </p:txBody>
      </p:sp>
      <p:sp>
        <p:nvSpPr>
          <p:cNvPr id="5" name="Shape 3"/>
          <p:cNvSpPr/>
          <p:nvPr/>
        </p:nvSpPr>
        <p:spPr>
          <a:xfrm>
            <a:off x="813816" y="1453896"/>
            <a:ext cx="2487168" cy="2075688"/>
          </a:xfrm>
          <a:prstGeom prst="roundRect">
            <a:avLst>
              <a:gd name="adj" fmla="val 3524"/>
            </a:avLst>
          </a:prstGeom>
          <a:solidFill>
            <a:srgbClr val="F3F6F7"/>
          </a:solidFill>
          <a:ln/>
        </p:spPr>
      </p:sp>
      <p:sp>
        <p:nvSpPr>
          <p:cNvPr id="6" name="Text 4"/>
          <p:cNvSpPr txBox="1"/>
          <p:nvPr/>
        </p:nvSpPr>
        <p:spPr>
          <a:xfrm>
            <a:off x="941832" y="1554480"/>
            <a:ext cx="2240280" cy="274320"/>
          </a:xfrm>
          <a:prstGeom prst="rect">
            <a:avLst/>
          </a:prstGeom>
          <a:noFill/>
          <a:ln/>
        </p:spPr>
        <p:txBody>
          <a:bodyPr wrap="square" lIns="0" tIns="0" rIns="0" bIns="0" rtlCol="0" anchor="t"/>
          <a:lstStyle/>
          <a:p>
            <a:pPr indent="0" marL="0">
              <a:buNone/>
            </a:pPr>
            <a:r>
              <a:rPr lang="en-US" sz="1300" b="1" dirty="0">
                <a:solidFill>
                  <a:srgbClr val="1D2A33"/>
                </a:solidFill>
                <a:latin typeface="Calibri" pitchFamily="34" charset="0"/>
                <a:ea typeface="Calibri" pitchFamily="34" charset="-122"/>
                <a:cs typeface="Calibri" pitchFamily="34" charset="-120"/>
              </a:rPr>
              <a:t>Keep satisfied</a:t>
            </a:r>
            <a:endParaRPr lang="en-US" sz="1300" dirty="0"/>
          </a:p>
        </p:txBody>
      </p:sp>
      <p:sp>
        <p:nvSpPr>
          <p:cNvPr id="7" name="Text 5"/>
          <p:cNvSpPr txBox="1"/>
          <p:nvPr/>
        </p:nvSpPr>
        <p:spPr>
          <a:xfrm>
            <a:off x="941832" y="1892808"/>
            <a:ext cx="2240280" cy="1508760"/>
          </a:xfrm>
          <a:prstGeom prst="rect">
            <a:avLst/>
          </a:prstGeom>
          <a:noFill/>
          <a:ln/>
        </p:spPr>
        <p:txBody>
          <a:bodyPr wrap="square" lIns="0" tIns="0" rIns="0" bIns="0" rtlCol="0" anchor="t"/>
          <a:lstStyle/>
          <a:p>
            <a:pPr indent="0" marL="0">
              <a:buNone/>
            </a:pPr>
            <a:r>
              <a:rPr lang="en-US" sz="1150" dirty="0">
                <a:solidFill>
                  <a:srgbClr val="1D2A33"/>
                </a:solidFill>
                <a:latin typeface="Calibri" pitchFamily="34" charset="0"/>
                <a:ea typeface="Calibri" pitchFamily="34" charset="-122"/>
                <a:cs typeface="Calibri" pitchFamily="34" charset="-120"/>
              </a:rPr>
              <a:t>Finance · Privacy / Governance · Partnership Advisory Committee · Executive leadership</a:t>
            </a:r>
            <a:endParaRPr lang="en-US" sz="1150" dirty="0"/>
          </a:p>
        </p:txBody>
      </p:sp>
      <p:sp>
        <p:nvSpPr>
          <p:cNvPr id="8" name="Shape 6"/>
          <p:cNvSpPr/>
          <p:nvPr/>
        </p:nvSpPr>
        <p:spPr>
          <a:xfrm>
            <a:off x="3374136" y="1453896"/>
            <a:ext cx="2487168" cy="2075688"/>
          </a:xfrm>
          <a:prstGeom prst="roundRect">
            <a:avLst>
              <a:gd name="adj" fmla="val 3524"/>
            </a:avLst>
          </a:prstGeom>
          <a:solidFill>
            <a:srgbClr val="E3EFED"/>
          </a:solidFill>
          <a:ln/>
        </p:spPr>
      </p:sp>
      <p:sp>
        <p:nvSpPr>
          <p:cNvPr id="9" name="Text 7"/>
          <p:cNvSpPr txBox="1"/>
          <p:nvPr/>
        </p:nvSpPr>
        <p:spPr>
          <a:xfrm>
            <a:off x="3502152" y="1554480"/>
            <a:ext cx="2240280" cy="274320"/>
          </a:xfrm>
          <a:prstGeom prst="rect">
            <a:avLst/>
          </a:prstGeom>
          <a:noFill/>
          <a:ln/>
        </p:spPr>
        <p:txBody>
          <a:bodyPr wrap="square" lIns="0" tIns="0" rIns="0" bIns="0" rtlCol="0" anchor="t"/>
          <a:lstStyle/>
          <a:p>
            <a:pPr indent="0" marL="0">
              <a:buNone/>
            </a:pPr>
            <a:r>
              <a:rPr lang="en-US" sz="1300" b="1" dirty="0">
                <a:solidFill>
                  <a:srgbClr val="0B5D57"/>
                </a:solidFill>
                <a:latin typeface="Calibri" pitchFamily="34" charset="0"/>
                <a:ea typeface="Calibri" pitchFamily="34" charset="-122"/>
                <a:cs typeface="Calibri" pitchFamily="34" charset="-120"/>
              </a:rPr>
              <a:t>Manage closely</a:t>
            </a:r>
            <a:endParaRPr lang="en-US" sz="1300" dirty="0"/>
          </a:p>
        </p:txBody>
      </p:sp>
      <p:sp>
        <p:nvSpPr>
          <p:cNvPr id="10" name="Text 8"/>
          <p:cNvSpPr txBox="1"/>
          <p:nvPr/>
        </p:nvSpPr>
        <p:spPr>
          <a:xfrm>
            <a:off x="3502152" y="1892808"/>
            <a:ext cx="2240280" cy="1508760"/>
          </a:xfrm>
          <a:prstGeom prst="rect">
            <a:avLst/>
          </a:prstGeom>
          <a:noFill/>
          <a:ln/>
        </p:spPr>
        <p:txBody>
          <a:bodyPr wrap="square" lIns="0" tIns="0" rIns="0" bIns="0" rtlCol="0" anchor="t"/>
          <a:lstStyle/>
          <a:p>
            <a:pPr indent="0" marL="0">
              <a:buNone/>
            </a:pPr>
            <a:r>
              <a:rPr lang="en-US" sz="1150" dirty="0">
                <a:solidFill>
                  <a:srgbClr val="1D2A33"/>
                </a:solidFill>
                <a:latin typeface="Calibri" pitchFamily="34" charset="0"/>
                <a:ea typeface="Calibri" pitchFamily="34" charset="-122"/>
                <a:cs typeface="Calibri" pitchFamily="34" charset="-120"/>
              </a:rPr>
              <a:t>Retail Operations (sponsor, assumed) · Product Owner · Retail and Optometry Partners · Regional Retail Managers (title TBC) · Data Delivery Manager</a:t>
            </a:r>
            <a:endParaRPr lang="en-US" sz="1150" dirty="0"/>
          </a:p>
        </p:txBody>
      </p:sp>
      <p:sp>
        <p:nvSpPr>
          <p:cNvPr id="11" name="Shape 9"/>
          <p:cNvSpPr/>
          <p:nvPr/>
        </p:nvSpPr>
        <p:spPr>
          <a:xfrm>
            <a:off x="813816" y="3602736"/>
            <a:ext cx="2487168" cy="2075688"/>
          </a:xfrm>
          <a:prstGeom prst="roundRect">
            <a:avLst>
              <a:gd name="adj" fmla="val 3524"/>
            </a:avLst>
          </a:prstGeom>
          <a:solidFill>
            <a:srgbClr val="F7F9FA"/>
          </a:solidFill>
          <a:ln/>
        </p:spPr>
      </p:sp>
      <p:sp>
        <p:nvSpPr>
          <p:cNvPr id="12" name="Text 10"/>
          <p:cNvSpPr txBox="1"/>
          <p:nvPr/>
        </p:nvSpPr>
        <p:spPr>
          <a:xfrm>
            <a:off x="941832" y="3703320"/>
            <a:ext cx="2240280" cy="274320"/>
          </a:xfrm>
          <a:prstGeom prst="rect">
            <a:avLst/>
          </a:prstGeom>
          <a:noFill/>
          <a:ln/>
        </p:spPr>
        <p:txBody>
          <a:bodyPr wrap="square" lIns="0" tIns="0" rIns="0" bIns="0" rtlCol="0" anchor="t"/>
          <a:lstStyle/>
          <a:p>
            <a:pPr indent="0" marL="0">
              <a:buNone/>
            </a:pPr>
            <a:r>
              <a:rPr lang="en-US" sz="1300" b="1" dirty="0">
                <a:solidFill>
                  <a:srgbClr val="1D2A33"/>
                </a:solidFill>
                <a:latin typeface="Calibri" pitchFamily="34" charset="0"/>
                <a:ea typeface="Calibri" pitchFamily="34" charset="-122"/>
                <a:cs typeface="Calibri" pitchFamily="34" charset="-120"/>
              </a:rPr>
              <a:t>Monitor</a:t>
            </a:r>
            <a:endParaRPr lang="en-US" sz="1300" dirty="0"/>
          </a:p>
        </p:txBody>
      </p:sp>
      <p:sp>
        <p:nvSpPr>
          <p:cNvPr id="13" name="Text 11"/>
          <p:cNvSpPr txBox="1"/>
          <p:nvPr/>
        </p:nvSpPr>
        <p:spPr>
          <a:xfrm>
            <a:off x="941832" y="4041648"/>
            <a:ext cx="2240280" cy="1508760"/>
          </a:xfrm>
          <a:prstGeom prst="rect">
            <a:avLst/>
          </a:prstGeom>
          <a:noFill/>
          <a:ln/>
        </p:spPr>
        <p:txBody>
          <a:bodyPr wrap="square" lIns="0" tIns="0" rIns="0" bIns="0" rtlCol="0" anchor="t"/>
          <a:lstStyle/>
          <a:p>
            <a:pPr indent="0" marL="0">
              <a:buNone/>
            </a:pPr>
            <a:r>
              <a:rPr lang="en-US" sz="1150" dirty="0">
                <a:solidFill>
                  <a:srgbClr val="1D2A33"/>
                </a:solidFill>
                <a:latin typeface="Calibri" pitchFamily="34" charset="0"/>
                <a:ea typeface="Calibri" pitchFamily="34" charset="-122"/>
                <a:cs typeface="Calibri" pitchFamily="34" charset="-120"/>
              </a:rPr>
              <a:t>Source-system owners (until data access is needed)</a:t>
            </a:r>
            <a:endParaRPr lang="en-US" sz="1150" dirty="0"/>
          </a:p>
        </p:txBody>
      </p:sp>
      <p:sp>
        <p:nvSpPr>
          <p:cNvPr id="14" name="Shape 12"/>
          <p:cNvSpPr/>
          <p:nvPr/>
        </p:nvSpPr>
        <p:spPr>
          <a:xfrm>
            <a:off x="3374136" y="3602736"/>
            <a:ext cx="2487168" cy="2075688"/>
          </a:xfrm>
          <a:prstGeom prst="roundRect">
            <a:avLst>
              <a:gd name="adj" fmla="val 3524"/>
            </a:avLst>
          </a:prstGeom>
          <a:solidFill>
            <a:srgbClr val="F3F6F7"/>
          </a:solidFill>
          <a:ln/>
        </p:spPr>
      </p:sp>
      <p:sp>
        <p:nvSpPr>
          <p:cNvPr id="15" name="Text 13"/>
          <p:cNvSpPr txBox="1"/>
          <p:nvPr/>
        </p:nvSpPr>
        <p:spPr>
          <a:xfrm>
            <a:off x="3502152" y="3703320"/>
            <a:ext cx="2240280" cy="274320"/>
          </a:xfrm>
          <a:prstGeom prst="rect">
            <a:avLst/>
          </a:prstGeom>
          <a:noFill/>
          <a:ln/>
        </p:spPr>
        <p:txBody>
          <a:bodyPr wrap="square" lIns="0" tIns="0" rIns="0" bIns="0" rtlCol="0" anchor="t"/>
          <a:lstStyle/>
          <a:p>
            <a:pPr indent="0" marL="0">
              <a:buNone/>
            </a:pPr>
            <a:r>
              <a:rPr lang="en-US" sz="1300" b="1" dirty="0">
                <a:solidFill>
                  <a:srgbClr val="1D2A33"/>
                </a:solidFill>
                <a:latin typeface="Calibri" pitchFamily="34" charset="0"/>
                <a:ea typeface="Calibri" pitchFamily="34" charset="-122"/>
                <a:cs typeface="Calibri" pitchFamily="34" charset="-120"/>
              </a:rPr>
              <a:t>Keep informed and involved</a:t>
            </a:r>
            <a:endParaRPr lang="en-US" sz="1300" dirty="0"/>
          </a:p>
        </p:txBody>
      </p:sp>
      <p:sp>
        <p:nvSpPr>
          <p:cNvPr id="16" name="Text 14"/>
          <p:cNvSpPr txBox="1"/>
          <p:nvPr/>
        </p:nvSpPr>
        <p:spPr>
          <a:xfrm>
            <a:off x="3502152" y="4041648"/>
            <a:ext cx="2240280" cy="1508760"/>
          </a:xfrm>
          <a:prstGeom prst="rect">
            <a:avLst/>
          </a:prstGeom>
          <a:noFill/>
          <a:ln/>
        </p:spPr>
        <p:txBody>
          <a:bodyPr wrap="square" lIns="0" tIns="0" rIns="0" bIns="0" rtlCol="0" anchor="t"/>
          <a:lstStyle/>
          <a:p>
            <a:pPr indent="0" marL="0">
              <a:buNone/>
            </a:pPr>
            <a:r>
              <a:rPr lang="en-US" sz="1150" dirty="0">
                <a:solidFill>
                  <a:srgbClr val="1D2A33"/>
                </a:solidFill>
                <a:latin typeface="Calibri" pitchFamily="34" charset="0"/>
                <a:ea typeface="Calibri" pitchFamily="34" charset="-122"/>
                <a:cs typeface="Calibri" pitchFamily="34" charset="-120"/>
              </a:rPr>
              <a:t>Marketing · Supply Chain · Business Development · Clinical Services · Data engineers and analysts</a:t>
            </a:r>
            <a:endParaRPr lang="en-US" sz="1150" dirty="0"/>
          </a:p>
        </p:txBody>
      </p:sp>
      <p:sp>
        <p:nvSpPr>
          <p:cNvPr id="17" name="Text 15"/>
          <p:cNvSpPr txBox="1"/>
          <p:nvPr/>
        </p:nvSpPr>
        <p:spPr>
          <a:xfrm rot="16200000">
            <a:off x="91440" y="3291840"/>
            <a:ext cx="731520" cy="274320"/>
          </a:xfrm>
          <a:prstGeom prst="rect">
            <a:avLst/>
          </a:prstGeom>
          <a:noFill/>
          <a:ln/>
        </p:spPr>
        <p:txBody>
          <a:bodyPr wrap="square" lIns="0" tIns="0" rIns="0" bIns="0" rtlCol="0" anchor="t"/>
          <a:lstStyle/>
          <a:p>
            <a:pPr indent="0" marL="0">
              <a:buNone/>
            </a:pPr>
            <a:r>
              <a:rPr lang="en-US" sz="1050" dirty="0">
                <a:solidFill>
                  <a:srgbClr val="56656F"/>
                </a:solidFill>
                <a:latin typeface="Calibri" pitchFamily="34" charset="0"/>
                <a:ea typeface="Calibri" pitchFamily="34" charset="-122"/>
                <a:cs typeface="Calibri" pitchFamily="34" charset="-120"/>
              </a:rPr>
              <a:t>Influence ↑</a:t>
            </a:r>
            <a:endParaRPr lang="en-US" sz="1050" dirty="0"/>
          </a:p>
        </p:txBody>
      </p:sp>
      <p:sp>
        <p:nvSpPr>
          <p:cNvPr id="18" name="Text 16"/>
          <p:cNvSpPr txBox="1"/>
          <p:nvPr/>
        </p:nvSpPr>
        <p:spPr>
          <a:xfrm>
            <a:off x="777240" y="5760720"/>
            <a:ext cx="5120640" cy="228600"/>
          </a:xfrm>
          <a:prstGeom prst="rect">
            <a:avLst/>
          </a:prstGeom>
          <a:noFill/>
          <a:ln/>
        </p:spPr>
        <p:txBody>
          <a:bodyPr wrap="square" lIns="0" tIns="0" rIns="0" bIns="0" rtlCol="0" anchor="t"/>
          <a:lstStyle/>
          <a:p>
            <a:pPr algn="ctr" indent="0" marL="0">
              <a:buNone/>
            </a:pPr>
            <a:r>
              <a:rPr lang="en-US" sz="1050" dirty="0">
                <a:solidFill>
                  <a:srgbClr val="56656F"/>
                </a:solidFill>
                <a:latin typeface="Calibri" pitchFamily="34" charset="0"/>
                <a:ea typeface="Calibri" pitchFamily="34" charset="-122"/>
                <a:cs typeface="Calibri" pitchFamily="34" charset="-120"/>
              </a:rPr>
              <a:t>Interest →</a:t>
            </a:r>
            <a:endParaRPr lang="en-US" sz="1050" dirty="0"/>
          </a:p>
        </p:txBody>
      </p:sp>
      <p:sp>
        <p:nvSpPr>
          <p:cNvPr id="19" name="Text 17"/>
          <p:cNvSpPr txBox="1"/>
          <p:nvPr/>
        </p:nvSpPr>
        <p:spPr>
          <a:xfrm>
            <a:off x="777240" y="6035040"/>
            <a:ext cx="574243" cy="228600"/>
          </a:xfrm>
          <a:prstGeom prst="roundRect">
            <a:avLst>
              <a:gd name="adj" fmla="val 40000"/>
            </a:avLst>
          </a:prstGeom>
          <a:solidFill>
            <a:srgbClr val="0B5D57"/>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FACT</a:t>
            </a:r>
            <a:endParaRPr lang="en-US" sz="900" dirty="0"/>
          </a:p>
        </p:txBody>
      </p:sp>
      <p:sp>
        <p:nvSpPr>
          <p:cNvPr id="20" name="Text 18"/>
          <p:cNvSpPr txBox="1"/>
          <p:nvPr/>
        </p:nvSpPr>
        <p:spPr>
          <a:xfrm>
            <a:off x="1463040" y="6053328"/>
            <a:ext cx="2651760" cy="219456"/>
          </a:xfrm>
          <a:prstGeom prst="rect">
            <a:avLst/>
          </a:prstGeom>
          <a:noFill/>
          <a:ln/>
        </p:spPr>
        <p:txBody>
          <a:bodyPr wrap="square" lIns="0" tIns="0" rIns="0" bIns="0" rtlCol="0" anchor="t"/>
          <a:lstStyle/>
          <a:p>
            <a:pPr indent="0" marL="0">
              <a:buNone/>
            </a:pPr>
            <a:r>
              <a:rPr lang="en-US" sz="1000" dirty="0">
                <a:solidFill>
                  <a:srgbClr val="56656F"/>
                </a:solidFill>
                <a:latin typeface="Calibri" pitchFamily="34" charset="0"/>
                <a:ea typeface="Calibri" pitchFamily="34" charset="-122"/>
                <a:cs typeface="Calibri" pitchFamily="34" charset="-120"/>
              </a:rPr>
              <a:t>Partner roles, Privacy Officer, data roles</a:t>
            </a:r>
            <a:endParaRPr lang="en-US" sz="1000" dirty="0"/>
          </a:p>
        </p:txBody>
      </p:sp>
      <p:sp>
        <p:nvSpPr>
          <p:cNvPr id="21" name="Text 19"/>
          <p:cNvSpPr txBox="1"/>
          <p:nvPr/>
        </p:nvSpPr>
        <p:spPr>
          <a:xfrm>
            <a:off x="3794760" y="6035040"/>
            <a:ext cx="1024128" cy="228600"/>
          </a:xfrm>
          <a:prstGeom prst="roundRect">
            <a:avLst>
              <a:gd name="adj" fmla="val 40000"/>
            </a:avLst>
          </a:prstGeom>
          <a:solidFill>
            <a:srgbClr val="8A5300"/>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ASSUMPTION</a:t>
            </a:r>
            <a:endParaRPr lang="en-US" sz="900" dirty="0"/>
          </a:p>
        </p:txBody>
      </p:sp>
      <p:sp>
        <p:nvSpPr>
          <p:cNvPr id="22" name="Text 20"/>
          <p:cNvSpPr txBox="1"/>
          <p:nvPr/>
        </p:nvSpPr>
        <p:spPr>
          <a:xfrm>
            <a:off x="4892040" y="6053328"/>
            <a:ext cx="1188720" cy="219456"/>
          </a:xfrm>
          <a:prstGeom prst="rect">
            <a:avLst/>
          </a:prstGeom>
          <a:noFill/>
          <a:ln/>
        </p:spPr>
        <p:txBody>
          <a:bodyPr wrap="square" lIns="0" tIns="0" rIns="0" bIns="0" rtlCol="0" anchor="t"/>
          <a:lstStyle/>
          <a:p>
            <a:pPr indent="0" marL="0">
              <a:buNone/>
            </a:pPr>
            <a:r>
              <a:rPr lang="en-US" sz="1000" dirty="0">
                <a:solidFill>
                  <a:srgbClr val="56656F"/>
                </a:solidFill>
                <a:latin typeface="Calibri" pitchFamily="34" charset="0"/>
                <a:ea typeface="Calibri" pitchFamily="34" charset="-122"/>
                <a:cs typeface="Calibri" pitchFamily="34" charset="-120"/>
              </a:rPr>
              <a:t>Other titles</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63640" y="1417320"/>
          <a:ext cx="5468112" cy="914400"/>
        </p:xfrm>
        <a:graphic>
          <a:graphicData uri="http://schemas.openxmlformats.org/drawingml/2006/table">
            <a:tbl>
              <a:tblPr/>
              <a:tblGrid>
                <a:gridCol w="1965960"/>
                <a:gridCol w="3502152"/>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a:t>
                      </a:r>
                      <a:endParaRPr lang="en-US" sz="11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 the product must support</a:t>
                      </a:r>
                      <a:endParaRPr lang="en-US" sz="11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r>
              <a:tr h="384048">
                <a:tc>
                  <a:txBody>
                    <a:bodyPr/>
                    <a:lstStyle/>
                    <a:p>
                      <a:pPr indent="0" marL="0">
                        <a:buNone/>
                      </a:pPr>
                      <a:r>
                        <a:rPr lang="en-US" sz="1150" dirty="0">
                          <a:solidFill>
                            <a:srgbClr val="1D2A33"/>
                          </a:solidFill>
                          <a:latin typeface="Calibri" pitchFamily="34" charset="0"/>
                          <a:ea typeface="Calibri" pitchFamily="34" charset="-122"/>
                          <a:cs typeface="Calibri" pitchFamily="34" charset="-120"/>
                        </a:rPr>
                        <a:t>Regional Retail Manager</a:t>
                      </a:r>
                      <a:endParaRPr lang="en-US" sz="11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150" dirty="0">
                          <a:solidFill>
                            <a:srgbClr val="1D2A33"/>
                          </a:solidFill>
                          <a:latin typeface="Calibri" pitchFamily="34" charset="0"/>
                          <a:ea typeface="Calibri" pitchFamily="34" charset="-122"/>
                          <a:cs typeface="Calibri" pitchFamily="34" charset="-120"/>
                        </a:rPr>
                        <a:t>Which stores do I contact this week, and about what?</a:t>
                      </a:r>
                      <a:endParaRPr lang="en-US" sz="11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D2A33"/>
                          </a:solidFill>
                          <a:latin typeface="Calibri" pitchFamily="34" charset="0"/>
                          <a:ea typeface="Calibri" pitchFamily="34" charset="-122"/>
                          <a:cs typeface="Calibri" pitchFamily="34" charset="-120"/>
                        </a:rPr>
                        <a:t>Retail and Optometry Partners</a:t>
                      </a:r>
                      <a:endParaRPr lang="en-US" sz="11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1150" dirty="0">
                          <a:solidFill>
                            <a:srgbClr val="1D2A33"/>
                          </a:solidFill>
                          <a:latin typeface="Calibri" pitchFamily="34" charset="0"/>
                          <a:ea typeface="Calibri" pitchFamily="34" charset="-122"/>
                          <a:cs typeface="Calibri" pitchFamily="34" charset="-120"/>
                        </a:rPr>
                        <a:t>Where should my team focus? Are we ramping like similar stores?</a:t>
                      </a:r>
                      <a:endParaRPr lang="en-US" sz="11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1150" dirty="0">
                          <a:solidFill>
                            <a:srgbClr val="1D2A33"/>
                          </a:solidFill>
                          <a:latin typeface="Calibri" pitchFamily="34" charset="0"/>
                          <a:ea typeface="Calibri" pitchFamily="34" charset="-122"/>
                          <a:cs typeface="Calibri" pitchFamily="34" charset="-120"/>
                        </a:rPr>
                        <a:t>Retail Operations lead</a:t>
                      </a:r>
                      <a:endParaRPr lang="en-US" sz="11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150" dirty="0">
                          <a:solidFill>
                            <a:srgbClr val="1D2A33"/>
                          </a:solidFill>
                          <a:latin typeface="Calibri" pitchFamily="34" charset="0"/>
                          <a:ea typeface="Calibri" pitchFamily="34" charset="-122"/>
                          <a:cs typeface="Calibri" pitchFamily="34" charset="-120"/>
                        </a:rPr>
                        <a:t>Where to direct support; approve peer and cohort rules</a:t>
                      </a:r>
                      <a:endParaRPr lang="en-US" sz="11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D2A33"/>
                          </a:solidFill>
                          <a:latin typeface="Calibri" pitchFamily="34" charset="0"/>
                          <a:ea typeface="Calibri" pitchFamily="34" charset="-122"/>
                          <a:cs typeface="Calibri" pitchFamily="34" charset="-120"/>
                        </a:rPr>
                        <a:t>Privacy Officer</a:t>
                      </a:r>
                      <a:endParaRPr lang="en-US" sz="11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1150" dirty="0">
                          <a:solidFill>
                            <a:srgbClr val="1D2A33"/>
                          </a:solidFill>
                          <a:latin typeface="Calibri" pitchFamily="34" charset="0"/>
                          <a:ea typeface="Calibri" pitchFamily="34" charset="-122"/>
                          <a:cs typeface="Calibri" pitchFamily="34" charset="-120"/>
                        </a:rPr>
                        <a:t>What may be shown, to whom, at what aggregation?</a:t>
                      </a:r>
                      <a:endParaRPr lang="en-US" sz="11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bl>
          </a:graphicData>
        </a:graphic>
      </p:graphicFrame>
      <p:sp>
        <p:nvSpPr>
          <p:cNvPr id="24" name="Text 21"/>
          <p:cNvSpPr txBox="1"/>
          <p:nvPr/>
        </p:nvSpPr>
        <p:spPr>
          <a:xfrm>
            <a:off x="6263640" y="3520440"/>
            <a:ext cx="3657600" cy="292608"/>
          </a:xfrm>
          <a:prstGeom prst="rect">
            <a:avLst/>
          </a:prstGeom>
          <a:noFill/>
          <a:ln/>
        </p:spPr>
        <p:txBody>
          <a:bodyPr wrap="square" lIns="0" tIns="0" rIns="0" bIns="0" rtlCol="0" anchor="t"/>
          <a:lstStyle/>
          <a:p>
            <a:pPr indent="0" marL="0">
              <a:buNone/>
            </a:pPr>
            <a:r>
              <a:rPr lang="en-US" sz="1400" b="1" dirty="0">
                <a:solidFill>
                  <a:srgbClr val="1D2A33"/>
                </a:solidFill>
                <a:latin typeface="Cambria" pitchFamily="34" charset="0"/>
                <a:ea typeface="Cambria" pitchFamily="34" charset="-122"/>
                <a:cs typeface="Cambria" pitchFamily="34" charset="-120"/>
              </a:rPr>
              <a:t>Discovery approach</a:t>
            </a:r>
            <a:endParaRPr lang="en-US" sz="1400" dirty="0"/>
          </a:p>
        </p:txBody>
      </p:sp>
      <p:sp>
        <p:nvSpPr>
          <p:cNvPr id="25" name="Text 22"/>
          <p:cNvSpPr txBox="1"/>
          <p:nvPr/>
        </p:nvSpPr>
        <p:spPr>
          <a:xfrm>
            <a:off x="6263640" y="3886200"/>
            <a:ext cx="1143000" cy="548640"/>
          </a:xfrm>
          <a:prstGeom prst="chevron">
            <a:avLst/>
          </a:prstGeom>
          <a:solidFill>
            <a:srgbClr val="0B5D57"/>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Validate problem</a:t>
            </a:r>
            <a:endParaRPr lang="en-US" sz="1000" dirty="0"/>
          </a:p>
        </p:txBody>
      </p:sp>
      <p:sp>
        <p:nvSpPr>
          <p:cNvPr id="26" name="Text 23"/>
          <p:cNvSpPr txBox="1"/>
          <p:nvPr/>
        </p:nvSpPr>
        <p:spPr>
          <a:xfrm>
            <a:off x="7360920" y="3886200"/>
            <a:ext cx="1143000" cy="548640"/>
          </a:xfrm>
          <a:prstGeom prst="chevron">
            <a:avLst/>
          </a:prstGeom>
          <a:solidFill>
            <a:srgbClr val="0B5D57"/>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KPI workshops</a:t>
            </a:r>
            <a:endParaRPr lang="en-US" sz="1000" dirty="0"/>
          </a:p>
        </p:txBody>
      </p:sp>
      <p:sp>
        <p:nvSpPr>
          <p:cNvPr id="27" name="Text 24"/>
          <p:cNvSpPr txBox="1"/>
          <p:nvPr/>
        </p:nvSpPr>
        <p:spPr>
          <a:xfrm>
            <a:off x="8458200" y="3886200"/>
            <a:ext cx="1143000" cy="548640"/>
          </a:xfrm>
          <a:prstGeom prst="chevron">
            <a:avLst/>
          </a:prstGeom>
          <a:solidFill>
            <a:srgbClr val="0B5D57"/>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&amp; privacy</a:t>
            </a:r>
            <a:endParaRPr lang="en-US" sz="1000" dirty="0"/>
          </a:p>
        </p:txBody>
      </p:sp>
      <p:sp>
        <p:nvSpPr>
          <p:cNvPr id="28" name="Text 25"/>
          <p:cNvSpPr txBox="1"/>
          <p:nvPr/>
        </p:nvSpPr>
        <p:spPr>
          <a:xfrm>
            <a:off x="9555480" y="3886200"/>
            <a:ext cx="1143000" cy="548640"/>
          </a:xfrm>
          <a:prstGeom prst="chevron">
            <a:avLst/>
          </a:prstGeom>
          <a:solidFill>
            <a:srgbClr val="0B5D57"/>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Prototype tests</a:t>
            </a:r>
            <a:endParaRPr lang="en-US" sz="1000" dirty="0"/>
          </a:p>
        </p:txBody>
      </p:sp>
      <p:sp>
        <p:nvSpPr>
          <p:cNvPr id="29" name="Text 26"/>
          <p:cNvSpPr txBox="1"/>
          <p:nvPr/>
        </p:nvSpPr>
        <p:spPr>
          <a:xfrm>
            <a:off x="10652760" y="3886200"/>
            <a:ext cx="1143000" cy="548640"/>
          </a:xfrm>
          <a:prstGeom prst="chevron">
            <a:avLst/>
          </a:prstGeom>
          <a:solidFill>
            <a:srgbClr val="A84A14"/>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Endorse</a:t>
            </a:r>
            <a:endParaRPr lang="en-US" sz="1000" dirty="0"/>
          </a:p>
        </p:txBody>
      </p:sp>
      <p:sp>
        <p:nvSpPr>
          <p:cNvPr id="30" name="Text 27"/>
          <p:cNvSpPr txBox="1"/>
          <p:nvPr/>
        </p:nvSpPr>
        <p:spPr>
          <a:xfrm>
            <a:off x="6263640" y="4544568"/>
            <a:ext cx="5468112" cy="502920"/>
          </a:xfrm>
          <a:prstGeom prst="rect">
            <a:avLst/>
          </a:prstGeom>
          <a:noFill/>
          <a:ln/>
        </p:spPr>
        <p:txBody>
          <a:bodyPr wrap="square" lIns="0" tIns="0" rIns="0" bIns="0" rtlCol="0" anchor="t"/>
          <a:lstStyle/>
          <a:p>
            <a:pPr indent="0" marL="0">
              <a:buNone/>
            </a:pPr>
            <a:r>
              <a:rPr lang="en-US" sz="1150" dirty="0">
                <a:solidFill>
                  <a:srgbClr val="56656F"/>
                </a:solidFill>
                <a:latin typeface="Calibri" pitchFamily="34" charset="0"/>
                <a:ea typeface="Calibri" pitchFamily="34" charset="-122"/>
                <a:cs typeface="Calibri" pitchFamily="34" charset="-120"/>
              </a:rPr>
              <a:t>Sample stores across maturity, province and format · hear Retail and Optometry Partners separately · 35 discovery questions (Appendix A3)</a:t>
            </a:r>
            <a:endParaRPr lang="en-US" sz="1150" dirty="0"/>
          </a:p>
        </p:txBody>
      </p:sp>
      <p:sp>
        <p:nvSpPr>
          <p:cNvPr id="31" name="Shape 28"/>
          <p:cNvSpPr/>
          <p:nvPr/>
        </p:nvSpPr>
        <p:spPr>
          <a:xfrm>
            <a:off x="6263640" y="5120640"/>
            <a:ext cx="5468112" cy="1188720"/>
          </a:xfrm>
          <a:prstGeom prst="roundRect">
            <a:avLst>
              <a:gd name="adj" fmla="val 6154"/>
            </a:avLst>
          </a:prstGeom>
          <a:solidFill>
            <a:srgbClr val="FBEAE0"/>
          </a:solidFill>
          <a:ln/>
        </p:spPr>
      </p:sp>
      <p:sp>
        <p:nvSpPr>
          <p:cNvPr id="32" name="Text 29"/>
          <p:cNvSpPr txBox="1"/>
          <p:nvPr/>
        </p:nvSpPr>
        <p:spPr>
          <a:xfrm>
            <a:off x="6446520" y="5193792"/>
            <a:ext cx="5120640" cy="274320"/>
          </a:xfrm>
          <a:prstGeom prst="rect">
            <a:avLst/>
          </a:prstGeom>
          <a:noFill/>
          <a:ln/>
        </p:spPr>
        <p:txBody>
          <a:bodyPr wrap="square" lIns="0" tIns="0" rIns="0" bIns="0" rtlCol="0" anchor="t"/>
          <a:lstStyle/>
          <a:p>
            <a:pPr indent="0" marL="0">
              <a:buNone/>
            </a:pPr>
            <a:r>
              <a:rPr lang="en-US" sz="1300" b="1" dirty="0">
                <a:solidFill>
                  <a:srgbClr val="A84A14"/>
                </a:solidFill>
                <a:latin typeface="Calibri" pitchFamily="34" charset="0"/>
                <a:ea typeface="Calibri" pitchFamily="34" charset="-122"/>
                <a:cs typeface="Calibri" pitchFamily="34" charset="-120"/>
              </a:rPr>
              <a:t>Tensions to surface early</a:t>
            </a:r>
            <a:endParaRPr lang="en-US" sz="1300" dirty="0"/>
          </a:p>
        </p:txBody>
      </p:sp>
      <p:sp>
        <p:nvSpPr>
          <p:cNvPr id="33" name="Text 30"/>
          <p:cNvSpPr txBox="1"/>
          <p:nvPr/>
        </p:nvSpPr>
        <p:spPr>
          <a:xfrm>
            <a:off x="6446520" y="5486400"/>
            <a:ext cx="5120640" cy="77724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rgbClr val="1D2A33"/>
                </a:solidFill>
                <a:latin typeface="Calibri" pitchFamily="34" charset="0"/>
                <a:ea typeface="Calibri" pitchFamily="34" charset="-122"/>
                <a:cs typeface="Calibri" pitchFamily="34" charset="-120"/>
              </a:rPr>
              <a:t>Peer visibility vs partner commercial confidentiality</a:t>
            </a:r>
            <a:endParaRPr lang="en-US" sz="1200" dirty="0"/>
          </a:p>
          <a:p>
            <a:pPr marL="152400" indent="-152400">
              <a:spcAft>
                <a:spcPts val="200"/>
              </a:spcAft>
              <a:buSzPct val="100000"/>
              <a:buChar char="•"/>
            </a:pPr>
            <a:r>
              <a:rPr lang="en-US" sz="1200" dirty="0">
                <a:solidFill>
                  <a:srgbClr val="1D2A33"/>
                </a:solidFill>
                <a:latin typeface="Calibri" pitchFamily="34" charset="0"/>
                <a:ea typeface="Calibri" pitchFamily="34" charset="-122"/>
                <a:cs typeface="Calibri" pitchFamily="34" charset="-120"/>
              </a:rPr>
              <a:t>Conversion framed as sales pressure on clinical care</a:t>
            </a:r>
            <a:endParaRPr lang="en-US" sz="1200" dirty="0"/>
          </a:p>
          <a:p>
            <a:pPr marL="152400" indent="-152400">
              <a:spcAft>
                <a:spcPts val="200"/>
              </a:spcAft>
              <a:buSzPct val="100000"/>
              <a:buChar char="•"/>
            </a:pPr>
            <a:r>
              <a:rPr lang="en-US" sz="1200" dirty="0">
                <a:solidFill>
                  <a:srgbClr val="1D2A33"/>
                </a:solidFill>
                <a:latin typeface="Calibri" pitchFamily="34" charset="0"/>
                <a:ea typeface="Calibri" pitchFamily="34" charset="-122"/>
                <a:cs typeface="Calibri" pitchFamily="34" charset="-120"/>
              </a:rPr>
              <a:t>Point-of-sale revenue vs finance ledger as the source of truth</a:t>
            </a:r>
            <a:endParaRPr lang="en-US" sz="1200" dirty="0"/>
          </a:p>
        </p:txBody>
      </p:sp>
      <p:sp>
        <p:nvSpPr>
          <p:cNvPr id="34" name="Text 31"/>
          <p:cNvSpPr txBox="1"/>
          <p:nvPr/>
        </p:nvSpPr>
        <p:spPr>
          <a:xfrm>
            <a:off x="457200" y="6419088"/>
            <a:ext cx="11247120" cy="292608"/>
          </a:xfrm>
          <a:prstGeom prst="rect">
            <a:avLst/>
          </a:prstGeom>
          <a:noFill/>
          <a:ln/>
        </p:spPr>
        <p:txBody>
          <a:bodyPr wrap="square" lIns="0" tIns="0" rIns="0" bIns="0" rtlCol="0" anchor="t"/>
          <a:lstStyle/>
          <a:p>
            <a:pPr indent="0" marL="0">
              <a:buNone/>
            </a:pPr>
            <a:r>
              <a:rPr lang="en-US" sz="900" dirty="0">
                <a:solidFill>
                  <a:srgbClr val="56656F"/>
                </a:solidFill>
                <a:latin typeface="Calibri" pitchFamily="34" charset="0"/>
                <a:ea typeface="Calibri" pitchFamily="34" charset="-122"/>
                <a:cs typeface="Calibri" pitchFamily="34" charset="-120"/>
              </a:rPr>
              <a:t>Stakeholder IDs SH-01 to SH-18, RACI and engagement plan: Appendix A3. Titles are proposals, not confirmed Specsavers positions; none of these groups has reviewed the work.</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REQUIREMENTS, KPI RULES AND TRADE-OFFS</a:t>
            </a:r>
            <a:endParaRPr lang="en-US" sz="1100" dirty="0"/>
          </a:p>
        </p:txBody>
      </p:sp>
      <p:sp>
        <p:nvSpPr>
          <p:cNvPr id="3" name="Text 1"/>
          <p:cNvSpPr txBox="1"/>
          <p:nvPr/>
        </p:nvSpPr>
        <p:spPr>
          <a:xfrm>
            <a:off x="457200" y="548640"/>
            <a:ext cx="11247120" cy="640080"/>
          </a:xfrm>
          <a:prstGeom prst="rect">
            <a:avLst/>
          </a:prstGeom>
          <a:noFill/>
          <a:ln/>
        </p:spPr>
        <p:txBody>
          <a:bodyPr wrap="square" lIns="0" tIns="0" rIns="0" bIns="0" rtlCol="0" anchor="t"/>
          <a:lstStyle/>
          <a:p>
            <a:pPr indent="0" marL="0">
              <a:buNone/>
            </a:pPr>
            <a:r>
              <a:rPr lang="en-US" sz="2800" b="1" dirty="0">
                <a:solidFill>
                  <a:srgbClr val="1D2A33"/>
                </a:solidFill>
                <a:latin typeface="Cambria" pitchFamily="34" charset="0"/>
                <a:ea typeface="Cambria" pitchFamily="34" charset="-122"/>
                <a:cs typeface="Cambria" pitchFamily="34" charset="-120"/>
              </a:rPr>
              <a:t>Five judgments that make comparisons fair and safe</a:t>
            </a:r>
            <a:endParaRPr lang="en-US" sz="2800" dirty="0"/>
          </a:p>
        </p:txBody>
      </p:sp>
      <p:sp>
        <p:nvSpPr>
          <p:cNvPr id="4" name="Text 2"/>
          <p:cNvSpPr txBox="1"/>
          <p:nvPr/>
        </p:nvSpPr>
        <p:spPr>
          <a:xfrm>
            <a:off x="11247120" y="292608"/>
            <a:ext cx="502920" cy="256032"/>
          </a:xfrm>
          <a:prstGeom prst="rect">
            <a:avLst/>
          </a:prstGeom>
          <a:noFill/>
          <a:ln/>
        </p:spPr>
        <p:txBody>
          <a:bodyPr wrap="square" lIns="0" tIns="0" rIns="0" bIns="0" rtlCol="0" anchor="t"/>
          <a:lstStyle/>
          <a:p>
            <a:pPr algn="r" indent="0" marL="0">
              <a:buNone/>
            </a:pPr>
            <a:r>
              <a:rPr lang="en-US" sz="1100" dirty="0">
                <a:solidFill>
                  <a:srgbClr val="56656F"/>
                </a:solidFill>
                <a:latin typeface="Calibri" pitchFamily="34" charset="0"/>
                <a:ea typeface="Calibri" pitchFamily="34" charset="-122"/>
                <a:cs typeface="Calibri" pitchFamily="34" charset="-120"/>
              </a:rPr>
              <a:t>5</a:t>
            </a:r>
            <a:endParaRPr lang="en-US" sz="1100" dirty="0"/>
          </a:p>
        </p:txBody>
      </p:sp>
      <p:sp>
        <p:nvSpPr>
          <p:cNvPr id="5" name="Shape 3"/>
          <p:cNvSpPr/>
          <p:nvPr/>
        </p:nvSpPr>
        <p:spPr>
          <a:xfrm>
            <a:off x="457200" y="1325880"/>
            <a:ext cx="1664208" cy="914400"/>
          </a:xfrm>
          <a:prstGeom prst="chevron">
            <a:avLst/>
          </a:prstGeom>
          <a:solidFill>
            <a:srgbClr val="0B5D57"/>
          </a:solidFill>
          <a:ln/>
        </p:spPr>
      </p:sp>
      <p:sp>
        <p:nvSpPr>
          <p:cNvPr id="6" name="Text 4"/>
          <p:cNvSpPr txBox="1"/>
          <p:nvPr/>
        </p:nvSpPr>
        <p:spPr>
          <a:xfrm>
            <a:off x="777240" y="1362456"/>
            <a:ext cx="1005840"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7" name="Text 5"/>
          <p:cNvSpPr txBox="1"/>
          <p:nvPr/>
        </p:nvSpPr>
        <p:spPr>
          <a:xfrm>
            <a:off x="731520" y="1764792"/>
            <a:ext cx="109728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Business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objectives</a:t>
            </a:r>
            <a:endParaRPr lang="en-US" sz="1000" dirty="0"/>
          </a:p>
        </p:txBody>
      </p:sp>
      <p:sp>
        <p:nvSpPr>
          <p:cNvPr id="8" name="Shape 6"/>
          <p:cNvSpPr/>
          <p:nvPr/>
        </p:nvSpPr>
        <p:spPr>
          <a:xfrm>
            <a:off x="2075688" y="1325880"/>
            <a:ext cx="1664208" cy="914400"/>
          </a:xfrm>
          <a:prstGeom prst="chevron">
            <a:avLst/>
          </a:prstGeom>
          <a:solidFill>
            <a:srgbClr val="1F8A80"/>
          </a:solidFill>
          <a:ln/>
        </p:spPr>
      </p:sp>
      <p:sp>
        <p:nvSpPr>
          <p:cNvPr id="9" name="Text 7"/>
          <p:cNvSpPr txBox="1"/>
          <p:nvPr/>
        </p:nvSpPr>
        <p:spPr>
          <a:xfrm>
            <a:off x="2395728" y="1362456"/>
            <a:ext cx="1005840"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12</a:t>
            </a:r>
            <a:endParaRPr lang="en-US" sz="2200" dirty="0"/>
          </a:p>
        </p:txBody>
      </p:sp>
      <p:sp>
        <p:nvSpPr>
          <p:cNvPr id="10" name="Text 8"/>
          <p:cNvSpPr txBox="1"/>
          <p:nvPr/>
        </p:nvSpPr>
        <p:spPr>
          <a:xfrm>
            <a:off x="2350008" y="1764792"/>
            <a:ext cx="109728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Business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requirements</a:t>
            </a:r>
            <a:endParaRPr lang="en-US" sz="1000" dirty="0"/>
          </a:p>
        </p:txBody>
      </p:sp>
      <p:sp>
        <p:nvSpPr>
          <p:cNvPr id="11" name="Shape 9"/>
          <p:cNvSpPr/>
          <p:nvPr/>
        </p:nvSpPr>
        <p:spPr>
          <a:xfrm>
            <a:off x="3694176" y="1325880"/>
            <a:ext cx="1664208" cy="914400"/>
          </a:xfrm>
          <a:prstGeom prst="chevron">
            <a:avLst/>
          </a:prstGeom>
          <a:solidFill>
            <a:srgbClr val="0B5D57"/>
          </a:solidFill>
          <a:ln/>
        </p:spPr>
      </p:sp>
      <p:sp>
        <p:nvSpPr>
          <p:cNvPr id="12" name="Text 10"/>
          <p:cNvSpPr txBox="1"/>
          <p:nvPr/>
        </p:nvSpPr>
        <p:spPr>
          <a:xfrm>
            <a:off x="4014216" y="1362456"/>
            <a:ext cx="1005840"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18</a:t>
            </a:r>
            <a:endParaRPr lang="en-US" sz="2200" dirty="0"/>
          </a:p>
        </p:txBody>
      </p:sp>
      <p:sp>
        <p:nvSpPr>
          <p:cNvPr id="13" name="Text 11"/>
          <p:cNvSpPr txBox="1"/>
          <p:nvPr/>
        </p:nvSpPr>
        <p:spPr>
          <a:xfrm>
            <a:off x="3968496" y="1764792"/>
            <a:ext cx="109728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Functional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requirements</a:t>
            </a:r>
            <a:endParaRPr lang="en-US" sz="1000" dirty="0"/>
          </a:p>
        </p:txBody>
      </p:sp>
      <p:sp>
        <p:nvSpPr>
          <p:cNvPr id="14" name="Shape 12"/>
          <p:cNvSpPr/>
          <p:nvPr/>
        </p:nvSpPr>
        <p:spPr>
          <a:xfrm>
            <a:off x="5312664" y="1325880"/>
            <a:ext cx="1664208" cy="914400"/>
          </a:xfrm>
          <a:prstGeom prst="chevron">
            <a:avLst/>
          </a:prstGeom>
          <a:solidFill>
            <a:srgbClr val="1F8A80"/>
          </a:solidFill>
          <a:ln/>
        </p:spPr>
      </p:sp>
      <p:sp>
        <p:nvSpPr>
          <p:cNvPr id="15" name="Text 13"/>
          <p:cNvSpPr txBox="1"/>
          <p:nvPr/>
        </p:nvSpPr>
        <p:spPr>
          <a:xfrm>
            <a:off x="5632704" y="1362456"/>
            <a:ext cx="1005840"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34</a:t>
            </a:r>
            <a:endParaRPr lang="en-US" sz="2200" dirty="0"/>
          </a:p>
        </p:txBody>
      </p:sp>
      <p:sp>
        <p:nvSpPr>
          <p:cNvPr id="16" name="Text 14"/>
          <p:cNvSpPr txBox="1"/>
          <p:nvPr/>
        </p:nvSpPr>
        <p:spPr>
          <a:xfrm>
            <a:off x="5586984" y="1764792"/>
            <a:ext cx="109728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NFR · data ·</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privacy · security</a:t>
            </a:r>
            <a:endParaRPr lang="en-US" sz="1000" dirty="0"/>
          </a:p>
        </p:txBody>
      </p:sp>
      <p:sp>
        <p:nvSpPr>
          <p:cNvPr id="17" name="Shape 15"/>
          <p:cNvSpPr/>
          <p:nvPr/>
        </p:nvSpPr>
        <p:spPr>
          <a:xfrm>
            <a:off x="6931152" y="1325880"/>
            <a:ext cx="1664208" cy="914400"/>
          </a:xfrm>
          <a:prstGeom prst="chevron">
            <a:avLst/>
          </a:prstGeom>
          <a:solidFill>
            <a:srgbClr val="0B5D57"/>
          </a:solidFill>
          <a:ln/>
        </p:spPr>
      </p:sp>
      <p:sp>
        <p:nvSpPr>
          <p:cNvPr id="18" name="Text 16"/>
          <p:cNvSpPr txBox="1"/>
          <p:nvPr/>
        </p:nvSpPr>
        <p:spPr>
          <a:xfrm>
            <a:off x="7251192" y="1362456"/>
            <a:ext cx="1005840"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12</a:t>
            </a:r>
            <a:endParaRPr lang="en-US" sz="2200" dirty="0"/>
          </a:p>
        </p:txBody>
      </p:sp>
      <p:sp>
        <p:nvSpPr>
          <p:cNvPr id="19" name="Text 17"/>
          <p:cNvSpPr txBox="1"/>
          <p:nvPr/>
        </p:nvSpPr>
        <p:spPr>
          <a:xfrm>
            <a:off x="7205472" y="1764792"/>
            <a:ext cx="109728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Governed</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KPIs</a:t>
            </a:r>
            <a:endParaRPr lang="en-US" sz="1000" dirty="0"/>
          </a:p>
        </p:txBody>
      </p:sp>
      <p:sp>
        <p:nvSpPr>
          <p:cNvPr id="20" name="Shape 18"/>
          <p:cNvSpPr/>
          <p:nvPr/>
        </p:nvSpPr>
        <p:spPr>
          <a:xfrm>
            <a:off x="8549640" y="1325880"/>
            <a:ext cx="1664208" cy="914400"/>
          </a:xfrm>
          <a:prstGeom prst="chevron">
            <a:avLst/>
          </a:prstGeom>
          <a:solidFill>
            <a:srgbClr val="1F8A80"/>
          </a:solidFill>
          <a:ln/>
        </p:spPr>
      </p:sp>
      <p:sp>
        <p:nvSpPr>
          <p:cNvPr id="21" name="Text 19"/>
          <p:cNvSpPr txBox="1"/>
          <p:nvPr/>
        </p:nvSpPr>
        <p:spPr>
          <a:xfrm>
            <a:off x="8869680" y="1362456"/>
            <a:ext cx="1005840"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10</a:t>
            </a:r>
            <a:endParaRPr lang="en-US" sz="2200" dirty="0"/>
          </a:p>
        </p:txBody>
      </p:sp>
      <p:sp>
        <p:nvSpPr>
          <p:cNvPr id="22" name="Text 20"/>
          <p:cNvSpPr txBox="1"/>
          <p:nvPr/>
        </p:nvSpPr>
        <p:spPr>
          <a:xfrm>
            <a:off x="8823960" y="1764792"/>
            <a:ext cx="109728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User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stories</a:t>
            </a:r>
            <a:endParaRPr lang="en-US" sz="1000" dirty="0"/>
          </a:p>
        </p:txBody>
      </p:sp>
      <p:sp>
        <p:nvSpPr>
          <p:cNvPr id="23" name="Shape 21"/>
          <p:cNvSpPr/>
          <p:nvPr/>
        </p:nvSpPr>
        <p:spPr>
          <a:xfrm>
            <a:off x="10168128" y="1325880"/>
            <a:ext cx="1664208" cy="914400"/>
          </a:xfrm>
          <a:prstGeom prst="chevron">
            <a:avLst/>
          </a:prstGeom>
          <a:solidFill>
            <a:srgbClr val="0B5D57"/>
          </a:solidFill>
          <a:ln/>
        </p:spPr>
      </p:sp>
      <p:sp>
        <p:nvSpPr>
          <p:cNvPr id="24" name="Text 22"/>
          <p:cNvSpPr txBox="1"/>
          <p:nvPr/>
        </p:nvSpPr>
        <p:spPr>
          <a:xfrm>
            <a:off x="10488168" y="1362456"/>
            <a:ext cx="1005840"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24</a:t>
            </a:r>
            <a:endParaRPr lang="en-US" sz="2200" dirty="0"/>
          </a:p>
        </p:txBody>
      </p:sp>
      <p:sp>
        <p:nvSpPr>
          <p:cNvPr id="25" name="Text 23"/>
          <p:cNvSpPr txBox="1"/>
          <p:nvPr/>
        </p:nvSpPr>
        <p:spPr>
          <a:xfrm>
            <a:off x="10442448" y="1764792"/>
            <a:ext cx="109728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UAT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scenarios</a:t>
            </a:r>
            <a:endParaRPr lang="en-US" sz="1000" dirty="0"/>
          </a:p>
        </p:txBody>
      </p:sp>
      <p:sp>
        <p:nvSpPr>
          <p:cNvPr id="26" name="Shape 24"/>
          <p:cNvSpPr/>
          <p:nvPr/>
        </p:nvSpPr>
        <p:spPr>
          <a:xfrm>
            <a:off x="457200" y="2468880"/>
            <a:ext cx="2167128" cy="3794760"/>
          </a:xfrm>
          <a:prstGeom prst="roundRect">
            <a:avLst>
              <a:gd name="adj" fmla="val 3376"/>
            </a:avLst>
          </a:prstGeom>
          <a:solidFill>
            <a:srgbClr val="E3EFED"/>
          </a:solidFill>
          <a:ln/>
        </p:spPr>
      </p:sp>
      <p:sp>
        <p:nvSpPr>
          <p:cNvPr id="27" name="Text 25"/>
          <p:cNvSpPr txBox="1"/>
          <p:nvPr/>
        </p:nvSpPr>
        <p:spPr>
          <a:xfrm>
            <a:off x="594360" y="2606040"/>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8" name="Text 26"/>
          <p:cNvSpPr txBox="1"/>
          <p:nvPr/>
        </p:nvSpPr>
        <p:spPr>
          <a:xfrm>
            <a:off x="1051560" y="2587752"/>
            <a:ext cx="1481328" cy="566928"/>
          </a:xfrm>
          <a:prstGeom prst="rect">
            <a:avLst/>
          </a:prstGeom>
          <a:noFill/>
          <a:ln/>
        </p:spPr>
        <p:txBody>
          <a:bodyPr wrap="square" lIns="0" tIns="0" rIns="0" bIns="0" rtlCol="0" anchor="ctr"/>
          <a:lstStyle/>
          <a:p>
            <a:pPr indent="0" marL="0">
              <a:buNone/>
            </a:pPr>
            <a:r>
              <a:rPr lang="en-US" sz="1350" b="1" dirty="0">
                <a:solidFill>
                  <a:srgbClr val="1D2A33"/>
                </a:solidFill>
                <a:latin typeface="Cambria" pitchFamily="34" charset="0"/>
                <a:ea typeface="Cambria" pitchFamily="34" charset="-122"/>
                <a:cs typeface="Cambria" pitchFamily="34" charset="-120"/>
              </a:rPr>
              <a:t>Compare like with like</a:t>
            </a:r>
            <a:endParaRPr lang="en-US" sz="1350" dirty="0"/>
          </a:p>
        </p:txBody>
      </p:sp>
      <p:sp>
        <p:nvSpPr>
          <p:cNvPr id="29" name="Text 27"/>
          <p:cNvSpPr txBox="1"/>
          <p:nvPr/>
        </p:nvSpPr>
        <p:spPr>
          <a:xfrm>
            <a:off x="594360" y="3291840"/>
            <a:ext cx="1901952" cy="1783080"/>
          </a:xfrm>
          <a:prstGeom prst="rect">
            <a:avLst/>
          </a:prstGeom>
          <a:noFill/>
          <a:ln/>
        </p:spPr>
        <p:txBody>
          <a:bodyPr wrap="square" lIns="0" tIns="0" rIns="0" bIns="0" rtlCol="0" anchor="t"/>
          <a:lstStyle/>
          <a:p>
            <a:pPr indent="0" marL="0">
              <a:buNone/>
            </a:pPr>
            <a:r>
              <a:rPr lang="en-US" sz="1200" b="1" dirty="0">
                <a:solidFill>
                  <a:srgbClr val="0B5D57"/>
                </a:solidFill>
                <a:latin typeface="Calibri" pitchFamily="34" charset="0"/>
                <a:ea typeface="Calibri" pitchFamily="34" charset="-122"/>
                <a:cs typeface="Calibri" pitchFamily="34" charset="-120"/>
              </a:rPr>
              <a:t>Choice</a:t>
            </a:r>
            <a:endParaRPr lang="en-US" sz="1200" dirty="0"/>
          </a:p>
          <a:p>
            <a:pPr indent="0" marL="0">
              <a:buNone/>
            </a:pPr>
            <a:r>
              <a:rPr lang="en-US" sz="1200" dirty="0">
                <a:solidFill>
                  <a:srgbClr val="1D2A33"/>
                </a:solidFill>
                <a:latin typeface="Calibri" pitchFamily="34" charset="0"/>
                <a:ea typeface="Calibri" pitchFamily="34" charset="-122"/>
                <a:cs typeface="Calibri" pitchFamily="34" charset="-120"/>
              </a:rPr>
              <a:t>Peers share maturity cohort (as at each week) and format; fall back to the whole cohort; hide below 5 stores.</a:t>
            </a:r>
            <a:endParaRPr lang="en-US" sz="1200" dirty="0"/>
          </a:p>
        </p:txBody>
      </p:sp>
      <p:sp>
        <p:nvSpPr>
          <p:cNvPr id="30" name="Text 28"/>
          <p:cNvSpPr txBox="1"/>
          <p:nvPr/>
        </p:nvSpPr>
        <p:spPr>
          <a:xfrm>
            <a:off x="594360" y="5074920"/>
            <a:ext cx="1901952" cy="1097280"/>
          </a:xfrm>
          <a:prstGeom prst="rect">
            <a:avLst/>
          </a:prstGeom>
          <a:noFill/>
          <a:ln/>
        </p:spPr>
        <p:txBody>
          <a:bodyPr wrap="square" lIns="0" tIns="0" rIns="0" bIns="0" rtlCol="0" anchor="t"/>
          <a:lstStyle/>
          <a:p>
            <a:pPr indent="0" marL="0">
              <a:buNone/>
            </a:pPr>
            <a:r>
              <a:rPr lang="en-US" sz="1150" b="1" dirty="0">
                <a:solidFill>
                  <a:srgbClr val="A84A14"/>
                </a:solidFill>
                <a:latin typeface="Calibri" pitchFamily="34" charset="0"/>
                <a:ea typeface="Calibri" pitchFamily="34" charset="-122"/>
                <a:cs typeface="Calibri" pitchFamily="34" charset="-120"/>
              </a:rPr>
              <a:t>Trade-off</a:t>
            </a:r>
            <a:endParaRPr lang="en-US" sz="1150" dirty="0"/>
          </a:p>
          <a:p>
            <a:pPr indent="0" marL="0">
              <a:buNone/>
            </a:pPr>
            <a:r>
              <a:rPr lang="en-US" sz="1150" dirty="0">
                <a:solidFill>
                  <a:srgbClr val="1D2A33"/>
                </a:solidFill>
                <a:latin typeface="Calibri" pitchFamily="34" charset="0"/>
                <a:ea typeface="Calibri" pitchFamily="34" charset="-122"/>
                <a:cs typeface="Calibri" pitchFamily="34" charset="-120"/>
              </a:rPr>
              <a:t>Fairness vs small groups: some young stores get no peer comparison.</a:t>
            </a:r>
            <a:endParaRPr lang="en-US" sz="1150" dirty="0"/>
          </a:p>
        </p:txBody>
      </p:sp>
      <p:sp>
        <p:nvSpPr>
          <p:cNvPr id="31" name="Shape 29"/>
          <p:cNvSpPr/>
          <p:nvPr/>
        </p:nvSpPr>
        <p:spPr>
          <a:xfrm>
            <a:off x="2734056" y="2468880"/>
            <a:ext cx="2167128" cy="3794760"/>
          </a:xfrm>
          <a:prstGeom prst="roundRect">
            <a:avLst>
              <a:gd name="adj" fmla="val 3376"/>
            </a:avLst>
          </a:prstGeom>
          <a:solidFill>
            <a:srgbClr val="F4F7F8"/>
          </a:solidFill>
          <a:ln/>
        </p:spPr>
      </p:sp>
      <p:sp>
        <p:nvSpPr>
          <p:cNvPr id="32" name="Text 30"/>
          <p:cNvSpPr txBox="1"/>
          <p:nvPr/>
        </p:nvSpPr>
        <p:spPr>
          <a:xfrm>
            <a:off x="2871216" y="2606040"/>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3" name="Text 31"/>
          <p:cNvSpPr txBox="1"/>
          <p:nvPr/>
        </p:nvSpPr>
        <p:spPr>
          <a:xfrm>
            <a:off x="3328416" y="2587752"/>
            <a:ext cx="1481328" cy="566928"/>
          </a:xfrm>
          <a:prstGeom prst="rect">
            <a:avLst/>
          </a:prstGeom>
          <a:noFill/>
          <a:ln/>
        </p:spPr>
        <p:txBody>
          <a:bodyPr wrap="square" lIns="0" tIns="0" rIns="0" bIns="0" rtlCol="0" anchor="ctr"/>
          <a:lstStyle/>
          <a:p>
            <a:pPr indent="0" marL="0">
              <a:buNone/>
            </a:pPr>
            <a:r>
              <a:rPr lang="en-US" sz="1350" b="1" dirty="0">
                <a:solidFill>
                  <a:srgbClr val="1D2A33"/>
                </a:solidFill>
                <a:latin typeface="Cambria" pitchFamily="34" charset="0"/>
                <a:ea typeface="Cambria" pitchFamily="34" charset="-122"/>
                <a:cs typeface="Cambria" pitchFamily="34" charset="-120"/>
              </a:rPr>
              <a:t>Flag areas, not causes</a:t>
            </a:r>
            <a:endParaRPr lang="en-US" sz="1350" dirty="0"/>
          </a:p>
        </p:txBody>
      </p:sp>
      <p:sp>
        <p:nvSpPr>
          <p:cNvPr id="34" name="Text 32"/>
          <p:cNvSpPr txBox="1"/>
          <p:nvPr/>
        </p:nvSpPr>
        <p:spPr>
          <a:xfrm>
            <a:off x="2871216" y="3291840"/>
            <a:ext cx="1901952" cy="1783080"/>
          </a:xfrm>
          <a:prstGeom prst="rect">
            <a:avLst/>
          </a:prstGeom>
          <a:noFill/>
          <a:ln/>
        </p:spPr>
        <p:txBody>
          <a:bodyPr wrap="square" lIns="0" tIns="0" rIns="0" bIns="0" rtlCol="0" anchor="t"/>
          <a:lstStyle/>
          <a:p>
            <a:pPr indent="0" marL="0">
              <a:buNone/>
            </a:pPr>
            <a:r>
              <a:rPr lang="en-US" sz="1200" b="1" dirty="0">
                <a:solidFill>
                  <a:srgbClr val="0B5D57"/>
                </a:solidFill>
                <a:latin typeface="Calibri" pitchFamily="34" charset="0"/>
                <a:ea typeface="Calibri" pitchFamily="34" charset="-122"/>
                <a:cs typeface="Calibri" pitchFamily="34" charset="-120"/>
              </a:rPr>
              <a:t>Choice</a:t>
            </a:r>
            <a:endParaRPr lang="en-US" sz="1200" dirty="0"/>
          </a:p>
          <a:p>
            <a:pPr indent="0" marL="0">
              <a:buNone/>
            </a:pPr>
            <a:r>
              <a:rPr lang="en-US" sz="1200" dirty="0">
                <a:solidFill>
                  <a:srgbClr val="1D2A33"/>
                </a:solidFill>
                <a:latin typeface="Calibri" pitchFamily="34" charset="0"/>
                <a:ea typeface="Calibri" pitchFamily="34" charset="-122"/>
                <a:cs typeface="Calibri" pitchFamily="34" charset="-120"/>
              </a:rPr>
              <a:t>Rule (a): below comparable stores. Rule (b): worse than the store's own 8-week baseline for 3 weeks. Prompts name a follow-up team.</a:t>
            </a:r>
            <a:endParaRPr lang="en-US" sz="1200" dirty="0"/>
          </a:p>
        </p:txBody>
      </p:sp>
      <p:sp>
        <p:nvSpPr>
          <p:cNvPr id="35" name="Text 33"/>
          <p:cNvSpPr txBox="1"/>
          <p:nvPr/>
        </p:nvSpPr>
        <p:spPr>
          <a:xfrm>
            <a:off x="2871216" y="5074920"/>
            <a:ext cx="1901952" cy="1097280"/>
          </a:xfrm>
          <a:prstGeom prst="rect">
            <a:avLst/>
          </a:prstGeom>
          <a:noFill/>
          <a:ln/>
        </p:spPr>
        <p:txBody>
          <a:bodyPr wrap="square" lIns="0" tIns="0" rIns="0" bIns="0" rtlCol="0" anchor="t"/>
          <a:lstStyle/>
          <a:p>
            <a:pPr indent="0" marL="0">
              <a:buNone/>
            </a:pPr>
            <a:r>
              <a:rPr lang="en-US" sz="1150" b="1" dirty="0">
                <a:solidFill>
                  <a:srgbClr val="A84A14"/>
                </a:solidFill>
                <a:latin typeface="Calibri" pitchFamily="34" charset="0"/>
                <a:ea typeface="Calibri" pitchFamily="34" charset="-122"/>
                <a:cs typeface="Calibri" pitchFamily="34" charset="-120"/>
              </a:rPr>
              <a:t>Trade-off</a:t>
            </a:r>
            <a:endParaRPr lang="en-US" sz="1150" dirty="0"/>
          </a:p>
          <a:p>
            <a:pPr indent="0" marL="0">
              <a:buNone/>
            </a:pPr>
            <a:r>
              <a:rPr lang="en-US" sz="1150" dirty="0">
                <a:solidFill>
                  <a:srgbClr val="1D2A33"/>
                </a:solidFill>
                <a:latin typeface="Calibri" pitchFamily="34" charset="0"/>
                <a:ea typeface="Calibri" pitchFamily="34" charset="-122"/>
                <a:cs typeface="Calibri" pitchFamily="34" charset="-120"/>
              </a:rPr>
              <a:t>Explainable flags vs subtle signals; thresholds need pilot tuning.</a:t>
            </a:r>
            <a:endParaRPr lang="en-US" sz="1150" dirty="0"/>
          </a:p>
        </p:txBody>
      </p:sp>
      <p:sp>
        <p:nvSpPr>
          <p:cNvPr id="36" name="Shape 34"/>
          <p:cNvSpPr/>
          <p:nvPr/>
        </p:nvSpPr>
        <p:spPr>
          <a:xfrm>
            <a:off x="5010912" y="2468880"/>
            <a:ext cx="2167128" cy="3794760"/>
          </a:xfrm>
          <a:prstGeom prst="roundRect">
            <a:avLst>
              <a:gd name="adj" fmla="val 3376"/>
            </a:avLst>
          </a:prstGeom>
          <a:solidFill>
            <a:srgbClr val="E3EFED"/>
          </a:solidFill>
          <a:ln/>
        </p:spPr>
      </p:sp>
      <p:sp>
        <p:nvSpPr>
          <p:cNvPr id="37" name="Text 35"/>
          <p:cNvSpPr txBox="1"/>
          <p:nvPr/>
        </p:nvSpPr>
        <p:spPr>
          <a:xfrm>
            <a:off x="5148072" y="2606040"/>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8" name="Text 36"/>
          <p:cNvSpPr txBox="1"/>
          <p:nvPr/>
        </p:nvSpPr>
        <p:spPr>
          <a:xfrm>
            <a:off x="5605272" y="2587752"/>
            <a:ext cx="1481328" cy="566928"/>
          </a:xfrm>
          <a:prstGeom prst="rect">
            <a:avLst/>
          </a:prstGeom>
          <a:noFill/>
          <a:ln/>
        </p:spPr>
        <p:txBody>
          <a:bodyPr wrap="square" lIns="0" tIns="0" rIns="0" bIns="0" rtlCol="0" anchor="ctr"/>
          <a:lstStyle/>
          <a:p>
            <a:pPr indent="0" marL="0">
              <a:buNone/>
            </a:pPr>
            <a:r>
              <a:rPr lang="en-US" sz="1350" b="1" dirty="0">
                <a:solidFill>
                  <a:srgbClr val="1D2A33"/>
                </a:solidFill>
                <a:latin typeface="Cambria" pitchFamily="34" charset="0"/>
                <a:ea typeface="Cambria" pitchFamily="34" charset="-122"/>
                <a:cs typeface="Cambria" pitchFamily="34" charset="-120"/>
              </a:rPr>
              <a:t>Withhold rather than guess</a:t>
            </a:r>
            <a:endParaRPr lang="en-US" sz="1350" dirty="0"/>
          </a:p>
        </p:txBody>
      </p:sp>
      <p:sp>
        <p:nvSpPr>
          <p:cNvPr id="39" name="Text 37"/>
          <p:cNvSpPr txBox="1"/>
          <p:nvPr/>
        </p:nvSpPr>
        <p:spPr>
          <a:xfrm>
            <a:off x="5148072" y="3291840"/>
            <a:ext cx="1901952" cy="1783080"/>
          </a:xfrm>
          <a:prstGeom prst="rect">
            <a:avLst/>
          </a:prstGeom>
          <a:noFill/>
          <a:ln/>
        </p:spPr>
        <p:txBody>
          <a:bodyPr wrap="square" lIns="0" tIns="0" rIns="0" bIns="0" rtlCol="0" anchor="t"/>
          <a:lstStyle/>
          <a:p>
            <a:pPr indent="0" marL="0">
              <a:buNone/>
            </a:pPr>
            <a:r>
              <a:rPr lang="en-US" sz="1200" b="1" dirty="0">
                <a:solidFill>
                  <a:srgbClr val="0B5D57"/>
                </a:solidFill>
                <a:latin typeface="Calibri" pitchFamily="34" charset="0"/>
                <a:ea typeface="Calibri" pitchFamily="34" charset="-122"/>
                <a:cs typeface="Calibri" pitchFamily="34" charset="-120"/>
              </a:rPr>
              <a:t>Choice</a:t>
            </a:r>
            <a:endParaRPr lang="en-US" sz="1200" dirty="0"/>
          </a:p>
          <a:p>
            <a:pPr indent="0" marL="0">
              <a:buNone/>
            </a:pPr>
            <a:r>
              <a:rPr lang="en-US" sz="1200" dirty="0">
                <a:solidFill>
                  <a:srgbClr val="1D2A33"/>
                </a:solidFill>
                <a:latin typeface="Calibri" pitchFamily="34" charset="0"/>
                <a:ea typeface="Calibri" pitchFamily="34" charset="-122"/>
                <a:cs typeface="Calibri" pitchFamily="34" charset="-120"/>
              </a:rPr>
              <a:t>Red data quality: no values, no flags, excluded from peers. Amber: provisional.</a:t>
            </a:r>
            <a:endParaRPr lang="en-US" sz="1200" dirty="0"/>
          </a:p>
        </p:txBody>
      </p:sp>
      <p:sp>
        <p:nvSpPr>
          <p:cNvPr id="40" name="Text 38"/>
          <p:cNvSpPr txBox="1"/>
          <p:nvPr/>
        </p:nvSpPr>
        <p:spPr>
          <a:xfrm>
            <a:off x="5148072" y="5074920"/>
            <a:ext cx="1901952" cy="1097280"/>
          </a:xfrm>
          <a:prstGeom prst="rect">
            <a:avLst/>
          </a:prstGeom>
          <a:noFill/>
          <a:ln/>
        </p:spPr>
        <p:txBody>
          <a:bodyPr wrap="square" lIns="0" tIns="0" rIns="0" bIns="0" rtlCol="0" anchor="t"/>
          <a:lstStyle/>
          <a:p>
            <a:pPr indent="0" marL="0">
              <a:buNone/>
            </a:pPr>
            <a:r>
              <a:rPr lang="en-US" sz="1150" b="1" dirty="0">
                <a:solidFill>
                  <a:srgbClr val="A84A14"/>
                </a:solidFill>
                <a:latin typeface="Calibri" pitchFamily="34" charset="0"/>
                <a:ea typeface="Calibri" pitchFamily="34" charset="-122"/>
                <a:cs typeface="Calibri" pitchFamily="34" charset="-120"/>
              </a:rPr>
              <a:t>Trade-off</a:t>
            </a:r>
            <a:endParaRPr lang="en-US" sz="1150" dirty="0"/>
          </a:p>
          <a:p>
            <a:pPr indent="0" marL="0">
              <a:buNone/>
            </a:pPr>
            <a:r>
              <a:rPr lang="en-US" sz="1150" dirty="0">
                <a:solidFill>
                  <a:srgbClr val="1D2A33"/>
                </a:solidFill>
                <a:latin typeface="Calibri" pitchFamily="34" charset="0"/>
                <a:ea typeface="Calibri" pitchFamily="34" charset="-122"/>
                <a:cs typeface="Calibri" pitchFamily="34" charset="-120"/>
              </a:rPr>
              <a:t>Gaps in trends vs unfair conversations.</a:t>
            </a:r>
            <a:endParaRPr lang="en-US" sz="1150" dirty="0"/>
          </a:p>
        </p:txBody>
      </p:sp>
      <p:sp>
        <p:nvSpPr>
          <p:cNvPr id="41" name="Shape 39"/>
          <p:cNvSpPr/>
          <p:nvPr/>
        </p:nvSpPr>
        <p:spPr>
          <a:xfrm>
            <a:off x="7287768" y="2468880"/>
            <a:ext cx="2167128" cy="3794760"/>
          </a:xfrm>
          <a:prstGeom prst="roundRect">
            <a:avLst>
              <a:gd name="adj" fmla="val 3376"/>
            </a:avLst>
          </a:prstGeom>
          <a:solidFill>
            <a:srgbClr val="F4F7F8"/>
          </a:solidFill>
          <a:ln/>
        </p:spPr>
      </p:sp>
      <p:sp>
        <p:nvSpPr>
          <p:cNvPr id="42" name="Text 40"/>
          <p:cNvSpPr txBox="1"/>
          <p:nvPr/>
        </p:nvSpPr>
        <p:spPr>
          <a:xfrm>
            <a:off x="7424928" y="2606040"/>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3" name="Text 41"/>
          <p:cNvSpPr txBox="1"/>
          <p:nvPr/>
        </p:nvSpPr>
        <p:spPr>
          <a:xfrm>
            <a:off x="7882128" y="2587752"/>
            <a:ext cx="1481328" cy="566928"/>
          </a:xfrm>
          <a:prstGeom prst="rect">
            <a:avLst/>
          </a:prstGeom>
          <a:noFill/>
          <a:ln/>
        </p:spPr>
        <p:txBody>
          <a:bodyPr wrap="square" lIns="0" tIns="0" rIns="0" bIns="0" rtlCol="0" anchor="ctr"/>
          <a:lstStyle/>
          <a:p>
            <a:pPr indent="0" marL="0">
              <a:buNone/>
            </a:pPr>
            <a:r>
              <a:rPr lang="en-US" sz="1350" b="1" dirty="0">
                <a:solidFill>
                  <a:srgbClr val="1D2A33"/>
                </a:solidFill>
                <a:latin typeface="Cambria" pitchFamily="34" charset="0"/>
                <a:ea typeface="Cambria" pitchFamily="34" charset="-122"/>
                <a:cs typeface="Cambria" pitchFamily="34" charset="-120"/>
              </a:rPr>
              <a:t>Protect small numbers</a:t>
            </a:r>
            <a:endParaRPr lang="en-US" sz="1350" dirty="0"/>
          </a:p>
        </p:txBody>
      </p:sp>
      <p:sp>
        <p:nvSpPr>
          <p:cNvPr id="44" name="Text 42"/>
          <p:cNvSpPr txBox="1"/>
          <p:nvPr/>
        </p:nvSpPr>
        <p:spPr>
          <a:xfrm>
            <a:off x="7424928" y="3291840"/>
            <a:ext cx="1901952" cy="1783080"/>
          </a:xfrm>
          <a:prstGeom prst="rect">
            <a:avLst/>
          </a:prstGeom>
          <a:noFill/>
          <a:ln/>
        </p:spPr>
        <p:txBody>
          <a:bodyPr wrap="square" lIns="0" tIns="0" rIns="0" bIns="0" rtlCol="0" anchor="t"/>
          <a:lstStyle/>
          <a:p>
            <a:pPr indent="0" marL="0">
              <a:buNone/>
            </a:pPr>
            <a:r>
              <a:rPr lang="en-US" sz="1200" b="1" dirty="0">
                <a:solidFill>
                  <a:srgbClr val="0B5D57"/>
                </a:solidFill>
                <a:latin typeface="Calibri" pitchFamily="34" charset="0"/>
                <a:ea typeface="Calibri" pitchFamily="34" charset="-122"/>
                <a:cs typeface="Calibri" pitchFamily="34" charset="-120"/>
              </a:rPr>
              <a:t>Choice</a:t>
            </a:r>
            <a:endParaRPr lang="en-US" sz="1200" dirty="0"/>
          </a:p>
          <a:p>
            <a:pPr indent="0" marL="0">
              <a:buNone/>
            </a:pPr>
            <a:r>
              <a:rPr lang="en-US" sz="1200" dirty="0">
                <a:solidFill>
                  <a:srgbClr val="1D2A33"/>
                </a:solidFill>
                <a:latin typeface="Calibri" pitchFamily="34" charset="0"/>
                <a:ea typeface="Calibri" pitchFamily="34" charset="-122"/>
                <a:cs typeface="Calibri" pitchFamily="34" charset="-120"/>
              </a:rPr>
              <a:t>Counts 1–4 shown as "&lt;5"; rates hidden when the numerator is 1–4 or the denominator under 5.</a:t>
            </a:r>
            <a:endParaRPr lang="en-US" sz="1200" dirty="0"/>
          </a:p>
        </p:txBody>
      </p:sp>
      <p:sp>
        <p:nvSpPr>
          <p:cNvPr id="45" name="Text 43"/>
          <p:cNvSpPr txBox="1"/>
          <p:nvPr/>
        </p:nvSpPr>
        <p:spPr>
          <a:xfrm>
            <a:off x="7424928" y="5074920"/>
            <a:ext cx="1901952" cy="1097280"/>
          </a:xfrm>
          <a:prstGeom prst="rect">
            <a:avLst/>
          </a:prstGeom>
          <a:noFill/>
          <a:ln/>
        </p:spPr>
        <p:txBody>
          <a:bodyPr wrap="square" lIns="0" tIns="0" rIns="0" bIns="0" rtlCol="0" anchor="t"/>
          <a:lstStyle/>
          <a:p>
            <a:pPr indent="0" marL="0">
              <a:buNone/>
            </a:pPr>
            <a:r>
              <a:rPr lang="en-US" sz="1150" b="1" dirty="0">
                <a:solidFill>
                  <a:srgbClr val="A84A14"/>
                </a:solidFill>
                <a:latin typeface="Calibri" pitchFamily="34" charset="0"/>
                <a:ea typeface="Calibri" pitchFamily="34" charset="-122"/>
                <a:cs typeface="Calibri" pitchFamily="34" charset="-120"/>
              </a:rPr>
              <a:t>Trade-off</a:t>
            </a:r>
            <a:endParaRPr lang="en-US" sz="1150" dirty="0"/>
          </a:p>
          <a:p>
            <a:pPr indent="0" marL="0">
              <a:buNone/>
            </a:pPr>
            <a:r>
              <a:rPr lang="en-US" sz="1150" dirty="0">
                <a:solidFill>
                  <a:srgbClr val="1D2A33"/>
                </a:solidFill>
                <a:latin typeface="Calibri" pitchFamily="34" charset="0"/>
                <a:ea typeface="Calibri" pitchFamily="34" charset="-122"/>
                <a:cs typeface="Calibri" pitchFamily="34" charset="-120"/>
              </a:rPr>
              <a:t>Less detail for young stores; complementary suppression still open (U-39).</a:t>
            </a:r>
            <a:endParaRPr lang="en-US" sz="1150" dirty="0"/>
          </a:p>
        </p:txBody>
      </p:sp>
      <p:sp>
        <p:nvSpPr>
          <p:cNvPr id="46" name="Shape 44"/>
          <p:cNvSpPr/>
          <p:nvPr/>
        </p:nvSpPr>
        <p:spPr>
          <a:xfrm>
            <a:off x="9564624" y="2468880"/>
            <a:ext cx="2167128" cy="3794760"/>
          </a:xfrm>
          <a:prstGeom prst="roundRect">
            <a:avLst>
              <a:gd name="adj" fmla="val 3376"/>
            </a:avLst>
          </a:prstGeom>
          <a:solidFill>
            <a:srgbClr val="E3EFED"/>
          </a:solidFill>
          <a:ln/>
        </p:spPr>
      </p:sp>
      <p:sp>
        <p:nvSpPr>
          <p:cNvPr id="47" name="Text 45"/>
          <p:cNvSpPr txBox="1"/>
          <p:nvPr/>
        </p:nvSpPr>
        <p:spPr>
          <a:xfrm>
            <a:off x="9701784" y="2606040"/>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8" name="Text 46"/>
          <p:cNvSpPr txBox="1"/>
          <p:nvPr/>
        </p:nvSpPr>
        <p:spPr>
          <a:xfrm>
            <a:off x="10158984" y="2587752"/>
            <a:ext cx="1481328" cy="566928"/>
          </a:xfrm>
          <a:prstGeom prst="rect">
            <a:avLst/>
          </a:prstGeom>
          <a:noFill/>
          <a:ln/>
        </p:spPr>
        <p:txBody>
          <a:bodyPr wrap="square" lIns="0" tIns="0" rIns="0" bIns="0" rtlCol="0" anchor="ctr"/>
          <a:lstStyle/>
          <a:p>
            <a:pPr indent="0" marL="0">
              <a:buNone/>
            </a:pPr>
            <a:r>
              <a:rPr lang="en-US" sz="1350" b="1" dirty="0">
                <a:solidFill>
                  <a:srgbClr val="1D2A33"/>
                </a:solidFill>
                <a:latin typeface="Cambria" pitchFamily="34" charset="0"/>
                <a:ea typeface="Cambria" pitchFamily="34" charset="-122"/>
                <a:cs typeface="Cambria" pitchFamily="34" charset="-120"/>
              </a:rPr>
              <a:t>Separate clinical and commercial</a:t>
            </a:r>
            <a:endParaRPr lang="en-US" sz="1350" dirty="0"/>
          </a:p>
        </p:txBody>
      </p:sp>
      <p:sp>
        <p:nvSpPr>
          <p:cNvPr id="49" name="Text 47"/>
          <p:cNvSpPr txBox="1"/>
          <p:nvPr/>
        </p:nvSpPr>
        <p:spPr>
          <a:xfrm>
            <a:off x="9701784" y="3291840"/>
            <a:ext cx="1901952" cy="1783080"/>
          </a:xfrm>
          <a:prstGeom prst="rect">
            <a:avLst/>
          </a:prstGeom>
          <a:noFill/>
          <a:ln/>
        </p:spPr>
        <p:txBody>
          <a:bodyPr wrap="square" lIns="0" tIns="0" rIns="0" bIns="0" rtlCol="0" anchor="t"/>
          <a:lstStyle/>
          <a:p>
            <a:pPr indent="0" marL="0">
              <a:buNone/>
            </a:pPr>
            <a:r>
              <a:rPr lang="en-US" sz="1200" b="1" dirty="0">
                <a:solidFill>
                  <a:srgbClr val="0B5D57"/>
                </a:solidFill>
                <a:latin typeface="Calibri" pitchFamily="34" charset="0"/>
                <a:ea typeface="Calibri" pitchFamily="34" charset="-122"/>
                <a:cs typeface="Calibri" pitchFamily="34" charset="-120"/>
              </a:rPr>
              <a:t>Choice</a:t>
            </a:r>
            <a:endParaRPr lang="en-US" sz="1200" dirty="0"/>
          </a:p>
          <a:p>
            <a:pPr indent="0" marL="0">
              <a:buNone/>
            </a:pPr>
            <a:r>
              <a:rPr lang="en-US" sz="1200" dirty="0">
                <a:solidFill>
                  <a:srgbClr val="1D2A33"/>
                </a:solidFill>
                <a:latin typeface="Calibri" pitchFamily="34" charset="0"/>
                <a:ea typeface="Calibri" pitchFamily="34" charset="-122"/>
                <a:cs typeface="Calibri" pitchFamily="34" charset="-120"/>
              </a:rPr>
              <a:t>Revenue per exam is restricted context, never a flag. Conversion for Optometry Partners stays an open decision (U-41).</a:t>
            </a:r>
            <a:endParaRPr lang="en-US" sz="1200" dirty="0"/>
          </a:p>
        </p:txBody>
      </p:sp>
      <p:sp>
        <p:nvSpPr>
          <p:cNvPr id="50" name="Text 48"/>
          <p:cNvSpPr txBox="1"/>
          <p:nvPr/>
        </p:nvSpPr>
        <p:spPr>
          <a:xfrm>
            <a:off x="9701784" y="5074920"/>
            <a:ext cx="1901952" cy="1097280"/>
          </a:xfrm>
          <a:prstGeom prst="rect">
            <a:avLst/>
          </a:prstGeom>
          <a:noFill/>
          <a:ln/>
        </p:spPr>
        <p:txBody>
          <a:bodyPr wrap="square" lIns="0" tIns="0" rIns="0" bIns="0" rtlCol="0" anchor="t"/>
          <a:lstStyle/>
          <a:p>
            <a:pPr indent="0" marL="0">
              <a:buNone/>
            </a:pPr>
            <a:r>
              <a:rPr lang="en-US" sz="1150" b="1" dirty="0">
                <a:solidFill>
                  <a:srgbClr val="A84A14"/>
                </a:solidFill>
                <a:latin typeface="Calibri" pitchFamily="34" charset="0"/>
                <a:ea typeface="Calibri" pitchFamily="34" charset="-122"/>
                <a:cs typeface="Calibri" pitchFamily="34" charset="-120"/>
              </a:rPr>
              <a:t>Trade-off</a:t>
            </a:r>
            <a:endParaRPr lang="en-US" sz="1150" dirty="0"/>
          </a:p>
          <a:p>
            <a:pPr indent="0" marL="0">
              <a:buNone/>
            </a:pPr>
            <a:r>
              <a:rPr lang="en-US" sz="1150" dirty="0">
                <a:solidFill>
                  <a:srgbClr val="1D2A33"/>
                </a:solidFill>
                <a:latin typeface="Calibri" pitchFamily="34" charset="0"/>
                <a:ea typeface="Calibri" pitchFamily="34" charset="-122"/>
                <a:cs typeface="Calibri" pitchFamily="34" charset="-120"/>
              </a:rPr>
              <a:t>Partner transparency vs clinical independence.</a:t>
            </a:r>
            <a:endParaRPr lang="en-US" sz="1150" dirty="0"/>
          </a:p>
        </p:txBody>
      </p:sp>
      <p:sp>
        <p:nvSpPr>
          <p:cNvPr id="51" name="Text 49"/>
          <p:cNvSpPr txBox="1"/>
          <p:nvPr/>
        </p:nvSpPr>
        <p:spPr>
          <a:xfrm>
            <a:off x="9966960" y="329184"/>
            <a:ext cx="1174090" cy="228600"/>
          </a:xfrm>
          <a:prstGeom prst="roundRect">
            <a:avLst>
              <a:gd name="adj" fmla="val 40000"/>
            </a:avLst>
          </a:prstGeom>
          <a:solidFill>
            <a:srgbClr val="6B7B85"/>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ILLUSTRATIVE</a:t>
            </a:r>
            <a:endParaRPr lang="en-US" sz="900" dirty="0"/>
          </a:p>
        </p:txBody>
      </p:sp>
      <p:sp>
        <p:nvSpPr>
          <p:cNvPr id="52" name="Text 50"/>
          <p:cNvSpPr txBox="1"/>
          <p:nvPr/>
        </p:nvSpPr>
        <p:spPr>
          <a:xfrm>
            <a:off x="457200" y="6419088"/>
            <a:ext cx="11247120" cy="292608"/>
          </a:xfrm>
          <a:prstGeom prst="rect">
            <a:avLst/>
          </a:prstGeom>
          <a:noFill/>
          <a:ln/>
        </p:spPr>
        <p:txBody>
          <a:bodyPr wrap="square" lIns="0" tIns="0" rIns="0" bIns="0" rtlCol="0" anchor="t"/>
          <a:lstStyle/>
          <a:p>
            <a:pPr indent="0" marL="0">
              <a:buNone/>
            </a:pPr>
            <a:r>
              <a:rPr lang="en-US" sz="900" dirty="0">
                <a:solidFill>
                  <a:srgbClr val="56656F"/>
                </a:solidFill>
                <a:latin typeface="Calibri" pitchFamily="34" charset="0"/>
                <a:ea typeface="Calibri" pitchFamily="34" charset="-122"/>
                <a:cs typeface="Calibri" pitchFamily="34" charset="-120"/>
              </a:rPr>
              <a:t>Rules: KPI dictionary v0.2 and exception rule set v0.2 (Phases 6 and 13), all illustrative. Full catalogue, dictionary and traceability: Appendix A4, A5, A7.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ASSUMED DATA ARCHITECTURE, GOVERNANCE AND QUALITY</a:t>
            </a:r>
            <a:endParaRPr lang="en-US" sz="1100" dirty="0"/>
          </a:p>
        </p:txBody>
      </p:sp>
      <p:sp>
        <p:nvSpPr>
          <p:cNvPr id="3" name="Text 1"/>
          <p:cNvSpPr txBox="1"/>
          <p:nvPr/>
        </p:nvSpPr>
        <p:spPr>
          <a:xfrm>
            <a:off x="457200" y="548640"/>
            <a:ext cx="11247120" cy="640080"/>
          </a:xfrm>
          <a:prstGeom prst="rect">
            <a:avLst/>
          </a:prstGeom>
          <a:noFill/>
          <a:ln/>
        </p:spPr>
        <p:txBody>
          <a:bodyPr wrap="square" lIns="0" tIns="0" rIns="0" bIns="0" rtlCol="0" anchor="t"/>
          <a:lstStyle/>
          <a:p>
            <a:pPr indent="0" marL="0">
              <a:buNone/>
            </a:pPr>
            <a:r>
              <a:rPr lang="en-US" sz="2800" b="1" dirty="0">
                <a:solidFill>
                  <a:srgbClr val="1D2A33"/>
                </a:solidFill>
                <a:latin typeface="Cambria" pitchFamily="34" charset="0"/>
                <a:ea typeface="Cambria" pitchFamily="34" charset="-122"/>
                <a:cs typeface="Cambria" pitchFamily="34" charset="-120"/>
              </a:rPr>
              <a:t>Aggregate before reporting: a privacy boundary by design</a:t>
            </a:r>
            <a:endParaRPr lang="en-US" sz="2800" dirty="0"/>
          </a:p>
        </p:txBody>
      </p:sp>
      <p:sp>
        <p:nvSpPr>
          <p:cNvPr id="4" name="Text 2"/>
          <p:cNvSpPr txBox="1"/>
          <p:nvPr/>
        </p:nvSpPr>
        <p:spPr>
          <a:xfrm>
            <a:off x="11247120" y="292608"/>
            <a:ext cx="502920" cy="256032"/>
          </a:xfrm>
          <a:prstGeom prst="rect">
            <a:avLst/>
          </a:prstGeom>
          <a:noFill/>
          <a:ln/>
        </p:spPr>
        <p:txBody>
          <a:bodyPr wrap="square" lIns="0" tIns="0" rIns="0" bIns="0" rtlCol="0" anchor="t"/>
          <a:lstStyle/>
          <a:p>
            <a:pPr algn="r" indent="0" marL="0">
              <a:buNone/>
            </a:pPr>
            <a:r>
              <a:rPr lang="en-US" sz="1100" dirty="0">
                <a:solidFill>
                  <a:srgbClr val="56656F"/>
                </a:solidFill>
                <a:latin typeface="Calibri" pitchFamily="34" charset="0"/>
                <a:ea typeface="Calibri" pitchFamily="34" charset="-122"/>
                <a:cs typeface="Calibri" pitchFamily="34" charset="-120"/>
              </a:rPr>
              <a:t>6</a:t>
            </a:r>
            <a:endParaRPr lang="en-US" sz="1100" dirty="0"/>
          </a:p>
        </p:txBody>
      </p:sp>
      <p:sp>
        <p:nvSpPr>
          <p:cNvPr id="5" name="Text 3"/>
          <p:cNvSpPr txBox="1"/>
          <p:nvPr/>
        </p:nvSpPr>
        <p:spPr>
          <a:xfrm>
            <a:off x="9601200" y="329184"/>
            <a:ext cx="1024128" cy="228600"/>
          </a:xfrm>
          <a:prstGeom prst="roundRect">
            <a:avLst>
              <a:gd name="adj" fmla="val 40000"/>
            </a:avLst>
          </a:prstGeom>
          <a:solidFill>
            <a:srgbClr val="8A5300"/>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ASSUMPTION</a:t>
            </a:r>
            <a:endParaRPr lang="en-US" sz="900" dirty="0"/>
          </a:p>
        </p:txBody>
      </p:sp>
      <p:sp>
        <p:nvSpPr>
          <p:cNvPr id="6" name="Shape 4"/>
          <p:cNvSpPr/>
          <p:nvPr/>
        </p:nvSpPr>
        <p:spPr>
          <a:xfrm>
            <a:off x="457200" y="1417320"/>
            <a:ext cx="1737360" cy="384048"/>
          </a:xfrm>
          <a:prstGeom prst="roundRect">
            <a:avLst>
              <a:gd name="adj" fmla="val 19048"/>
            </a:avLst>
          </a:prstGeom>
          <a:solidFill>
            <a:srgbClr val="E3EFED"/>
          </a:solidFill>
          <a:ln/>
        </p:spPr>
      </p:sp>
      <p:sp>
        <p:nvSpPr>
          <p:cNvPr id="7" name="Text 5"/>
          <p:cNvSpPr txBox="1"/>
          <p:nvPr/>
        </p:nvSpPr>
        <p:spPr>
          <a:xfrm>
            <a:off x="457200" y="1463040"/>
            <a:ext cx="1737360" cy="292608"/>
          </a:xfrm>
          <a:prstGeom prst="rect">
            <a:avLst/>
          </a:prstGeom>
          <a:noFill/>
          <a:ln/>
        </p:spPr>
        <p:txBody>
          <a:bodyPr wrap="square" lIns="0" tIns="0" rIns="0" bIns="0" rtlCol="0" anchor="ctr"/>
          <a:lstStyle/>
          <a:p>
            <a:pPr algn="ctr" indent="0" marL="0">
              <a:buNone/>
            </a:pPr>
            <a:r>
              <a:rPr lang="en-US" sz="1150" dirty="0">
                <a:solidFill>
                  <a:srgbClr val="1D2A33"/>
                </a:solidFill>
                <a:latin typeface="Calibri" pitchFamily="34" charset="0"/>
                <a:ea typeface="Calibri" pitchFamily="34" charset="-122"/>
                <a:cs typeface="Calibri" pitchFamily="34" charset="-120"/>
              </a:rPr>
              <a:t>Store master</a:t>
            </a:r>
            <a:endParaRPr lang="en-US" sz="1150" dirty="0"/>
          </a:p>
        </p:txBody>
      </p:sp>
      <p:sp>
        <p:nvSpPr>
          <p:cNvPr id="8" name="Shape 6"/>
          <p:cNvSpPr/>
          <p:nvPr/>
        </p:nvSpPr>
        <p:spPr>
          <a:xfrm>
            <a:off x="457200" y="1874520"/>
            <a:ext cx="1737360" cy="384048"/>
          </a:xfrm>
          <a:prstGeom prst="roundRect">
            <a:avLst>
              <a:gd name="adj" fmla="val 19048"/>
            </a:avLst>
          </a:prstGeom>
          <a:solidFill>
            <a:srgbClr val="E3EFED"/>
          </a:solidFill>
          <a:ln/>
        </p:spPr>
      </p:sp>
      <p:sp>
        <p:nvSpPr>
          <p:cNvPr id="9" name="Text 7"/>
          <p:cNvSpPr txBox="1"/>
          <p:nvPr/>
        </p:nvSpPr>
        <p:spPr>
          <a:xfrm>
            <a:off x="457200" y="1920240"/>
            <a:ext cx="1737360" cy="292608"/>
          </a:xfrm>
          <a:prstGeom prst="rect">
            <a:avLst/>
          </a:prstGeom>
          <a:noFill/>
          <a:ln/>
        </p:spPr>
        <p:txBody>
          <a:bodyPr wrap="square" lIns="0" tIns="0" rIns="0" bIns="0" rtlCol="0" anchor="ctr"/>
          <a:lstStyle/>
          <a:p>
            <a:pPr algn="ctr" indent="0" marL="0">
              <a:buNone/>
            </a:pPr>
            <a:r>
              <a:rPr lang="en-US" sz="1150" dirty="0">
                <a:solidFill>
                  <a:srgbClr val="1D2A33"/>
                </a:solidFill>
                <a:latin typeface="Calibri" pitchFamily="34" charset="0"/>
                <a:ea typeface="Calibri" pitchFamily="34" charset="-122"/>
                <a:cs typeface="Calibri" pitchFamily="34" charset="-120"/>
              </a:rPr>
              <a:t>Scheduling</a:t>
            </a:r>
            <a:endParaRPr lang="en-US" sz="1150" dirty="0"/>
          </a:p>
        </p:txBody>
      </p:sp>
      <p:sp>
        <p:nvSpPr>
          <p:cNvPr id="10" name="Shape 8"/>
          <p:cNvSpPr/>
          <p:nvPr/>
        </p:nvSpPr>
        <p:spPr>
          <a:xfrm>
            <a:off x="457200" y="2331720"/>
            <a:ext cx="1737360" cy="384048"/>
          </a:xfrm>
          <a:prstGeom prst="roundRect">
            <a:avLst>
              <a:gd name="adj" fmla="val 19048"/>
            </a:avLst>
          </a:prstGeom>
          <a:solidFill>
            <a:srgbClr val="E3EFED"/>
          </a:solidFill>
          <a:ln/>
        </p:spPr>
      </p:sp>
      <p:sp>
        <p:nvSpPr>
          <p:cNvPr id="11" name="Text 9"/>
          <p:cNvSpPr txBox="1"/>
          <p:nvPr/>
        </p:nvSpPr>
        <p:spPr>
          <a:xfrm>
            <a:off x="457200" y="2377440"/>
            <a:ext cx="1737360" cy="292608"/>
          </a:xfrm>
          <a:prstGeom prst="rect">
            <a:avLst/>
          </a:prstGeom>
          <a:noFill/>
          <a:ln/>
        </p:spPr>
        <p:txBody>
          <a:bodyPr wrap="square" lIns="0" tIns="0" rIns="0" bIns="0" rtlCol="0" anchor="ctr"/>
          <a:lstStyle/>
          <a:p>
            <a:pPr algn="ctr" indent="0" marL="0">
              <a:buNone/>
            </a:pPr>
            <a:r>
              <a:rPr lang="en-US" sz="1150" dirty="0">
                <a:solidFill>
                  <a:srgbClr val="1D2A33"/>
                </a:solidFill>
                <a:latin typeface="Calibri" pitchFamily="34" charset="0"/>
                <a:ea typeface="Calibri" pitchFamily="34" charset="-122"/>
                <a:cs typeface="Calibri" pitchFamily="34" charset="-120"/>
              </a:rPr>
              <a:t>PMS / EMR</a:t>
            </a:r>
            <a:endParaRPr lang="en-US" sz="1150" dirty="0"/>
          </a:p>
        </p:txBody>
      </p:sp>
      <p:sp>
        <p:nvSpPr>
          <p:cNvPr id="12" name="Shape 10"/>
          <p:cNvSpPr/>
          <p:nvPr/>
        </p:nvSpPr>
        <p:spPr>
          <a:xfrm>
            <a:off x="457200" y="2788920"/>
            <a:ext cx="1737360" cy="384048"/>
          </a:xfrm>
          <a:prstGeom prst="roundRect">
            <a:avLst>
              <a:gd name="adj" fmla="val 19048"/>
            </a:avLst>
          </a:prstGeom>
          <a:solidFill>
            <a:srgbClr val="E3EFED"/>
          </a:solidFill>
          <a:ln/>
        </p:spPr>
      </p:sp>
      <p:sp>
        <p:nvSpPr>
          <p:cNvPr id="13" name="Text 11"/>
          <p:cNvSpPr txBox="1"/>
          <p:nvPr/>
        </p:nvSpPr>
        <p:spPr>
          <a:xfrm>
            <a:off x="457200" y="2834640"/>
            <a:ext cx="1737360" cy="292608"/>
          </a:xfrm>
          <a:prstGeom prst="rect">
            <a:avLst/>
          </a:prstGeom>
          <a:noFill/>
          <a:ln/>
        </p:spPr>
        <p:txBody>
          <a:bodyPr wrap="square" lIns="0" tIns="0" rIns="0" bIns="0" rtlCol="0" anchor="ctr"/>
          <a:lstStyle/>
          <a:p>
            <a:pPr algn="ctr" indent="0" marL="0">
              <a:buNone/>
            </a:pPr>
            <a:r>
              <a:rPr lang="en-US" sz="1150" dirty="0">
                <a:solidFill>
                  <a:srgbClr val="1D2A33"/>
                </a:solidFill>
                <a:latin typeface="Calibri" pitchFamily="34" charset="0"/>
                <a:ea typeface="Calibri" pitchFamily="34" charset="-122"/>
                <a:cs typeface="Calibri" pitchFamily="34" charset="-120"/>
              </a:rPr>
              <a:t>Point of sale</a:t>
            </a:r>
            <a:endParaRPr lang="en-US" sz="1150" dirty="0"/>
          </a:p>
        </p:txBody>
      </p:sp>
      <p:sp>
        <p:nvSpPr>
          <p:cNvPr id="14" name="Shape 12"/>
          <p:cNvSpPr/>
          <p:nvPr/>
        </p:nvSpPr>
        <p:spPr>
          <a:xfrm>
            <a:off x="457200" y="3246120"/>
            <a:ext cx="1737360" cy="384048"/>
          </a:xfrm>
          <a:prstGeom prst="roundRect">
            <a:avLst>
              <a:gd name="adj" fmla="val 19048"/>
            </a:avLst>
          </a:prstGeom>
          <a:solidFill>
            <a:srgbClr val="E3EFED"/>
          </a:solidFill>
          <a:ln/>
        </p:spPr>
      </p:sp>
      <p:sp>
        <p:nvSpPr>
          <p:cNvPr id="15" name="Text 13"/>
          <p:cNvSpPr txBox="1"/>
          <p:nvPr/>
        </p:nvSpPr>
        <p:spPr>
          <a:xfrm>
            <a:off x="457200" y="3291840"/>
            <a:ext cx="1737360" cy="292608"/>
          </a:xfrm>
          <a:prstGeom prst="rect">
            <a:avLst/>
          </a:prstGeom>
          <a:noFill/>
          <a:ln/>
        </p:spPr>
        <p:txBody>
          <a:bodyPr wrap="square" lIns="0" tIns="0" rIns="0" bIns="0" rtlCol="0" anchor="ctr"/>
          <a:lstStyle/>
          <a:p>
            <a:pPr algn="ctr" indent="0" marL="0">
              <a:buNone/>
            </a:pPr>
            <a:r>
              <a:rPr lang="en-US" sz="1150" dirty="0">
                <a:solidFill>
                  <a:srgbClr val="1D2A33"/>
                </a:solidFill>
                <a:latin typeface="Calibri" pitchFamily="34" charset="0"/>
                <a:ea typeface="Calibri" pitchFamily="34" charset="-122"/>
                <a:cs typeface="Calibri" pitchFamily="34" charset="-120"/>
              </a:rPr>
              <a:t>Order management</a:t>
            </a:r>
            <a:endParaRPr lang="en-US" sz="1150" dirty="0"/>
          </a:p>
        </p:txBody>
      </p:sp>
      <p:sp>
        <p:nvSpPr>
          <p:cNvPr id="16" name="Shape 14"/>
          <p:cNvSpPr/>
          <p:nvPr/>
        </p:nvSpPr>
        <p:spPr>
          <a:xfrm>
            <a:off x="457200" y="3703320"/>
            <a:ext cx="1737360" cy="384048"/>
          </a:xfrm>
          <a:prstGeom prst="roundRect">
            <a:avLst>
              <a:gd name="adj" fmla="val 19048"/>
            </a:avLst>
          </a:prstGeom>
          <a:solidFill>
            <a:srgbClr val="E3EFED"/>
          </a:solidFill>
          <a:ln/>
        </p:spPr>
      </p:sp>
      <p:sp>
        <p:nvSpPr>
          <p:cNvPr id="17" name="Text 15"/>
          <p:cNvSpPr txBox="1"/>
          <p:nvPr/>
        </p:nvSpPr>
        <p:spPr>
          <a:xfrm>
            <a:off x="457200" y="3749040"/>
            <a:ext cx="1737360" cy="292608"/>
          </a:xfrm>
          <a:prstGeom prst="rect">
            <a:avLst/>
          </a:prstGeom>
          <a:noFill/>
          <a:ln/>
        </p:spPr>
        <p:txBody>
          <a:bodyPr wrap="square" lIns="0" tIns="0" rIns="0" bIns="0" rtlCol="0" anchor="ctr"/>
          <a:lstStyle/>
          <a:p>
            <a:pPr algn="ctr" indent="0" marL="0">
              <a:buNone/>
            </a:pPr>
            <a:r>
              <a:rPr lang="en-US" sz="1150" dirty="0">
                <a:solidFill>
                  <a:srgbClr val="1D2A33"/>
                </a:solidFill>
                <a:latin typeface="Calibri" pitchFamily="34" charset="0"/>
                <a:ea typeface="Calibri" pitchFamily="34" charset="-122"/>
                <a:cs typeface="Calibri" pitchFamily="34" charset="-120"/>
              </a:rPr>
              <a:t>Marketing / recall</a:t>
            </a:r>
            <a:endParaRPr lang="en-US" sz="1150" dirty="0"/>
          </a:p>
        </p:txBody>
      </p:sp>
      <p:sp>
        <p:nvSpPr>
          <p:cNvPr id="18" name="Shape 16"/>
          <p:cNvSpPr/>
          <p:nvPr/>
        </p:nvSpPr>
        <p:spPr>
          <a:xfrm>
            <a:off x="457200" y="4160520"/>
            <a:ext cx="1737360" cy="384048"/>
          </a:xfrm>
          <a:prstGeom prst="roundRect">
            <a:avLst>
              <a:gd name="adj" fmla="val 19048"/>
            </a:avLst>
          </a:prstGeom>
          <a:solidFill>
            <a:srgbClr val="E3EFED"/>
          </a:solidFill>
          <a:ln/>
        </p:spPr>
      </p:sp>
      <p:sp>
        <p:nvSpPr>
          <p:cNvPr id="19" name="Text 17"/>
          <p:cNvSpPr txBox="1"/>
          <p:nvPr/>
        </p:nvSpPr>
        <p:spPr>
          <a:xfrm>
            <a:off x="457200" y="4206240"/>
            <a:ext cx="1737360" cy="292608"/>
          </a:xfrm>
          <a:prstGeom prst="rect">
            <a:avLst/>
          </a:prstGeom>
          <a:noFill/>
          <a:ln/>
        </p:spPr>
        <p:txBody>
          <a:bodyPr wrap="square" lIns="0" tIns="0" rIns="0" bIns="0" rtlCol="0" anchor="ctr"/>
          <a:lstStyle/>
          <a:p>
            <a:pPr algn="ctr" indent="0" marL="0">
              <a:buNone/>
            </a:pPr>
            <a:r>
              <a:rPr lang="en-US" sz="1150" dirty="0">
                <a:solidFill>
                  <a:srgbClr val="1D2A33"/>
                </a:solidFill>
                <a:latin typeface="Calibri" pitchFamily="34" charset="0"/>
                <a:ea typeface="Calibri" pitchFamily="34" charset="-122"/>
                <a:cs typeface="Calibri" pitchFamily="34" charset="-120"/>
              </a:rPr>
              <a:t>Finance</a:t>
            </a:r>
            <a:endParaRPr lang="en-US" sz="1150" dirty="0"/>
          </a:p>
        </p:txBody>
      </p:sp>
      <p:sp>
        <p:nvSpPr>
          <p:cNvPr id="20" name="Text 18"/>
          <p:cNvSpPr txBox="1"/>
          <p:nvPr/>
        </p:nvSpPr>
        <p:spPr>
          <a:xfrm>
            <a:off x="457200" y="4645152"/>
            <a:ext cx="1737360" cy="228600"/>
          </a:xfrm>
          <a:prstGeom prst="rect">
            <a:avLst/>
          </a:prstGeom>
          <a:noFill/>
          <a:ln/>
        </p:spPr>
        <p:txBody>
          <a:bodyPr wrap="square" lIns="0" tIns="0" rIns="0" bIns="0" rtlCol="0" anchor="t"/>
          <a:lstStyle/>
          <a:p>
            <a:pPr algn="ctr" indent="0" marL="0">
              <a:buNone/>
            </a:pPr>
            <a:r>
              <a:rPr lang="en-US" sz="1000" dirty="0">
                <a:solidFill>
                  <a:srgbClr val="56656F"/>
                </a:solidFill>
                <a:latin typeface="Calibri" pitchFamily="34" charset="0"/>
                <a:ea typeface="Calibri" pitchFamily="34" charset="-122"/>
                <a:cs typeface="Calibri" pitchFamily="34" charset="-120"/>
              </a:rPr>
              <a:t>Generic source categories</a:t>
            </a:r>
            <a:endParaRPr lang="en-US" sz="1000" dirty="0"/>
          </a:p>
        </p:txBody>
      </p:sp>
      <p:sp>
        <p:nvSpPr>
          <p:cNvPr id="21" name="Shape 19"/>
          <p:cNvSpPr/>
          <p:nvPr/>
        </p:nvSpPr>
        <p:spPr>
          <a:xfrm>
            <a:off x="2468880" y="1920240"/>
            <a:ext cx="1691640" cy="1737360"/>
          </a:xfrm>
          <a:prstGeom prst="roundRect">
            <a:avLst>
              <a:gd name="adj" fmla="val 4324"/>
            </a:avLst>
          </a:prstGeom>
          <a:solidFill>
            <a:srgbClr val="F4F7F8"/>
          </a:solidFill>
          <a:ln w="9525">
            <a:solidFill>
              <a:srgbClr val="D9E1E6"/>
            </a:solidFill>
            <a:prstDash val="solid"/>
          </a:ln>
        </p:spPr>
      </p:sp>
      <p:sp>
        <p:nvSpPr>
          <p:cNvPr id="22" name="Text 20"/>
          <p:cNvSpPr txBox="1"/>
          <p:nvPr/>
        </p:nvSpPr>
        <p:spPr>
          <a:xfrm>
            <a:off x="2578608" y="2029968"/>
            <a:ext cx="1481328" cy="1554480"/>
          </a:xfrm>
          <a:prstGeom prst="rect">
            <a:avLst/>
          </a:prstGeom>
          <a:noFill/>
          <a:ln/>
        </p:spPr>
        <p:txBody>
          <a:bodyPr wrap="square" lIns="0" tIns="0" rIns="0" bIns="0" rtlCol="0" anchor="t"/>
          <a:lstStyle/>
          <a:p>
            <a:pPr indent="0" marL="0">
              <a:buNone/>
            </a:pPr>
            <a:r>
              <a:rPr lang="en-US" sz="1250" b="1" dirty="0">
                <a:solidFill>
                  <a:srgbClr val="1D2A33"/>
                </a:solidFill>
                <a:latin typeface="Calibri" pitchFamily="34" charset="0"/>
                <a:ea typeface="Calibri" pitchFamily="34" charset="-122"/>
                <a:cs typeface="Calibri" pitchFamily="34" charset="-120"/>
              </a:rPr>
              <a:t>Raw landing</a:t>
            </a:r>
            <a:endParaRPr lang="en-US" sz="1250" dirty="0"/>
          </a:p>
          <a:p>
            <a:pPr indent="0" marL="0">
              <a:buNone/>
            </a:pPr>
            <a:r>
              <a:rPr lang="en-US" sz="1100" dirty="0">
                <a:solidFill>
                  <a:srgbClr val="56656F"/>
                </a:solidFill>
                <a:latin typeface="Calibri" pitchFamily="34" charset="0"/>
                <a:ea typeface="Calibri" pitchFamily="34" charset="-122"/>
                <a:cs typeface="Calibri" pitchFamily="34" charset="-120"/>
              </a:rPr>
              <a:t>Immutable extracts and load metadata · restricted</a:t>
            </a:r>
            <a:endParaRPr lang="en-US" sz="1250" dirty="0"/>
          </a:p>
        </p:txBody>
      </p:sp>
      <p:sp>
        <p:nvSpPr>
          <p:cNvPr id="23" name="Shape 21"/>
          <p:cNvSpPr/>
          <p:nvPr/>
        </p:nvSpPr>
        <p:spPr>
          <a:xfrm>
            <a:off x="4343400" y="1920240"/>
            <a:ext cx="1691640" cy="1737360"/>
          </a:xfrm>
          <a:prstGeom prst="roundRect">
            <a:avLst>
              <a:gd name="adj" fmla="val 4324"/>
            </a:avLst>
          </a:prstGeom>
          <a:solidFill>
            <a:srgbClr val="F4F7F8"/>
          </a:solidFill>
          <a:ln w="9525">
            <a:solidFill>
              <a:srgbClr val="D9E1E6"/>
            </a:solidFill>
            <a:prstDash val="solid"/>
          </a:ln>
        </p:spPr>
      </p:sp>
      <p:sp>
        <p:nvSpPr>
          <p:cNvPr id="24" name="Text 22"/>
          <p:cNvSpPr txBox="1"/>
          <p:nvPr/>
        </p:nvSpPr>
        <p:spPr>
          <a:xfrm>
            <a:off x="4453128" y="2029968"/>
            <a:ext cx="1481328" cy="1554480"/>
          </a:xfrm>
          <a:prstGeom prst="rect">
            <a:avLst/>
          </a:prstGeom>
          <a:noFill/>
          <a:ln/>
        </p:spPr>
        <p:txBody>
          <a:bodyPr wrap="square" lIns="0" tIns="0" rIns="0" bIns="0" rtlCol="0" anchor="t"/>
          <a:lstStyle/>
          <a:p>
            <a:pPr indent="0" marL="0">
              <a:buNone/>
            </a:pPr>
            <a:r>
              <a:rPr lang="en-US" sz="1250" b="1" dirty="0">
                <a:solidFill>
                  <a:srgbClr val="1D2A33"/>
                </a:solidFill>
                <a:latin typeface="Calibri" pitchFamily="34" charset="0"/>
                <a:ea typeface="Calibri" pitchFamily="34" charset="-122"/>
                <a:cs typeface="Calibri" pitchFamily="34" charset="-120"/>
              </a:rPr>
              <a:t>Standardise and link</a:t>
            </a:r>
            <a:endParaRPr lang="en-US" sz="1250" dirty="0"/>
          </a:p>
          <a:p>
            <a:pPr indent="0" marL="0">
              <a:buNone/>
            </a:pPr>
            <a:r>
              <a:rPr lang="en-US" sz="1100" dirty="0">
                <a:solidFill>
                  <a:srgbClr val="56656F"/>
                </a:solidFill>
                <a:latin typeface="Calibri" pitchFamily="34" charset="0"/>
                <a:ea typeface="Calibri" pitchFamily="34" charset="-122"/>
                <a:cs typeface="Calibri" pitchFamily="34" charset="-120"/>
              </a:rPr>
              <a:t>Conform store_id · pseudonymise · exam↔purchase linkage · restricted</a:t>
            </a:r>
            <a:endParaRPr lang="en-US" sz="1250" dirty="0"/>
          </a:p>
        </p:txBody>
      </p:sp>
      <p:sp>
        <p:nvSpPr>
          <p:cNvPr id="25" name="Shape 23"/>
          <p:cNvSpPr/>
          <p:nvPr/>
        </p:nvSpPr>
        <p:spPr>
          <a:xfrm>
            <a:off x="6263640" y="1371600"/>
            <a:ext cx="0" cy="2834640"/>
          </a:xfrm>
          <a:prstGeom prst="line">
            <a:avLst/>
          </a:prstGeom>
          <a:noFill/>
          <a:ln w="31750">
            <a:solidFill>
              <a:srgbClr val="C4581B"/>
            </a:solidFill>
            <a:prstDash val="dash"/>
          </a:ln>
        </p:spPr>
      </p:sp>
      <p:sp>
        <p:nvSpPr>
          <p:cNvPr id="26" name="Text 24"/>
          <p:cNvSpPr txBox="1"/>
          <p:nvPr/>
        </p:nvSpPr>
        <p:spPr>
          <a:xfrm>
            <a:off x="5440680" y="4261104"/>
            <a:ext cx="1645920" cy="457200"/>
          </a:xfrm>
          <a:prstGeom prst="rect">
            <a:avLst/>
          </a:prstGeom>
          <a:noFill/>
          <a:ln/>
        </p:spPr>
        <p:txBody>
          <a:bodyPr wrap="square" lIns="0" tIns="0" rIns="0" bIns="0" rtlCol="0" anchor="t"/>
          <a:lstStyle/>
          <a:p>
            <a:pPr algn="ctr" indent="0" marL="0">
              <a:buNone/>
            </a:pPr>
            <a:r>
              <a:rPr lang="en-US" sz="1000" b="1" dirty="0">
                <a:solidFill>
                  <a:srgbClr val="A84A14"/>
                </a:solidFill>
                <a:latin typeface="Calibri" pitchFamily="34" charset="0"/>
                <a:ea typeface="Calibri" pitchFamily="34" charset="-122"/>
                <a:cs typeface="Calibri" pitchFamily="34" charset="-120"/>
              </a:rPr>
              <a:t>PRIVACY BOUNDARY</a:t>
            </a:r>
            <a:endParaRPr lang="en-US" sz="1000" dirty="0"/>
          </a:p>
          <a:p>
            <a:pPr algn="ctr" indent="0" marL="0">
              <a:buNone/>
            </a:pPr>
            <a:r>
              <a:rPr lang="en-US" sz="1000" b="1" dirty="0">
                <a:solidFill>
                  <a:srgbClr val="A84A14"/>
                </a:solidFill>
                <a:latin typeface="Calibri" pitchFamily="34" charset="0"/>
                <a:ea typeface="Calibri" pitchFamily="34" charset="-122"/>
                <a:cs typeface="Calibri" pitchFamily="34" charset="-120"/>
              </a:rPr>
              <a:t>store-week aggregates only</a:t>
            </a:r>
            <a:endParaRPr lang="en-US" sz="1000" dirty="0"/>
          </a:p>
        </p:txBody>
      </p:sp>
      <p:sp>
        <p:nvSpPr>
          <p:cNvPr id="27" name="Shape 25"/>
          <p:cNvSpPr/>
          <p:nvPr/>
        </p:nvSpPr>
        <p:spPr>
          <a:xfrm>
            <a:off x="6446520" y="1920240"/>
            <a:ext cx="1627632" cy="1737360"/>
          </a:xfrm>
          <a:prstGeom prst="roundRect">
            <a:avLst>
              <a:gd name="adj" fmla="val 4494"/>
            </a:avLst>
          </a:prstGeom>
          <a:solidFill>
            <a:srgbClr val="E3EFED"/>
          </a:solidFill>
          <a:ln/>
        </p:spPr>
      </p:sp>
      <p:sp>
        <p:nvSpPr>
          <p:cNvPr id="28" name="Text 26"/>
          <p:cNvSpPr txBox="1"/>
          <p:nvPr/>
        </p:nvSpPr>
        <p:spPr>
          <a:xfrm>
            <a:off x="6556248" y="2029968"/>
            <a:ext cx="1417320" cy="1554480"/>
          </a:xfrm>
          <a:prstGeom prst="rect">
            <a:avLst/>
          </a:prstGeom>
          <a:noFill/>
          <a:ln/>
        </p:spPr>
        <p:txBody>
          <a:bodyPr wrap="square" lIns="0" tIns="0" rIns="0" bIns="0" rtlCol="0" anchor="t"/>
          <a:lstStyle/>
          <a:p>
            <a:pPr indent="0" marL="0">
              <a:buNone/>
            </a:pPr>
            <a:r>
              <a:rPr lang="en-US" sz="1250" b="1" dirty="0">
                <a:solidFill>
                  <a:srgbClr val="1D2A33"/>
                </a:solidFill>
                <a:latin typeface="Calibri" pitchFamily="34" charset="0"/>
                <a:ea typeface="Calibri" pitchFamily="34" charset="-122"/>
                <a:cs typeface="Calibri" pitchFamily="34" charset="-120"/>
              </a:rPr>
              <a:t>Aggregated zone</a:t>
            </a:r>
            <a:endParaRPr lang="en-US" sz="1250" dirty="0"/>
          </a:p>
          <a:p>
            <a:pPr indent="0" marL="0">
              <a:buNone/>
            </a:pPr>
            <a:r>
              <a:rPr lang="en-US" sz="1100" dirty="0">
                <a:solidFill>
                  <a:srgbClr val="56656F"/>
                </a:solidFill>
                <a:latin typeface="Calibri" pitchFamily="34" charset="0"/>
                <a:ea typeface="Calibri" pitchFamily="34" charset="-122"/>
                <a:cs typeface="Calibri" pitchFamily="34" charset="-120"/>
              </a:rPr>
              <a:t>Store-week facts · store-level KPI, peer and flag tables computed once</a:t>
            </a:r>
            <a:endParaRPr lang="en-US" sz="1250" dirty="0"/>
          </a:p>
        </p:txBody>
      </p:sp>
      <p:sp>
        <p:nvSpPr>
          <p:cNvPr id="29" name="Shape 27"/>
          <p:cNvSpPr/>
          <p:nvPr/>
        </p:nvSpPr>
        <p:spPr>
          <a:xfrm>
            <a:off x="8275320" y="1920240"/>
            <a:ext cx="1627632" cy="1737360"/>
          </a:xfrm>
          <a:prstGeom prst="roundRect">
            <a:avLst>
              <a:gd name="adj" fmla="val 4494"/>
            </a:avLst>
          </a:prstGeom>
          <a:solidFill>
            <a:srgbClr val="E3EFED"/>
          </a:solidFill>
          <a:ln/>
        </p:spPr>
      </p:sp>
      <p:sp>
        <p:nvSpPr>
          <p:cNvPr id="30" name="Text 28"/>
          <p:cNvSpPr txBox="1"/>
          <p:nvPr/>
        </p:nvSpPr>
        <p:spPr>
          <a:xfrm>
            <a:off x="8385048" y="2029968"/>
            <a:ext cx="1417320" cy="1554480"/>
          </a:xfrm>
          <a:prstGeom prst="rect">
            <a:avLst/>
          </a:prstGeom>
          <a:noFill/>
          <a:ln/>
        </p:spPr>
        <p:txBody>
          <a:bodyPr wrap="square" lIns="0" tIns="0" rIns="0" bIns="0" rtlCol="0" anchor="t"/>
          <a:lstStyle/>
          <a:p>
            <a:pPr indent="0" marL="0">
              <a:buNone/>
            </a:pPr>
            <a:r>
              <a:rPr lang="en-US" sz="1250" b="1" dirty="0">
                <a:solidFill>
                  <a:srgbClr val="1D2A33"/>
                </a:solidFill>
                <a:latin typeface="Calibri" pitchFamily="34" charset="0"/>
                <a:ea typeface="Calibri" pitchFamily="34" charset="-122"/>
                <a:cs typeface="Calibri" pitchFamily="34" charset="-120"/>
              </a:rPr>
              <a:t>Semantic model</a:t>
            </a:r>
            <a:endParaRPr lang="en-US" sz="1250" dirty="0"/>
          </a:p>
          <a:p>
            <a:pPr indent="0" marL="0">
              <a:buNone/>
            </a:pPr>
            <a:r>
              <a:rPr lang="en-US" sz="1100" dirty="0">
                <a:solidFill>
                  <a:srgbClr val="56656F"/>
                </a:solidFill>
                <a:latin typeface="Calibri" pitchFamily="34" charset="0"/>
                <a:ea typeface="Calibri" pitchFamily="34" charset="-122"/>
                <a:cs typeface="Calibri" pitchFamily="34" charset="-120"/>
              </a:rPr>
              <a:t>Selected-week aggregates · RLS · OLS on a revenue table</a:t>
            </a:r>
            <a:endParaRPr lang="en-US" sz="1250" dirty="0"/>
          </a:p>
        </p:txBody>
      </p:sp>
      <p:sp>
        <p:nvSpPr>
          <p:cNvPr id="31" name="Shape 29"/>
          <p:cNvSpPr/>
          <p:nvPr/>
        </p:nvSpPr>
        <p:spPr>
          <a:xfrm>
            <a:off x="10104120" y="1920240"/>
            <a:ext cx="1627632" cy="1737360"/>
          </a:xfrm>
          <a:prstGeom prst="roundRect">
            <a:avLst>
              <a:gd name="adj" fmla="val 4494"/>
            </a:avLst>
          </a:prstGeom>
          <a:solidFill>
            <a:srgbClr val="0B5D57"/>
          </a:solidFill>
          <a:ln/>
        </p:spPr>
      </p:sp>
      <p:sp>
        <p:nvSpPr>
          <p:cNvPr id="32" name="Text 30"/>
          <p:cNvSpPr txBox="1"/>
          <p:nvPr/>
        </p:nvSpPr>
        <p:spPr>
          <a:xfrm>
            <a:off x="10213848" y="2029968"/>
            <a:ext cx="1417320" cy="15544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3 report pages</a:t>
            </a:r>
            <a:endParaRPr lang="en-US" sz="1250" dirty="0"/>
          </a:p>
          <a:p>
            <a:pPr indent="0" marL="0">
              <a:buNone/>
            </a:pPr>
            <a:r>
              <a:rPr lang="en-US" sz="1100" dirty="0">
                <a:solidFill>
                  <a:srgbClr val="DDEFEC"/>
                </a:solidFill>
                <a:latin typeface="Calibri" pitchFamily="34" charset="0"/>
                <a:ea typeface="Calibri" pitchFamily="34" charset="-122"/>
                <a:cs typeface="Calibri" pitchFamily="34" charset="-120"/>
              </a:rPr>
              <a:t>Network · Benchmarking · Diagnostic and data quality</a:t>
            </a:r>
            <a:endParaRPr lang="en-US" sz="1250" dirty="0"/>
          </a:p>
        </p:txBody>
      </p:sp>
      <p:sp>
        <p:nvSpPr>
          <p:cNvPr id="33" name="Shape 31"/>
          <p:cNvSpPr/>
          <p:nvPr/>
        </p:nvSpPr>
        <p:spPr>
          <a:xfrm>
            <a:off x="2240280" y="2651760"/>
            <a:ext cx="219456" cy="274320"/>
          </a:xfrm>
          <a:prstGeom prst="rightArrow">
            <a:avLst/>
          </a:prstGeom>
          <a:solidFill>
            <a:srgbClr val="6B7B85"/>
          </a:solidFill>
          <a:ln/>
        </p:spPr>
      </p:sp>
      <p:sp>
        <p:nvSpPr>
          <p:cNvPr id="34" name="Shape 32"/>
          <p:cNvSpPr/>
          <p:nvPr/>
        </p:nvSpPr>
        <p:spPr>
          <a:xfrm>
            <a:off x="4206240" y="2651760"/>
            <a:ext cx="219456" cy="274320"/>
          </a:xfrm>
          <a:prstGeom prst="rightArrow">
            <a:avLst/>
          </a:prstGeom>
          <a:solidFill>
            <a:srgbClr val="6B7B85"/>
          </a:solidFill>
          <a:ln/>
        </p:spPr>
      </p:sp>
      <p:sp>
        <p:nvSpPr>
          <p:cNvPr id="35" name="Shape 33"/>
          <p:cNvSpPr/>
          <p:nvPr/>
        </p:nvSpPr>
        <p:spPr>
          <a:xfrm>
            <a:off x="8092440" y="2651760"/>
            <a:ext cx="219456" cy="274320"/>
          </a:xfrm>
          <a:prstGeom prst="rightArrow">
            <a:avLst/>
          </a:prstGeom>
          <a:solidFill>
            <a:srgbClr val="6B7B85"/>
          </a:solidFill>
          <a:ln/>
        </p:spPr>
      </p:sp>
      <p:sp>
        <p:nvSpPr>
          <p:cNvPr id="36" name="Shape 34"/>
          <p:cNvSpPr/>
          <p:nvPr/>
        </p:nvSpPr>
        <p:spPr>
          <a:xfrm>
            <a:off x="9921240" y="2651760"/>
            <a:ext cx="219456" cy="274320"/>
          </a:xfrm>
          <a:prstGeom prst="rightArrow">
            <a:avLst/>
          </a:prstGeom>
          <a:solidFill>
            <a:srgbClr val="6B7B85"/>
          </a:solidFill>
          <a:ln/>
        </p:spPr>
      </p:sp>
      <p:sp>
        <p:nvSpPr>
          <p:cNvPr id="37" name="Shape 35"/>
          <p:cNvSpPr/>
          <p:nvPr/>
        </p:nvSpPr>
        <p:spPr>
          <a:xfrm>
            <a:off x="6062472" y="2651760"/>
            <a:ext cx="365760" cy="274320"/>
          </a:xfrm>
          <a:prstGeom prst="rightArrow">
            <a:avLst/>
          </a:prstGeom>
          <a:solidFill>
            <a:srgbClr val="C4581B"/>
          </a:solidFill>
          <a:ln/>
        </p:spPr>
      </p:sp>
      <p:sp>
        <p:nvSpPr>
          <p:cNvPr id="38" name="Shape 36"/>
          <p:cNvSpPr/>
          <p:nvPr/>
        </p:nvSpPr>
        <p:spPr>
          <a:xfrm>
            <a:off x="457200" y="4892040"/>
            <a:ext cx="3657600" cy="1435608"/>
          </a:xfrm>
          <a:prstGeom prst="roundRect">
            <a:avLst>
              <a:gd name="adj" fmla="val 5096"/>
            </a:avLst>
          </a:prstGeom>
          <a:solidFill>
            <a:srgbClr val="F4F7F8"/>
          </a:solidFill>
          <a:ln/>
        </p:spPr>
      </p:sp>
      <p:sp>
        <p:nvSpPr>
          <p:cNvPr id="39" name="Text 37"/>
          <p:cNvSpPr txBox="1"/>
          <p:nvPr/>
        </p:nvSpPr>
        <p:spPr>
          <a:xfrm>
            <a:off x="594360" y="4965192"/>
            <a:ext cx="3383280" cy="274320"/>
          </a:xfrm>
          <a:prstGeom prst="rect">
            <a:avLst/>
          </a:prstGeom>
          <a:noFill/>
          <a:ln/>
        </p:spPr>
        <p:txBody>
          <a:bodyPr wrap="square" lIns="0" tIns="0" rIns="0" bIns="0" rtlCol="0" anchor="t"/>
          <a:lstStyle/>
          <a:p>
            <a:pPr indent="0" marL="0">
              <a:buNone/>
            </a:pPr>
            <a:r>
              <a:rPr lang="en-US" sz="1250" b="1" dirty="0">
                <a:solidFill>
                  <a:srgbClr val="0B5D57"/>
                </a:solidFill>
                <a:latin typeface="Calibri" pitchFamily="34" charset="0"/>
                <a:ea typeface="Calibri" pitchFamily="34" charset="-122"/>
                <a:cs typeface="Calibri" pitchFamily="34" charset="-120"/>
              </a:rPr>
              <a:t>Data-quality checkpoints</a:t>
            </a:r>
            <a:endParaRPr lang="en-US" sz="1250" dirty="0"/>
          </a:p>
        </p:txBody>
      </p:sp>
      <p:sp>
        <p:nvSpPr>
          <p:cNvPr id="40" name="Text 38"/>
          <p:cNvSpPr txBox="1"/>
          <p:nvPr/>
        </p:nvSpPr>
        <p:spPr>
          <a:xfrm>
            <a:off x="594360" y="5266944"/>
            <a:ext cx="3429000" cy="1024128"/>
          </a:xfrm>
          <a:prstGeom prst="rect">
            <a:avLst/>
          </a:prstGeom>
          <a:noFill/>
          <a:ln/>
        </p:spPr>
        <p:txBody>
          <a:bodyPr wrap="square" lIns="0" tIns="0" rIns="0" bIns="0" rtlCol="0" anchor="t"/>
          <a:lstStyle/>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Completeness and freshness per source</a:t>
            </a:r>
            <a:endParaRPr lang="en-US" sz="1100" dirty="0"/>
          </a:p>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Opening-date and store-code checks</a:t>
            </a:r>
            <a:endParaRPr lang="en-US" sz="1100" dirty="0"/>
          </a:p>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Arithmetic invariants</a:t>
            </a:r>
            <a:endParaRPr lang="en-US" sz="1100" dirty="0"/>
          </a:p>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Privacy scan blocks publishing</a:t>
            </a:r>
            <a:endParaRPr lang="en-US" sz="1100" dirty="0"/>
          </a:p>
        </p:txBody>
      </p:sp>
      <p:sp>
        <p:nvSpPr>
          <p:cNvPr id="41" name="Shape 39"/>
          <p:cNvSpPr/>
          <p:nvPr/>
        </p:nvSpPr>
        <p:spPr>
          <a:xfrm>
            <a:off x="4251960" y="4892040"/>
            <a:ext cx="3657600" cy="1435608"/>
          </a:xfrm>
          <a:prstGeom prst="roundRect">
            <a:avLst>
              <a:gd name="adj" fmla="val 5096"/>
            </a:avLst>
          </a:prstGeom>
          <a:solidFill>
            <a:srgbClr val="F4F7F8"/>
          </a:solidFill>
          <a:ln/>
        </p:spPr>
      </p:sp>
      <p:sp>
        <p:nvSpPr>
          <p:cNvPr id="42" name="Text 40"/>
          <p:cNvSpPr txBox="1"/>
          <p:nvPr/>
        </p:nvSpPr>
        <p:spPr>
          <a:xfrm>
            <a:off x="4389120" y="4965192"/>
            <a:ext cx="3383280" cy="274320"/>
          </a:xfrm>
          <a:prstGeom prst="rect">
            <a:avLst/>
          </a:prstGeom>
          <a:noFill/>
          <a:ln/>
        </p:spPr>
        <p:txBody>
          <a:bodyPr wrap="square" lIns="0" tIns="0" rIns="0" bIns="0" rtlCol="0" anchor="t"/>
          <a:lstStyle/>
          <a:p>
            <a:pPr indent="0" marL="0">
              <a:buNone/>
            </a:pPr>
            <a:r>
              <a:rPr lang="en-US" sz="1250" b="1" dirty="0">
                <a:solidFill>
                  <a:srgbClr val="0B5D57"/>
                </a:solidFill>
                <a:latin typeface="Calibri" pitchFamily="34" charset="0"/>
                <a:ea typeface="Calibri" pitchFamily="34" charset="-122"/>
                <a:cs typeface="Calibri" pitchFamily="34" charset="-120"/>
              </a:rPr>
              <a:t>Master data and ownership</a:t>
            </a:r>
            <a:endParaRPr lang="en-US" sz="1250" dirty="0"/>
          </a:p>
        </p:txBody>
      </p:sp>
      <p:sp>
        <p:nvSpPr>
          <p:cNvPr id="43" name="Text 41"/>
          <p:cNvSpPr txBox="1"/>
          <p:nvPr/>
        </p:nvSpPr>
        <p:spPr>
          <a:xfrm>
            <a:off x="4389120" y="5266944"/>
            <a:ext cx="3429000" cy="1024128"/>
          </a:xfrm>
          <a:prstGeom prst="rect">
            <a:avLst/>
          </a:prstGeom>
          <a:noFill/>
          <a:ln/>
        </p:spPr>
        <p:txBody>
          <a:bodyPr wrap="square" lIns="0" tIns="0" rIns="0" bIns="0" rtlCol="0" anchor="t"/>
          <a:lstStyle/>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Opening date → Business Development (to confirm)</a:t>
            </a:r>
            <a:endParaRPr lang="en-US" sz="1100" dirty="0"/>
          </a:p>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Converted or relocated stores flagged (open, TQ-12)</a:t>
            </a:r>
            <a:endParaRPr lang="en-US" sz="1100" dirty="0"/>
          </a:p>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Effective-dated region and format</a:t>
            </a:r>
            <a:endParaRPr lang="en-US" sz="1100" dirty="0"/>
          </a:p>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User-to-store access mapping</a:t>
            </a:r>
            <a:endParaRPr lang="en-US" sz="1100" dirty="0"/>
          </a:p>
        </p:txBody>
      </p:sp>
      <p:sp>
        <p:nvSpPr>
          <p:cNvPr id="44" name="Shape 42"/>
          <p:cNvSpPr/>
          <p:nvPr/>
        </p:nvSpPr>
        <p:spPr>
          <a:xfrm>
            <a:off x="8046720" y="4892040"/>
            <a:ext cx="3657600" cy="1435608"/>
          </a:xfrm>
          <a:prstGeom prst="roundRect">
            <a:avLst>
              <a:gd name="adj" fmla="val 5096"/>
            </a:avLst>
          </a:prstGeom>
          <a:solidFill>
            <a:srgbClr val="F4F7F8"/>
          </a:solidFill>
          <a:ln/>
        </p:spPr>
      </p:sp>
      <p:sp>
        <p:nvSpPr>
          <p:cNvPr id="45" name="Text 43"/>
          <p:cNvSpPr txBox="1"/>
          <p:nvPr/>
        </p:nvSpPr>
        <p:spPr>
          <a:xfrm>
            <a:off x="8183880" y="4965192"/>
            <a:ext cx="3383280" cy="274320"/>
          </a:xfrm>
          <a:prstGeom prst="rect">
            <a:avLst/>
          </a:prstGeom>
          <a:noFill/>
          <a:ln/>
        </p:spPr>
        <p:txBody>
          <a:bodyPr wrap="square" lIns="0" tIns="0" rIns="0" bIns="0" rtlCol="0" anchor="t"/>
          <a:lstStyle/>
          <a:p>
            <a:pPr indent="0" marL="0">
              <a:buNone/>
            </a:pPr>
            <a:r>
              <a:rPr lang="en-US" sz="1250" b="1" dirty="0">
                <a:solidFill>
                  <a:srgbClr val="0B5D57"/>
                </a:solidFill>
                <a:latin typeface="Calibri" pitchFamily="34" charset="0"/>
                <a:ea typeface="Calibri" pitchFamily="34" charset="-122"/>
                <a:cs typeface="Calibri" pitchFamily="34" charset="-120"/>
              </a:rPr>
              <a:t>Governance and privacy</a:t>
            </a:r>
            <a:endParaRPr lang="en-US" sz="1250" dirty="0"/>
          </a:p>
        </p:txBody>
      </p:sp>
      <p:sp>
        <p:nvSpPr>
          <p:cNvPr id="46" name="Text 44"/>
          <p:cNvSpPr txBox="1"/>
          <p:nvPr/>
        </p:nvSpPr>
        <p:spPr>
          <a:xfrm>
            <a:off x="8183880" y="5266944"/>
            <a:ext cx="3429000" cy="1024128"/>
          </a:xfrm>
          <a:prstGeom prst="rect">
            <a:avLst/>
          </a:prstGeom>
          <a:noFill/>
          <a:ln/>
        </p:spPr>
        <p:txBody>
          <a:bodyPr wrap="square" lIns="0" tIns="0" rIns="0" bIns="0" rtlCol="0" anchor="t"/>
          <a:lstStyle/>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No identifiers, diagnoses or individual performance</a:t>
            </a:r>
            <a:endParaRPr lang="en-US" sz="1100" dirty="0"/>
          </a:p>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Revenue in a separate table secured with OLS</a:t>
            </a:r>
            <a:endParaRPr lang="en-US" sz="1100" dirty="0"/>
          </a:p>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Anonymous peers; minimum group of 5</a:t>
            </a:r>
            <a:endParaRPr lang="en-US" sz="1100" dirty="0"/>
          </a:p>
          <a:p>
            <a:pPr marL="152400" indent="-152400">
              <a:spcAft>
                <a:spcPts val="100"/>
              </a:spcAft>
              <a:buSzPct val="100000"/>
              <a:buChar char="•"/>
            </a:pPr>
            <a:r>
              <a:rPr lang="en-US" sz="1100" dirty="0">
                <a:solidFill>
                  <a:srgbClr val="1D2A33"/>
                </a:solidFill>
                <a:latin typeface="Calibri" pitchFamily="34" charset="0"/>
                <a:ea typeface="Calibri" pitchFamily="34" charset="-122"/>
                <a:cs typeface="Calibri" pitchFamily="34" charset="-120"/>
              </a:rPr>
              <a:t>Versioned KPIs, rules and prompts</a:t>
            </a:r>
            <a:endParaRPr lang="en-US" sz="1100" dirty="0"/>
          </a:p>
        </p:txBody>
      </p:sp>
      <p:sp>
        <p:nvSpPr>
          <p:cNvPr id="47" name="Shape 45"/>
          <p:cNvSpPr/>
          <p:nvPr/>
        </p:nvSpPr>
        <p:spPr>
          <a:xfrm>
            <a:off x="2468880" y="3794760"/>
            <a:ext cx="2834640" cy="960120"/>
          </a:xfrm>
          <a:prstGeom prst="roundRect">
            <a:avLst>
              <a:gd name="adj" fmla="val 7619"/>
            </a:avLst>
          </a:prstGeom>
          <a:solidFill>
            <a:srgbClr val="FBEAE0"/>
          </a:solidFill>
          <a:ln/>
        </p:spPr>
      </p:sp>
      <p:sp>
        <p:nvSpPr>
          <p:cNvPr id="48" name="Text 46"/>
          <p:cNvSpPr txBox="1"/>
          <p:nvPr/>
        </p:nvSpPr>
        <p:spPr>
          <a:xfrm>
            <a:off x="2606040" y="3858768"/>
            <a:ext cx="2606040" cy="868680"/>
          </a:xfrm>
          <a:prstGeom prst="rect">
            <a:avLst/>
          </a:prstGeom>
          <a:noFill/>
          <a:ln/>
        </p:spPr>
        <p:txBody>
          <a:bodyPr wrap="square" lIns="0" tIns="0" rIns="0" bIns="0" rtlCol="0" anchor="t"/>
          <a:lstStyle/>
          <a:p>
            <a:pPr indent="0" marL="0">
              <a:buNone/>
            </a:pPr>
            <a:r>
              <a:rPr lang="en-US" sz="1100" b="1" dirty="0">
                <a:solidFill>
                  <a:srgbClr val="A84A14"/>
                </a:solidFill>
                <a:latin typeface="Calibri" pitchFamily="34" charset="0"/>
                <a:ea typeface="Calibri" pitchFamily="34" charset="-122"/>
                <a:cs typeface="Calibri" pitchFamily="34" charset="-120"/>
              </a:rPr>
              <a:t>Prototype lesson: </a:t>
            </a:r>
            <a:pPr indent="0" marL="0">
              <a:buNone/>
            </a:pPr>
            <a:r>
              <a:rPr lang="en-US" sz="1100" dirty="0">
                <a:solidFill>
                  <a:srgbClr val="1D2A33"/>
                </a:solidFill>
                <a:latin typeface="Calibri" pitchFamily="34" charset="0"/>
                <a:ea typeface="Calibri" pitchFamily="34" charset="-122"/>
                <a:cs typeface="Calibri" pitchFamily="34" charset="-120"/>
              </a:rPr>
              <a:t>compute windows, peers and flags once upstream; the report only aggregates, so one rule set also works under RLS.</a:t>
            </a:r>
            <a:endParaRPr lang="en-US" sz="1100" dirty="0"/>
          </a:p>
        </p:txBody>
      </p:sp>
      <p:sp>
        <p:nvSpPr>
          <p:cNvPr id="49" name="Text 47"/>
          <p:cNvSpPr txBox="1"/>
          <p:nvPr/>
        </p:nvSpPr>
        <p:spPr>
          <a:xfrm>
            <a:off x="457200" y="6419088"/>
            <a:ext cx="11247120" cy="292608"/>
          </a:xfrm>
          <a:prstGeom prst="rect">
            <a:avLst/>
          </a:prstGeom>
          <a:noFill/>
          <a:ln/>
        </p:spPr>
        <p:txBody>
          <a:bodyPr wrap="square" lIns="0" tIns="0" rIns="0" bIns="0" rtlCol="0" anchor="t"/>
          <a:lstStyle/>
          <a:p>
            <a:pPr indent="0" marL="0">
              <a:buNone/>
            </a:pPr>
            <a:r>
              <a:rPr lang="en-US" sz="900" dirty="0">
                <a:solidFill>
                  <a:srgbClr val="56656F"/>
                </a:solidFill>
                <a:latin typeface="Calibri" pitchFamily="34" charset="0"/>
                <a:ea typeface="Calibri" pitchFamily="34" charset="-122"/>
                <a:cs typeface="Calibri" pitchFamily="34" charset="-120"/>
              </a:rPr>
              <a:t>No Specsavers platforms or schemas are asserted; postings reference PMS/EMR, POS, ERP, Power BI, SQL and Databricks as categories (EV-09). Model detail: Appendix A6.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DEMONSTRATION ON SYNTHETIC DATA</a:t>
            </a:r>
            <a:endParaRPr lang="en-US" sz="1100" dirty="0"/>
          </a:p>
        </p:txBody>
      </p:sp>
      <p:sp>
        <p:nvSpPr>
          <p:cNvPr id="3" name="Text 1"/>
          <p:cNvSpPr txBox="1"/>
          <p:nvPr/>
        </p:nvSpPr>
        <p:spPr>
          <a:xfrm>
            <a:off x="457200" y="548640"/>
            <a:ext cx="11247120" cy="640080"/>
          </a:xfrm>
          <a:prstGeom prst="rect">
            <a:avLst/>
          </a:prstGeom>
          <a:noFill/>
          <a:ln/>
        </p:spPr>
        <p:txBody>
          <a:bodyPr wrap="square" lIns="0" tIns="0" rIns="0" bIns="0" rtlCol="0" anchor="t"/>
          <a:lstStyle/>
          <a:p>
            <a:pPr indent="0" marL="0">
              <a:buNone/>
            </a:pPr>
            <a:r>
              <a:rPr lang="en-US" sz="2800" b="1" dirty="0">
                <a:solidFill>
                  <a:srgbClr val="1D2A33"/>
                </a:solidFill>
                <a:latin typeface="Cambria" pitchFamily="34" charset="0"/>
                <a:ea typeface="Cambria" pitchFamily="34" charset="-122"/>
                <a:cs typeface="Cambria" pitchFamily="34" charset="-120"/>
              </a:rPr>
              <a:t>What a regional manager would see this week</a:t>
            </a:r>
            <a:endParaRPr lang="en-US" sz="2800" dirty="0"/>
          </a:p>
        </p:txBody>
      </p:sp>
      <p:sp>
        <p:nvSpPr>
          <p:cNvPr id="4" name="Text 2"/>
          <p:cNvSpPr txBox="1"/>
          <p:nvPr/>
        </p:nvSpPr>
        <p:spPr>
          <a:xfrm>
            <a:off x="11247120" y="292608"/>
            <a:ext cx="502920" cy="256032"/>
          </a:xfrm>
          <a:prstGeom prst="rect">
            <a:avLst/>
          </a:prstGeom>
          <a:noFill/>
          <a:ln/>
        </p:spPr>
        <p:txBody>
          <a:bodyPr wrap="square" lIns="0" tIns="0" rIns="0" bIns="0" rtlCol="0" anchor="t"/>
          <a:lstStyle/>
          <a:p>
            <a:pPr algn="r" indent="0" marL="0">
              <a:buNone/>
            </a:pPr>
            <a:r>
              <a:rPr lang="en-US" sz="1100" dirty="0">
                <a:solidFill>
                  <a:srgbClr val="56656F"/>
                </a:solidFill>
                <a:latin typeface="Calibri" pitchFamily="34" charset="0"/>
                <a:ea typeface="Calibri" pitchFamily="34" charset="-122"/>
                <a:cs typeface="Calibri" pitchFamily="34" charset="-120"/>
              </a:rPr>
              <a:t>7</a:t>
            </a:r>
            <a:endParaRPr lang="en-US" sz="1100" dirty="0"/>
          </a:p>
        </p:txBody>
      </p:sp>
      <p:sp>
        <p:nvSpPr>
          <p:cNvPr id="5" name="Text 3"/>
          <p:cNvSpPr txBox="1"/>
          <p:nvPr/>
        </p:nvSpPr>
        <p:spPr>
          <a:xfrm>
            <a:off x="9052560" y="329184"/>
            <a:ext cx="949147" cy="228600"/>
          </a:xfrm>
          <a:prstGeom prst="roundRect">
            <a:avLst>
              <a:gd name="adj" fmla="val 40000"/>
            </a:avLst>
          </a:prstGeom>
          <a:solidFill>
            <a:srgbClr val="A84A14"/>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SYNTHETIC</a:t>
            </a:r>
            <a:endParaRPr lang="en-US" sz="900" dirty="0"/>
          </a:p>
        </p:txBody>
      </p:sp>
      <p:sp>
        <p:nvSpPr>
          <p:cNvPr id="6" name="Text 4"/>
          <p:cNvSpPr txBox="1"/>
          <p:nvPr/>
        </p:nvSpPr>
        <p:spPr>
          <a:xfrm>
            <a:off x="457200" y="1261872"/>
            <a:ext cx="7223760" cy="256032"/>
          </a:xfrm>
          <a:prstGeom prst="rect">
            <a:avLst/>
          </a:prstGeom>
          <a:noFill/>
          <a:ln/>
        </p:spPr>
        <p:txBody>
          <a:bodyPr wrap="square" lIns="0" tIns="0" rIns="0" bIns="0" rtlCol="0" anchor="t"/>
          <a:lstStyle/>
          <a:p>
            <a:pPr indent="0" marL="0">
              <a:buNone/>
            </a:pPr>
            <a:r>
              <a:rPr lang="en-US" sz="1200" b="1" dirty="0">
                <a:solidFill>
                  <a:srgbClr val="0B5D57"/>
                </a:solidFill>
                <a:latin typeface="Calibri" pitchFamily="34" charset="0"/>
                <a:ea typeface="Calibri" pitchFamily="34" charset="-122"/>
                <a:cs typeface="Calibri" pitchFamily="34" charset="-120"/>
              </a:rPr>
              <a:t>Regional Overview · Atlantic (simulated role view) · week of 17 Aug 2026</a:t>
            </a:r>
            <a:endParaRPr lang="en-US" sz="1200" dirty="0"/>
          </a:p>
        </p:txBody>
      </p:sp>
      <p:sp>
        <p:nvSpPr>
          <p:cNvPr id="7" name="Shape 5"/>
          <p:cNvSpPr/>
          <p:nvPr/>
        </p:nvSpPr>
        <p:spPr>
          <a:xfrm>
            <a:off x="438912" y="1554480"/>
            <a:ext cx="7260336" cy="1632794"/>
          </a:xfrm>
          <a:prstGeom prst="rect">
            <a:avLst/>
          </a:prstGeom>
          <a:solidFill>
            <a:srgbClr val="FFFFFF"/>
          </a:solidFill>
          <a:ln w="9525">
            <a:solidFill>
              <a:srgbClr val="D9E1E6"/>
            </a:solidFill>
            <a:prstDash val="solid"/>
          </a:ln>
        </p:spPr>
      </p:sp>
      <p:pic>
        <p:nvPicPr>
          <p:cNvPr id="8" name="Image 0" descr="Screenshot of the synthetic-data prototype: deck rrm cards">    </p:cNvPr>
          <p:cNvPicPr>
            <a:picLocks noChangeAspect="1"/>
          </p:cNvPicPr>
          <p:nvPr/>
        </p:nvPicPr>
        <p:blipFill>
          <a:blip r:embed="rId1"/>
          <a:stretch>
            <a:fillRect/>
          </a:stretch>
        </p:blipFill>
        <p:spPr>
          <a:xfrm>
            <a:off x="457200" y="1572768"/>
            <a:ext cx="7223760" cy="1596218"/>
          </a:xfrm>
          <a:prstGeom prst="rect">
            <a:avLst/>
          </a:prstGeom>
        </p:spPr>
      </p:pic>
      <p:sp>
        <p:nvSpPr>
          <p:cNvPr id="9" name="Text 6"/>
          <p:cNvSpPr txBox="1"/>
          <p:nvPr/>
        </p:nvSpPr>
        <p:spPr>
          <a:xfrm>
            <a:off x="457200" y="3425018"/>
            <a:ext cx="3840480" cy="256032"/>
          </a:xfrm>
          <a:prstGeom prst="rect">
            <a:avLst/>
          </a:prstGeom>
          <a:noFill/>
          <a:ln/>
        </p:spPr>
        <p:txBody>
          <a:bodyPr wrap="square" lIns="0" tIns="0" rIns="0" bIns="0" rtlCol="0" anchor="t"/>
          <a:lstStyle/>
          <a:p>
            <a:pPr indent="0" marL="0">
              <a:buNone/>
            </a:pPr>
            <a:r>
              <a:rPr lang="en-US" sz="1200" b="1" dirty="0">
                <a:solidFill>
                  <a:srgbClr val="0B5D57"/>
                </a:solidFill>
                <a:latin typeface="Calibri" pitchFamily="34" charset="0"/>
                <a:ea typeface="Calibri" pitchFamily="34" charset="-122"/>
                <a:cs typeface="Calibri" pitchFamily="34" charset="-120"/>
              </a:rPr>
              <a:t>Funnel · SYN-014 · 4 weeks ending 17 Aug 2026</a:t>
            </a:r>
            <a:endParaRPr lang="en-US" sz="1200" dirty="0"/>
          </a:p>
        </p:txBody>
      </p:sp>
      <p:sp>
        <p:nvSpPr>
          <p:cNvPr id="10" name="Shape 7"/>
          <p:cNvSpPr/>
          <p:nvPr/>
        </p:nvSpPr>
        <p:spPr>
          <a:xfrm>
            <a:off x="438912" y="3699338"/>
            <a:ext cx="3092854" cy="2610022"/>
          </a:xfrm>
          <a:prstGeom prst="rect">
            <a:avLst/>
          </a:prstGeom>
          <a:solidFill>
            <a:srgbClr val="FFFFFF"/>
          </a:solidFill>
          <a:ln w="9525">
            <a:solidFill>
              <a:srgbClr val="D9E1E6"/>
            </a:solidFill>
            <a:prstDash val="solid"/>
          </a:ln>
        </p:spPr>
      </p:sp>
      <p:pic>
        <p:nvPicPr>
          <p:cNvPr id="11" name="Image 1" descr="Screenshot of the synthetic-data prototype: deck p3 funnel card">    </p:cNvPr>
          <p:cNvPicPr>
            <a:picLocks noChangeAspect="1"/>
          </p:cNvPicPr>
          <p:nvPr/>
        </p:nvPicPr>
        <p:blipFill>
          <a:blip r:embed="rId2"/>
          <a:stretch>
            <a:fillRect/>
          </a:stretch>
        </p:blipFill>
        <p:spPr>
          <a:xfrm>
            <a:off x="457200" y="3717626"/>
            <a:ext cx="3056278" cy="2573446"/>
          </a:xfrm>
          <a:prstGeom prst="rect">
            <a:avLst/>
          </a:prstGeom>
        </p:spPr>
      </p:pic>
      <p:sp>
        <p:nvSpPr>
          <p:cNvPr id="12" name="Text 8"/>
          <p:cNvSpPr txBox="1"/>
          <p:nvPr/>
        </p:nvSpPr>
        <p:spPr>
          <a:xfrm>
            <a:off x="3787798" y="3425018"/>
            <a:ext cx="3893162" cy="256032"/>
          </a:xfrm>
          <a:prstGeom prst="rect">
            <a:avLst/>
          </a:prstGeom>
          <a:noFill/>
          <a:ln/>
        </p:spPr>
        <p:txBody>
          <a:bodyPr wrap="square" lIns="0" tIns="0" rIns="0" bIns="0" rtlCol="0" anchor="t"/>
          <a:lstStyle/>
          <a:p>
            <a:pPr indent="0" marL="0">
              <a:buNone/>
            </a:pPr>
            <a:r>
              <a:rPr lang="en-US" sz="1200" b="1" dirty="0">
                <a:solidFill>
                  <a:srgbClr val="0B5D57"/>
                </a:solidFill>
                <a:latin typeface="Calibri" pitchFamily="34" charset="0"/>
                <a:ea typeface="Calibri" pitchFamily="34" charset="-122"/>
                <a:cs typeface="Calibri" pitchFamily="34" charset="-120"/>
              </a:rPr>
              <a:t>Rule (b) explanation · SYN-005 · week of 25 May 2026</a:t>
            </a:r>
            <a:endParaRPr lang="en-US" sz="1200" dirty="0"/>
          </a:p>
        </p:txBody>
      </p:sp>
      <p:sp>
        <p:nvSpPr>
          <p:cNvPr id="13" name="Shape 9"/>
          <p:cNvSpPr/>
          <p:nvPr/>
        </p:nvSpPr>
        <p:spPr>
          <a:xfrm>
            <a:off x="3769510" y="3699338"/>
            <a:ext cx="3929738" cy="1976536"/>
          </a:xfrm>
          <a:prstGeom prst="rect">
            <a:avLst/>
          </a:prstGeom>
          <a:solidFill>
            <a:srgbClr val="FFFFFF"/>
          </a:solidFill>
          <a:ln w="9525">
            <a:solidFill>
              <a:srgbClr val="D9E1E6"/>
            </a:solidFill>
            <a:prstDash val="solid"/>
          </a:ln>
        </p:spPr>
      </p:sp>
      <p:pic>
        <p:nvPicPr>
          <p:cNvPr id="14" name="Image 2" descr="Screenshot of the synthetic-data prototype: deck p3 rule b">    </p:cNvPr>
          <p:cNvPicPr>
            <a:picLocks noChangeAspect="1"/>
          </p:cNvPicPr>
          <p:nvPr/>
        </p:nvPicPr>
        <p:blipFill>
          <a:blip r:embed="rId3"/>
          <a:stretch>
            <a:fillRect/>
          </a:stretch>
        </p:blipFill>
        <p:spPr>
          <a:xfrm>
            <a:off x="3787798" y="3717626"/>
            <a:ext cx="3893162" cy="1939960"/>
          </a:xfrm>
          <a:prstGeom prst="rect">
            <a:avLst/>
          </a:prstGeom>
        </p:spPr>
      </p:pic>
      <p:sp>
        <p:nvSpPr>
          <p:cNvPr id="15" name="Shape 10"/>
          <p:cNvSpPr/>
          <p:nvPr/>
        </p:nvSpPr>
        <p:spPr>
          <a:xfrm>
            <a:off x="7955280" y="1261872"/>
            <a:ext cx="3776472" cy="5029200"/>
          </a:xfrm>
          <a:prstGeom prst="roundRect">
            <a:avLst>
              <a:gd name="adj" fmla="val 1937"/>
            </a:avLst>
          </a:prstGeom>
          <a:solidFill>
            <a:srgbClr val="F4F7F8"/>
          </a:solidFill>
          <a:ln/>
        </p:spPr>
      </p:sp>
      <p:sp>
        <p:nvSpPr>
          <p:cNvPr id="16" name="Text 11"/>
          <p:cNvSpPr txBox="1"/>
          <p:nvPr/>
        </p:nvSpPr>
        <p:spPr>
          <a:xfrm>
            <a:off x="8138160" y="1353312"/>
            <a:ext cx="3383280" cy="320040"/>
          </a:xfrm>
          <a:prstGeom prst="rect">
            <a:avLst/>
          </a:prstGeom>
          <a:noFill/>
          <a:ln/>
        </p:spPr>
        <p:txBody>
          <a:bodyPr wrap="square" lIns="0" tIns="0" rIns="0" bIns="0" rtlCol="0" anchor="t"/>
          <a:lstStyle/>
          <a:p>
            <a:pPr indent="0" marL="0">
              <a:buNone/>
            </a:pPr>
            <a:r>
              <a:rPr lang="en-US" sz="1600" b="1" dirty="0">
                <a:solidFill>
                  <a:srgbClr val="1D2A33"/>
                </a:solidFill>
                <a:latin typeface="Cambria" pitchFamily="34" charset="0"/>
                <a:ea typeface="Cambria" pitchFamily="34" charset="-122"/>
                <a:cs typeface="Cambria" pitchFamily="34" charset="-120"/>
              </a:rPr>
              <a:t>Walkthrough</a:t>
            </a:r>
            <a:endParaRPr lang="en-US" sz="1600" dirty="0"/>
          </a:p>
        </p:txBody>
      </p:sp>
      <p:sp>
        <p:nvSpPr>
          <p:cNvPr id="17" name="Text 12"/>
          <p:cNvSpPr txBox="1"/>
          <p:nvPr/>
        </p:nvSpPr>
        <p:spPr>
          <a:xfrm>
            <a:off x="8138160" y="1783080"/>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3"/>
          <p:cNvSpPr txBox="1"/>
          <p:nvPr/>
        </p:nvSpPr>
        <p:spPr>
          <a:xfrm>
            <a:off x="8613648" y="1746504"/>
            <a:ext cx="3017520" cy="868680"/>
          </a:xfrm>
          <a:prstGeom prst="rect">
            <a:avLst/>
          </a:prstGeom>
          <a:noFill/>
          <a:ln/>
        </p:spPr>
        <p:txBody>
          <a:bodyPr wrap="square" lIns="0" tIns="0" rIns="0" bIns="0" rtlCol="0" anchor="t"/>
          <a:lstStyle/>
          <a:p>
            <a:pPr indent="0" marL="0">
              <a:buNone/>
            </a:pPr>
            <a:r>
              <a:rPr lang="en-US" sz="1100" b="1" dirty="0">
                <a:solidFill>
                  <a:srgbClr val="1D2A33"/>
                </a:solidFill>
                <a:latin typeface="Calibri" pitchFamily="34" charset="0"/>
                <a:ea typeface="Calibri" pitchFamily="34" charset="-122"/>
                <a:cs typeface="Calibri" pitchFamily="34" charset="-120"/>
              </a:rPr>
              <a:t>Scope first</a:t>
            </a:r>
            <a:endParaRPr lang="en-US" sz="1100" dirty="0"/>
          </a:p>
          <a:p>
            <a:pPr indent="0" marL="0">
              <a:buNone/>
            </a:pPr>
            <a:r>
              <a:rPr lang="en-US" sz="1100" dirty="0">
                <a:solidFill>
                  <a:srgbClr val="1D2A33"/>
                </a:solidFill>
                <a:latin typeface="Calibri" pitchFamily="34" charset="0"/>
                <a:ea typeface="Calibri" pitchFamily="34" charset="-122"/>
                <a:cs typeface="Calibri" pitchFamily="34" charset="-120"/>
              </a:rPr>
              <a:t>The Atlantic manager sees 6 stores and 545 exams; the banner shows 0 Amber because both Amber stores are elsewhere.</a:t>
            </a:r>
            <a:endParaRPr lang="en-US" sz="1100" dirty="0"/>
          </a:p>
        </p:txBody>
      </p:sp>
      <p:sp>
        <p:nvSpPr>
          <p:cNvPr id="19" name="Text 14"/>
          <p:cNvSpPr txBox="1"/>
          <p:nvPr/>
        </p:nvSpPr>
        <p:spPr>
          <a:xfrm>
            <a:off x="8138160" y="2679192"/>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5"/>
          <p:cNvSpPr txBox="1"/>
          <p:nvPr/>
        </p:nvSpPr>
        <p:spPr>
          <a:xfrm>
            <a:off x="8613648" y="2642616"/>
            <a:ext cx="3017520" cy="868680"/>
          </a:xfrm>
          <a:prstGeom prst="rect">
            <a:avLst/>
          </a:prstGeom>
          <a:noFill/>
          <a:ln/>
        </p:spPr>
        <p:txBody>
          <a:bodyPr wrap="square" lIns="0" tIns="0" rIns="0" bIns="0" rtlCol="0" anchor="t"/>
          <a:lstStyle/>
          <a:p>
            <a:pPr indent="0" marL="0">
              <a:buNone/>
            </a:pPr>
            <a:r>
              <a:rPr lang="en-US" sz="1100" b="1" dirty="0">
                <a:solidFill>
                  <a:srgbClr val="1D2A33"/>
                </a:solidFill>
                <a:latin typeface="Calibri" pitchFamily="34" charset="0"/>
                <a:ea typeface="Calibri" pitchFamily="34" charset="-122"/>
                <a:cs typeface="Calibri" pitchFamily="34" charset="-120"/>
              </a:rPr>
              <a:t>One shared pattern</a:t>
            </a:r>
            <a:endParaRPr lang="en-US" sz="1100" dirty="0"/>
          </a:p>
          <a:p>
            <a:pPr indent="0" marL="0">
              <a:buNone/>
            </a:pPr>
            <a:r>
              <a:rPr lang="en-US" sz="1100" dirty="0">
                <a:solidFill>
                  <a:srgbClr val="1D2A33"/>
                </a:solidFill>
                <a:latin typeface="Calibri" pitchFamily="34" charset="0"/>
                <a:ea typeface="Calibri" pitchFamily="34" charset="-122"/>
                <a:cs typeface="Calibri" pitchFamily="34" charset="-120"/>
              </a:rPr>
              <a:t>SYN-025 to SYN-028 are flagged on on-time and turnaround. Atlantic turnaround 8.9 days vs 6.0–6.1 elsewhere (last 4 weeks) → one Supply Chain conversation.</a:t>
            </a:r>
            <a:endParaRPr lang="en-US" sz="1100" dirty="0"/>
          </a:p>
        </p:txBody>
      </p:sp>
      <p:sp>
        <p:nvSpPr>
          <p:cNvPr id="21" name="Text 16"/>
          <p:cNvSpPr txBox="1"/>
          <p:nvPr/>
        </p:nvSpPr>
        <p:spPr>
          <a:xfrm>
            <a:off x="8138160" y="3575304"/>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7"/>
          <p:cNvSpPr txBox="1"/>
          <p:nvPr/>
        </p:nvSpPr>
        <p:spPr>
          <a:xfrm>
            <a:off x="8613648" y="3538728"/>
            <a:ext cx="3017520" cy="868680"/>
          </a:xfrm>
          <a:prstGeom prst="rect">
            <a:avLst/>
          </a:prstGeom>
          <a:noFill/>
          <a:ln/>
        </p:spPr>
        <p:txBody>
          <a:bodyPr wrap="square" lIns="0" tIns="0" rIns="0" bIns="0" rtlCol="0" anchor="t"/>
          <a:lstStyle/>
          <a:p>
            <a:pPr indent="0" marL="0">
              <a:buNone/>
            </a:pPr>
            <a:r>
              <a:rPr lang="en-US" sz="1100" b="1" dirty="0">
                <a:solidFill>
                  <a:srgbClr val="1D2A33"/>
                </a:solidFill>
                <a:latin typeface="Calibri" pitchFamily="34" charset="0"/>
                <a:ea typeface="Calibri" pitchFamily="34" charset="-122"/>
                <a:cs typeface="Calibri" pitchFamily="34" charset="-120"/>
              </a:rPr>
              <a:t>Fair for young stores</a:t>
            </a:r>
            <a:endParaRPr lang="en-US" sz="1100" dirty="0"/>
          </a:p>
          <a:p>
            <a:pPr indent="0" marL="0">
              <a:buNone/>
            </a:pPr>
            <a:r>
              <a:rPr lang="en-US" sz="1100" dirty="0">
                <a:solidFill>
                  <a:srgbClr val="1D2A33"/>
                </a:solidFill>
                <a:latin typeface="Calibri" pitchFamily="34" charset="0"/>
                <a:ea typeface="Calibri" pitchFamily="34" charset="-122"/>
                <a:cs typeface="Calibri" pitchFamily="34" charset="-120"/>
              </a:rPr>
              <a:t>SYN-014 has ramp index 102 against 7 same-age peers: on track despite low volume.</a:t>
            </a:r>
            <a:endParaRPr lang="en-US" sz="1100" dirty="0"/>
          </a:p>
        </p:txBody>
      </p:sp>
      <p:sp>
        <p:nvSpPr>
          <p:cNvPr id="23" name="Text 18"/>
          <p:cNvSpPr txBox="1"/>
          <p:nvPr/>
        </p:nvSpPr>
        <p:spPr>
          <a:xfrm>
            <a:off x="8138160" y="4471416"/>
            <a:ext cx="365760" cy="365760"/>
          </a:xfrm>
          <a:prstGeom prst="ellipse">
            <a:avLst/>
          </a:prstGeom>
          <a:solidFill>
            <a:srgbClr val="B3261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19"/>
          <p:cNvSpPr txBox="1"/>
          <p:nvPr/>
        </p:nvSpPr>
        <p:spPr>
          <a:xfrm>
            <a:off x="8613648" y="4434840"/>
            <a:ext cx="3017520" cy="868680"/>
          </a:xfrm>
          <a:prstGeom prst="rect">
            <a:avLst/>
          </a:prstGeom>
          <a:noFill/>
          <a:ln/>
        </p:spPr>
        <p:txBody>
          <a:bodyPr wrap="square" lIns="0" tIns="0" rIns="0" bIns="0" rtlCol="0" anchor="t"/>
          <a:lstStyle/>
          <a:p>
            <a:pPr indent="0" marL="0">
              <a:buNone/>
            </a:pPr>
            <a:r>
              <a:rPr lang="en-US" sz="1100" b="1" dirty="0">
                <a:solidFill>
                  <a:srgbClr val="1D2A33"/>
                </a:solidFill>
                <a:latin typeface="Calibri" pitchFamily="34" charset="0"/>
                <a:ea typeface="Calibri" pitchFamily="34" charset="-122"/>
                <a:cs typeface="Calibri" pitchFamily="34" charset="-120"/>
              </a:rPr>
              <a:t>Trust gate</a:t>
            </a:r>
            <a:endParaRPr lang="en-US" sz="1100" dirty="0"/>
          </a:p>
          <a:p>
            <a:pPr indent="0" marL="0">
              <a:buNone/>
            </a:pPr>
            <a:r>
              <a:rPr lang="en-US" sz="1100" dirty="0">
                <a:solidFill>
                  <a:srgbClr val="1D2A33"/>
                </a:solidFill>
                <a:latin typeface="Calibri" pitchFamily="34" charset="0"/>
                <a:ea typeface="Calibri" pitchFamily="34" charset="-122"/>
                <a:cs typeface="Calibri" pitchFamily="34" charset="-120"/>
              </a:rPr>
              <a:t>SYN-022's Red week (25 May 2026) shows no values and no flags, only a data-quality prompt.</a:t>
            </a:r>
            <a:endParaRPr lang="en-US" sz="1100" dirty="0"/>
          </a:p>
        </p:txBody>
      </p:sp>
      <p:sp>
        <p:nvSpPr>
          <p:cNvPr id="25" name="Text 20"/>
          <p:cNvSpPr txBox="1"/>
          <p:nvPr/>
        </p:nvSpPr>
        <p:spPr>
          <a:xfrm>
            <a:off x="8138160" y="5367528"/>
            <a:ext cx="365760" cy="365760"/>
          </a:xfrm>
          <a:prstGeom prst="ellipse">
            <a:avLst/>
          </a:prstGeom>
          <a:solidFill>
            <a:srgbClr val="0B5D5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1"/>
          <p:cNvSpPr txBox="1"/>
          <p:nvPr/>
        </p:nvSpPr>
        <p:spPr>
          <a:xfrm>
            <a:off x="8613648" y="5330952"/>
            <a:ext cx="3017520" cy="868680"/>
          </a:xfrm>
          <a:prstGeom prst="rect">
            <a:avLst/>
          </a:prstGeom>
          <a:noFill/>
          <a:ln/>
        </p:spPr>
        <p:txBody>
          <a:bodyPr wrap="square" lIns="0" tIns="0" rIns="0" bIns="0" rtlCol="0" anchor="t"/>
          <a:lstStyle/>
          <a:p>
            <a:pPr indent="0" marL="0">
              <a:buNone/>
            </a:pPr>
            <a:r>
              <a:rPr lang="en-US" sz="1100" b="1" dirty="0">
                <a:solidFill>
                  <a:srgbClr val="1D2A33"/>
                </a:solidFill>
                <a:latin typeface="Calibri" pitchFamily="34" charset="0"/>
                <a:ea typeface="Calibri" pitchFamily="34" charset="-122"/>
                <a:cs typeface="Calibri" pitchFamily="34" charset="-120"/>
              </a:rPr>
              <a:t>Own-trend rule</a:t>
            </a:r>
            <a:endParaRPr lang="en-US" sz="1100" dirty="0"/>
          </a:p>
          <a:p>
            <a:pPr indent="0" marL="0">
              <a:buNone/>
            </a:pPr>
            <a:r>
              <a:rPr lang="en-US" sz="1100" dirty="0">
                <a:solidFill>
                  <a:srgbClr val="1D2A33"/>
                </a:solidFill>
                <a:latin typeface="Calibri" pitchFamily="34" charset="0"/>
                <a:ea typeface="Calibri" pitchFamily="34" charset="-122"/>
                <a:cs typeface="Calibri" pitchFamily="34" charset="-120"/>
              </a:rPr>
              <a:t>SYN-005's conversion is 15%+ below its own baseline (11 May – 8 Jun 2026) — an area to investigate, not a cause.</a:t>
            </a:r>
            <a:endParaRPr lang="en-US" sz="1100" dirty="0"/>
          </a:p>
        </p:txBody>
      </p:sp>
      <p:sp>
        <p:nvSpPr>
          <p:cNvPr id="27" name="Text 22"/>
          <p:cNvSpPr txBox="1"/>
          <p:nvPr/>
        </p:nvSpPr>
        <p:spPr>
          <a:xfrm>
            <a:off x="457200" y="6419088"/>
            <a:ext cx="11247120" cy="292608"/>
          </a:xfrm>
          <a:prstGeom prst="rect">
            <a:avLst/>
          </a:prstGeom>
          <a:noFill/>
          <a:ln/>
        </p:spPr>
        <p:txBody>
          <a:bodyPr wrap="square" lIns="0" tIns="0" rIns="0" bIns="0" rtlCol="0" anchor="t"/>
          <a:lstStyle/>
          <a:p>
            <a:pPr indent="0" marL="0">
              <a:buNone/>
            </a:pPr>
            <a:r>
              <a:rPr lang="en-US" sz="900" dirty="0">
                <a:solidFill>
                  <a:srgbClr val="56656F"/>
                </a:solidFill>
                <a:latin typeface="Calibri" pitchFamily="34" charset="0"/>
                <a:ea typeface="Calibri" pitchFamily="34" charset="-122"/>
                <a:cs typeface="Calibri" pitchFamily="34" charset="-120"/>
              </a:rPr>
              <a:t>SYNTHETIC DATA: 30 fictional stores × 26 weeks; unrelated to Specsavers results. Screens from dashboard-mockup.html. Roles are simulated, not secured. Periods as labelled.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MVP PLAN, UAT AND WHAT WAS ACTUALLY TESTED</a:t>
            </a:r>
            <a:endParaRPr lang="en-US" sz="1100" dirty="0"/>
          </a:p>
        </p:txBody>
      </p:sp>
      <p:sp>
        <p:nvSpPr>
          <p:cNvPr id="3" name="Text 1"/>
          <p:cNvSpPr txBox="1"/>
          <p:nvPr/>
        </p:nvSpPr>
        <p:spPr>
          <a:xfrm>
            <a:off x="457200" y="548640"/>
            <a:ext cx="11247120" cy="640080"/>
          </a:xfrm>
          <a:prstGeom prst="rect">
            <a:avLst/>
          </a:prstGeom>
          <a:noFill/>
          <a:ln/>
        </p:spPr>
        <p:txBody>
          <a:bodyPr wrap="square" lIns="0" tIns="0" rIns="0" bIns="0" rtlCol="0" anchor="t"/>
          <a:lstStyle/>
          <a:p>
            <a:pPr indent="0" marL="0">
              <a:buNone/>
            </a:pPr>
            <a:r>
              <a:rPr lang="en-US" sz="2800" b="1" dirty="0">
                <a:solidFill>
                  <a:srgbClr val="1D2A33"/>
                </a:solidFill>
                <a:latin typeface="Cambria" pitchFamily="34" charset="0"/>
                <a:ea typeface="Cambria" pitchFamily="34" charset="-122"/>
                <a:cs typeface="Cambria" pitchFamily="34" charset="-120"/>
              </a:rPr>
              <a:t>A three-page pilot, and a prototype tested before any user sees it</a:t>
            </a:r>
            <a:endParaRPr lang="en-US" sz="2800" dirty="0"/>
          </a:p>
        </p:txBody>
      </p:sp>
      <p:sp>
        <p:nvSpPr>
          <p:cNvPr id="4" name="Text 2"/>
          <p:cNvSpPr txBox="1"/>
          <p:nvPr/>
        </p:nvSpPr>
        <p:spPr>
          <a:xfrm>
            <a:off x="11247120" y="292608"/>
            <a:ext cx="502920" cy="256032"/>
          </a:xfrm>
          <a:prstGeom prst="rect">
            <a:avLst/>
          </a:prstGeom>
          <a:noFill/>
          <a:ln/>
        </p:spPr>
        <p:txBody>
          <a:bodyPr wrap="square" lIns="0" tIns="0" rIns="0" bIns="0" rtlCol="0" anchor="t"/>
          <a:lstStyle/>
          <a:p>
            <a:pPr algn="r" indent="0" marL="0">
              <a:buNone/>
            </a:pPr>
            <a:r>
              <a:rPr lang="en-US" sz="1100" dirty="0">
                <a:solidFill>
                  <a:srgbClr val="56656F"/>
                </a:solidFill>
                <a:latin typeface="Calibri" pitchFamily="34" charset="0"/>
                <a:ea typeface="Calibri" pitchFamily="34" charset="-122"/>
                <a:cs typeface="Calibri" pitchFamily="34" charset="-120"/>
              </a:rPr>
              <a:t>8</a:t>
            </a:r>
            <a:endParaRPr lang="en-US" sz="1100" dirty="0"/>
          </a:p>
        </p:txBody>
      </p:sp>
      <p:sp>
        <p:nvSpPr>
          <p:cNvPr id="5" name="Shape 3"/>
          <p:cNvSpPr/>
          <p:nvPr/>
        </p:nvSpPr>
        <p:spPr>
          <a:xfrm>
            <a:off x="457200" y="1371600"/>
            <a:ext cx="11274552" cy="868680"/>
          </a:xfrm>
          <a:prstGeom prst="roundRect">
            <a:avLst>
              <a:gd name="adj" fmla="val 8421"/>
            </a:avLst>
          </a:prstGeom>
          <a:solidFill>
            <a:srgbClr val="E3EFED"/>
          </a:solidFill>
          <a:ln/>
        </p:spPr>
      </p:sp>
      <p:sp>
        <p:nvSpPr>
          <p:cNvPr id="6" name="Text 4"/>
          <p:cNvSpPr txBox="1"/>
          <p:nvPr/>
        </p:nvSpPr>
        <p:spPr>
          <a:xfrm>
            <a:off x="640080" y="1444752"/>
            <a:ext cx="10927080" cy="749808"/>
          </a:xfrm>
          <a:prstGeom prst="rect">
            <a:avLst/>
          </a:prstGeom>
          <a:noFill/>
          <a:ln/>
        </p:spPr>
        <p:txBody>
          <a:bodyPr wrap="square" lIns="0" tIns="0" rIns="0" bIns="0" rtlCol="0" anchor="t"/>
          <a:lstStyle/>
          <a:p>
            <a:pPr indent="0" marL="0">
              <a:buNone/>
            </a:pPr>
            <a:r>
              <a:rPr lang="en-US" sz="1250" b="1" dirty="0">
                <a:solidFill>
                  <a:srgbClr val="0B5D57"/>
                </a:solidFill>
                <a:latin typeface="Calibri" pitchFamily="34" charset="0"/>
                <a:ea typeface="Calibri" pitchFamily="34" charset="-122"/>
                <a:cs typeface="Calibri" pitchFamily="34" charset="-120"/>
              </a:rPr>
              <a:t>MVP: </a:t>
            </a:r>
            <a:pPr indent="0" marL="0">
              <a:buNone/>
            </a:pPr>
            <a:r>
              <a:rPr lang="en-US" sz="1250" dirty="0">
                <a:solidFill>
                  <a:srgbClr val="1D2A33"/>
                </a:solidFill>
                <a:latin typeface="Calibri" pitchFamily="34" charset="0"/>
                <a:ea typeface="Calibri" pitchFamily="34" charset="-122"/>
                <a:cs typeface="Calibri" pitchFamily="34" charset="-120"/>
              </a:rPr>
              <a:t>three pages · store-week aggregates · 12 governed KPIs · like-for-like peers · non-causal prompts · visible data quality · role-based access. Pilot: 2–3 Regional Retail Managers and 12–16 opt-in stores in two regions. Excludes patient-level data, profitability, forecasting and PC Optimum analytics.</a:t>
            </a:r>
            <a:endParaRPr lang="en-US" sz="1250" dirty="0"/>
          </a:p>
        </p:txBody>
      </p:sp>
      <p:sp>
        <p:nvSpPr>
          <p:cNvPr id="7" name="Text 5"/>
          <p:cNvSpPr txBox="1"/>
          <p:nvPr/>
        </p:nvSpPr>
        <p:spPr>
          <a:xfrm>
            <a:off x="457200" y="2423160"/>
            <a:ext cx="5486400" cy="274320"/>
          </a:xfrm>
          <a:prstGeom prst="rect">
            <a:avLst/>
          </a:prstGeom>
          <a:noFill/>
          <a:ln/>
        </p:spPr>
        <p:txBody>
          <a:bodyPr wrap="square" lIns="0" tIns="0" rIns="0" bIns="0" rtlCol="0" anchor="t"/>
          <a:lstStyle/>
          <a:p>
            <a:pPr indent="0" marL="0">
              <a:buNone/>
            </a:pPr>
            <a:r>
              <a:rPr lang="en-US" sz="1300" b="1" dirty="0">
                <a:solidFill>
                  <a:srgbClr val="1D2A33"/>
                </a:solidFill>
                <a:latin typeface="Cambria" pitchFamily="34" charset="0"/>
                <a:ea typeface="Cambria" pitchFamily="34" charset="-122"/>
                <a:cs typeface="Cambria" pitchFamily="34" charset="-120"/>
              </a:rPr>
              <a:t>Illustrative 12-week build-to-pilot plan</a:t>
            </a:r>
            <a:endParaRPr lang="en-US" sz="1300" dirty="0"/>
          </a:p>
        </p:txBody>
      </p:sp>
      <p:sp>
        <p:nvSpPr>
          <p:cNvPr id="8" name="Text 6"/>
          <p:cNvSpPr txBox="1"/>
          <p:nvPr/>
        </p:nvSpPr>
        <p:spPr>
          <a:xfrm>
            <a:off x="457200" y="2743200"/>
            <a:ext cx="429768" cy="502920"/>
          </a:xfrm>
          <a:prstGeom prst="rect">
            <a:avLst/>
          </a:prstGeom>
          <a:solidFill>
            <a:srgbClr val="6B7B85"/>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Sprint 0</a:t>
            </a:r>
            <a:endParaRPr lang="en-US" sz="900" dirty="0"/>
          </a:p>
        </p:txBody>
      </p:sp>
      <p:sp>
        <p:nvSpPr>
          <p:cNvPr id="9" name="Text 7"/>
          <p:cNvSpPr txBox="1"/>
          <p:nvPr/>
        </p:nvSpPr>
        <p:spPr>
          <a:xfrm>
            <a:off x="914400" y="2743200"/>
            <a:ext cx="2715768" cy="502920"/>
          </a:xfrm>
          <a:prstGeom prst="rect">
            <a:avLst/>
          </a:prstGeom>
          <a:solidFill>
            <a:srgbClr val="1F8A8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Sprints 1–3 build</a:t>
            </a:r>
            <a:endParaRPr lang="en-US" sz="1100" dirty="0"/>
          </a:p>
        </p:txBody>
      </p:sp>
      <p:sp>
        <p:nvSpPr>
          <p:cNvPr id="10" name="Text 8"/>
          <p:cNvSpPr txBox="1"/>
          <p:nvPr/>
        </p:nvSpPr>
        <p:spPr>
          <a:xfrm>
            <a:off x="3657600" y="2743200"/>
            <a:ext cx="429768" cy="502920"/>
          </a:xfrm>
          <a:prstGeom prst="rect">
            <a:avLst/>
          </a:prstGeom>
          <a:solidFill>
            <a:srgbClr val="A84A14"/>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UAT</a:t>
            </a:r>
            <a:endParaRPr lang="en-US" sz="900" dirty="0"/>
          </a:p>
        </p:txBody>
      </p:sp>
      <p:sp>
        <p:nvSpPr>
          <p:cNvPr id="11" name="Text 9"/>
          <p:cNvSpPr txBox="1"/>
          <p:nvPr/>
        </p:nvSpPr>
        <p:spPr>
          <a:xfrm>
            <a:off x="4114800" y="2743200"/>
            <a:ext cx="1801368" cy="502920"/>
          </a:xfrm>
          <a:prstGeom prst="rect">
            <a:avLst/>
          </a:prstGeom>
          <a:solidFill>
            <a:srgbClr val="0B5D57"/>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4-week pilot → evaluate</a:t>
            </a:r>
            <a:endParaRPr lang="en-US" sz="1100" dirty="0"/>
          </a:p>
        </p:txBody>
      </p:sp>
      <p:sp>
        <p:nvSpPr>
          <p:cNvPr id="12" name="Text 10"/>
          <p:cNvSpPr txBox="1"/>
          <p:nvPr/>
        </p:nvSpPr>
        <p:spPr>
          <a:xfrm>
            <a:off x="4343400" y="2450592"/>
            <a:ext cx="1174090" cy="228600"/>
          </a:xfrm>
          <a:prstGeom prst="roundRect">
            <a:avLst>
              <a:gd name="adj" fmla="val 40000"/>
            </a:avLst>
          </a:prstGeom>
          <a:solidFill>
            <a:srgbClr val="6B7B85"/>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ILLUSTRATIVE</a:t>
            </a:r>
            <a:endParaRPr lang="en-US" sz="900" dirty="0"/>
          </a:p>
        </p:txBody>
      </p:sp>
      <p:sp>
        <p:nvSpPr>
          <p:cNvPr id="13" name="Text 11"/>
          <p:cNvSpPr txBox="1"/>
          <p:nvPr/>
        </p:nvSpPr>
        <p:spPr>
          <a:xfrm>
            <a:off x="457200" y="3429000"/>
            <a:ext cx="5486400" cy="1188720"/>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D2A33"/>
                </a:solidFill>
                <a:latin typeface="Calibri" pitchFamily="34" charset="0"/>
                <a:ea typeface="Calibri" pitchFamily="34" charset="-122"/>
                <a:cs typeface="Calibri" pitchFamily="34" charset="-120"/>
              </a:rPr>
              <a:t>10 user stories with Given/When/Then and negative scenarios</a:t>
            </a:r>
            <a:endParaRPr lang="en-US" sz="1250" dirty="0"/>
          </a:p>
          <a:p>
            <a:pPr marL="152400" indent="-152400">
              <a:spcAft>
                <a:spcPts val="500"/>
              </a:spcAft>
              <a:buSzPct val="100000"/>
              <a:buChar char="•"/>
            </a:pPr>
            <a:r>
              <a:rPr lang="en-US" sz="1250" dirty="0">
                <a:solidFill>
                  <a:srgbClr val="1D2A33"/>
                </a:solidFill>
                <a:latin typeface="Calibri" pitchFamily="34" charset="0"/>
                <a:ea typeface="Calibri" pitchFamily="34" charset="-122"/>
                <a:cs typeface="Calibri" pitchFamily="34" charset="-120"/>
              </a:rPr>
              <a:t>24 UAT scenarios · 7 reconciliation · 10 access · 8 accessibility checks</a:t>
            </a:r>
            <a:endParaRPr lang="en-US" sz="1250" dirty="0"/>
          </a:p>
          <a:p>
            <a:pPr marL="152400" indent="-152400">
              <a:spcAft>
                <a:spcPts val="500"/>
              </a:spcAft>
              <a:buSzPct val="100000"/>
              <a:buChar char="•"/>
            </a:pPr>
            <a:r>
              <a:rPr lang="en-US" sz="1250" dirty="0">
                <a:solidFill>
                  <a:srgbClr val="1D2A33"/>
                </a:solidFill>
                <a:latin typeface="Calibri" pitchFamily="34" charset="0"/>
                <a:ea typeface="Calibri" pitchFamily="34" charset="-122"/>
                <a:cs typeface="Calibri" pitchFamily="34" charset="-120"/>
              </a:rPr>
              <a:t>Sign-off order: privacy → reconciliation → stories → business → release</a:t>
            </a:r>
            <a:endParaRPr lang="en-US" sz="1250" dirty="0"/>
          </a:p>
        </p:txBody>
      </p:sp>
      <p:sp>
        <p:nvSpPr>
          <p:cNvPr id="14" name="Shape 12"/>
          <p:cNvSpPr/>
          <p:nvPr/>
        </p:nvSpPr>
        <p:spPr>
          <a:xfrm>
            <a:off x="457200" y="4754880"/>
            <a:ext cx="5486400" cy="1554480"/>
          </a:xfrm>
          <a:prstGeom prst="roundRect">
            <a:avLst>
              <a:gd name="adj" fmla="val 4706"/>
            </a:avLst>
          </a:prstGeom>
          <a:solidFill>
            <a:srgbClr val="FBEAE0"/>
          </a:solidFill>
          <a:ln/>
        </p:spPr>
      </p:sp>
      <p:sp>
        <p:nvSpPr>
          <p:cNvPr id="15" name="Text 13"/>
          <p:cNvSpPr txBox="1"/>
          <p:nvPr/>
        </p:nvSpPr>
        <p:spPr>
          <a:xfrm>
            <a:off x="640080" y="4864608"/>
            <a:ext cx="1174090" cy="228600"/>
          </a:xfrm>
          <a:prstGeom prst="roundRect">
            <a:avLst>
              <a:gd name="adj" fmla="val 40000"/>
            </a:avLst>
          </a:prstGeom>
          <a:solidFill>
            <a:srgbClr val="B3261E"/>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NOT EXECUTED</a:t>
            </a:r>
            <a:endParaRPr lang="en-US" sz="900" dirty="0"/>
          </a:p>
        </p:txBody>
      </p:sp>
      <p:sp>
        <p:nvSpPr>
          <p:cNvPr id="16" name="Text 14"/>
          <p:cNvSpPr txBox="1"/>
          <p:nvPr/>
        </p:nvSpPr>
        <p:spPr>
          <a:xfrm>
            <a:off x="640080" y="5193792"/>
            <a:ext cx="5120640" cy="1051560"/>
          </a:xfrm>
          <a:prstGeom prst="rect">
            <a:avLst/>
          </a:prstGeom>
          <a:noFill/>
          <a:ln/>
        </p:spPr>
        <p:txBody>
          <a:bodyPr wrap="square" lIns="0" tIns="0" rIns="0" bIns="0" rtlCol="0" anchor="t"/>
          <a:lstStyle/>
          <a:p>
            <a:pPr indent="0" marL="0">
              <a:buNone/>
            </a:pPr>
            <a:r>
              <a:rPr lang="en-US" sz="1250" dirty="0">
                <a:solidFill>
                  <a:srgbClr val="1D2A33"/>
                </a:solidFill>
                <a:latin typeface="Calibri" pitchFamily="34" charset="0"/>
                <a:ea typeface="Calibri" pitchFamily="34" charset="-122"/>
                <a:cs typeface="Calibri" pitchFamily="34" charset="-120"/>
              </a:rPr>
              <a:t>UAT with business users, reconciliation to control totals, security testing, usability and accessibility audits have not happened. They are the plan for an internal team, not results.</a:t>
            </a:r>
            <a:endParaRPr lang="en-US" sz="1250" dirty="0"/>
          </a:p>
        </p:txBody>
      </p:sp>
      <p:sp>
        <p:nvSpPr>
          <p:cNvPr id="17" name="Shape 15"/>
          <p:cNvSpPr/>
          <p:nvPr/>
        </p:nvSpPr>
        <p:spPr>
          <a:xfrm>
            <a:off x="6263640" y="2423160"/>
            <a:ext cx="5468112" cy="3886200"/>
          </a:xfrm>
          <a:prstGeom prst="roundRect">
            <a:avLst>
              <a:gd name="adj" fmla="val 1882"/>
            </a:avLst>
          </a:prstGeom>
          <a:solidFill>
            <a:srgbClr val="F4F7F8"/>
          </a:solidFill>
          <a:ln/>
        </p:spPr>
      </p:sp>
      <p:sp>
        <p:nvSpPr>
          <p:cNvPr id="18" name="Text 16"/>
          <p:cNvSpPr txBox="1"/>
          <p:nvPr/>
        </p:nvSpPr>
        <p:spPr>
          <a:xfrm>
            <a:off x="6446520" y="2514600"/>
            <a:ext cx="5120640" cy="320040"/>
          </a:xfrm>
          <a:prstGeom prst="rect">
            <a:avLst/>
          </a:prstGeom>
          <a:noFill/>
          <a:ln/>
        </p:spPr>
        <p:txBody>
          <a:bodyPr wrap="square" lIns="0" tIns="0" rIns="0" bIns="0" rtlCol="0" anchor="t"/>
          <a:lstStyle/>
          <a:p>
            <a:pPr indent="0" marL="0">
              <a:buNone/>
            </a:pPr>
            <a:r>
              <a:rPr lang="en-US" sz="1400" b="1" dirty="0">
                <a:solidFill>
                  <a:srgbClr val="1D2A33"/>
                </a:solidFill>
                <a:latin typeface="Cambria" pitchFamily="34" charset="0"/>
                <a:ea typeface="Cambria" pitchFamily="34" charset="-122"/>
                <a:cs typeface="Cambria" pitchFamily="34" charset="-120"/>
              </a:rPr>
              <a:t>What I built and tested (prototype, synthetic data)</a:t>
            </a:r>
            <a:endParaRPr lang="en-US" sz="1400" dirty="0"/>
          </a:p>
        </p:txBody>
      </p:sp>
      <p:sp>
        <p:nvSpPr>
          <p:cNvPr id="19" name="Shape 17"/>
          <p:cNvSpPr/>
          <p:nvPr/>
        </p:nvSpPr>
        <p:spPr>
          <a:xfrm>
            <a:off x="6446520" y="2926080"/>
            <a:ext cx="2468880" cy="1078992"/>
          </a:xfrm>
          <a:prstGeom prst="roundRect">
            <a:avLst>
              <a:gd name="adj" fmla="val 6780"/>
            </a:avLst>
          </a:prstGeom>
          <a:solidFill>
            <a:srgbClr val="FFFFFF"/>
          </a:solidFill>
          <a:ln w="9525">
            <a:solidFill>
              <a:srgbClr val="D9E1E6"/>
            </a:solidFill>
            <a:prstDash val="solid"/>
          </a:ln>
        </p:spPr>
      </p:sp>
      <p:sp>
        <p:nvSpPr>
          <p:cNvPr id="20" name="Text 18"/>
          <p:cNvSpPr txBox="1"/>
          <p:nvPr/>
        </p:nvSpPr>
        <p:spPr>
          <a:xfrm>
            <a:off x="6537960" y="2999232"/>
            <a:ext cx="2286000" cy="457200"/>
          </a:xfrm>
          <a:prstGeom prst="rect">
            <a:avLst/>
          </a:prstGeom>
          <a:noFill/>
          <a:ln/>
        </p:spPr>
        <p:txBody>
          <a:bodyPr wrap="square" lIns="0" tIns="0" rIns="0" bIns="0" rtlCol="0" anchor="t"/>
          <a:lstStyle/>
          <a:p>
            <a:pPr algn="ctr" indent="0" marL="0">
              <a:buNone/>
            </a:pPr>
            <a:r>
              <a:rPr lang="en-US" sz="2400" b="1" dirty="0">
                <a:solidFill>
                  <a:srgbClr val="0B5D57"/>
                </a:solidFill>
                <a:latin typeface="Cambria" pitchFamily="34" charset="0"/>
                <a:ea typeface="Cambria" pitchFamily="34" charset="-122"/>
                <a:cs typeface="Cambria" pitchFamily="34" charset="-120"/>
              </a:rPr>
              <a:t>32/32</a:t>
            </a:r>
            <a:endParaRPr lang="en-US" sz="2400" dirty="0"/>
          </a:p>
        </p:txBody>
      </p:sp>
      <p:sp>
        <p:nvSpPr>
          <p:cNvPr id="21" name="Text 19"/>
          <p:cNvSpPr txBox="1"/>
          <p:nvPr/>
        </p:nvSpPr>
        <p:spPr>
          <a:xfrm>
            <a:off x="6556248" y="3474720"/>
            <a:ext cx="2249424" cy="502920"/>
          </a:xfrm>
          <a:prstGeom prst="rect">
            <a:avLst/>
          </a:prstGeom>
          <a:noFill/>
          <a:ln/>
        </p:spPr>
        <p:txBody>
          <a:bodyPr wrap="square" lIns="0" tIns="0" rIns="0" bIns="0" rtlCol="0" anchor="t"/>
          <a:lstStyle/>
          <a:p>
            <a:pPr algn="ctr" indent="0" marL="0">
              <a:buNone/>
            </a:pPr>
            <a:r>
              <a:rPr lang="en-US" sz="1050" dirty="0">
                <a:solidFill>
                  <a:srgbClr val="1D2A33"/>
                </a:solidFill>
                <a:latin typeface="Calibri" pitchFamily="34" charset="0"/>
                <a:ea typeface="Calibri" pitchFamily="34" charset="-122"/>
                <a:cs typeface="Calibri" pitchFamily="34" charset="-120"/>
              </a:rPr>
              <a:t>structural and seeded-pattern data checks</a:t>
            </a:r>
            <a:endParaRPr lang="en-US" sz="1050" dirty="0"/>
          </a:p>
        </p:txBody>
      </p:sp>
      <p:sp>
        <p:nvSpPr>
          <p:cNvPr id="22" name="Shape 20"/>
          <p:cNvSpPr/>
          <p:nvPr/>
        </p:nvSpPr>
        <p:spPr>
          <a:xfrm>
            <a:off x="9052560" y="2926080"/>
            <a:ext cx="2468880" cy="1078992"/>
          </a:xfrm>
          <a:prstGeom prst="roundRect">
            <a:avLst>
              <a:gd name="adj" fmla="val 6780"/>
            </a:avLst>
          </a:prstGeom>
          <a:solidFill>
            <a:srgbClr val="FFFFFF"/>
          </a:solidFill>
          <a:ln w="9525">
            <a:solidFill>
              <a:srgbClr val="D9E1E6"/>
            </a:solidFill>
            <a:prstDash val="solid"/>
          </a:ln>
        </p:spPr>
      </p:sp>
      <p:sp>
        <p:nvSpPr>
          <p:cNvPr id="23" name="Text 21"/>
          <p:cNvSpPr txBox="1"/>
          <p:nvPr/>
        </p:nvSpPr>
        <p:spPr>
          <a:xfrm>
            <a:off x="9144000" y="2999232"/>
            <a:ext cx="2286000" cy="457200"/>
          </a:xfrm>
          <a:prstGeom prst="rect">
            <a:avLst/>
          </a:prstGeom>
          <a:noFill/>
          <a:ln/>
        </p:spPr>
        <p:txBody>
          <a:bodyPr wrap="square" lIns="0" tIns="0" rIns="0" bIns="0" rtlCol="0" anchor="t"/>
          <a:lstStyle/>
          <a:p>
            <a:pPr algn="ctr" indent="0" marL="0">
              <a:buNone/>
            </a:pPr>
            <a:r>
              <a:rPr lang="en-US" sz="2400" b="1" dirty="0">
                <a:solidFill>
                  <a:srgbClr val="0B5D57"/>
                </a:solidFill>
                <a:latin typeface="Cambria" pitchFamily="34" charset="0"/>
                <a:ea typeface="Cambria" pitchFamily="34" charset="-122"/>
                <a:cs typeface="Cambria" pitchFamily="34" charset="-120"/>
              </a:rPr>
              <a:t>30</a:t>
            </a:r>
            <a:endParaRPr lang="en-US" sz="2400" dirty="0"/>
          </a:p>
        </p:txBody>
      </p:sp>
      <p:sp>
        <p:nvSpPr>
          <p:cNvPr id="24" name="Text 22"/>
          <p:cNvSpPr txBox="1"/>
          <p:nvPr/>
        </p:nvSpPr>
        <p:spPr>
          <a:xfrm>
            <a:off x="9162288" y="3474720"/>
            <a:ext cx="2249424" cy="502920"/>
          </a:xfrm>
          <a:prstGeom prst="rect">
            <a:avLst/>
          </a:prstGeom>
          <a:noFill/>
          <a:ln/>
        </p:spPr>
        <p:txBody>
          <a:bodyPr wrap="square" lIns="0" tIns="0" rIns="0" bIns="0" rtlCol="0" anchor="t"/>
          <a:lstStyle/>
          <a:p>
            <a:pPr algn="ctr" indent="0" marL="0">
              <a:buNone/>
            </a:pPr>
            <a:r>
              <a:rPr lang="en-US" sz="1050" dirty="0">
                <a:solidFill>
                  <a:srgbClr val="1D2A33"/>
                </a:solidFill>
                <a:latin typeface="Calibri" pitchFamily="34" charset="0"/>
                <a:ea typeface="Calibri" pitchFamily="34" charset="-122"/>
                <a:cs typeface="Calibri" pitchFamily="34" charset="-120"/>
              </a:rPr>
              <a:t>calculation regression tests (Python)</a:t>
            </a:r>
            <a:endParaRPr lang="en-US" sz="1050" dirty="0"/>
          </a:p>
        </p:txBody>
      </p:sp>
      <p:sp>
        <p:nvSpPr>
          <p:cNvPr id="25" name="Shape 23"/>
          <p:cNvSpPr/>
          <p:nvPr/>
        </p:nvSpPr>
        <p:spPr>
          <a:xfrm>
            <a:off x="6446520" y="4114800"/>
            <a:ext cx="2468880" cy="1078992"/>
          </a:xfrm>
          <a:prstGeom prst="roundRect">
            <a:avLst>
              <a:gd name="adj" fmla="val 6780"/>
            </a:avLst>
          </a:prstGeom>
          <a:solidFill>
            <a:srgbClr val="FFFFFF"/>
          </a:solidFill>
          <a:ln w="9525">
            <a:solidFill>
              <a:srgbClr val="D9E1E6"/>
            </a:solidFill>
            <a:prstDash val="solid"/>
          </a:ln>
        </p:spPr>
      </p:sp>
      <p:sp>
        <p:nvSpPr>
          <p:cNvPr id="26" name="Text 24"/>
          <p:cNvSpPr txBox="1"/>
          <p:nvPr/>
        </p:nvSpPr>
        <p:spPr>
          <a:xfrm>
            <a:off x="6537960" y="4187952"/>
            <a:ext cx="2286000" cy="457200"/>
          </a:xfrm>
          <a:prstGeom prst="rect">
            <a:avLst/>
          </a:prstGeom>
          <a:noFill/>
          <a:ln/>
        </p:spPr>
        <p:txBody>
          <a:bodyPr wrap="square" lIns="0" tIns="0" rIns="0" bIns="0" rtlCol="0" anchor="t"/>
          <a:lstStyle/>
          <a:p>
            <a:pPr algn="ctr" indent="0" marL="0">
              <a:buNone/>
            </a:pPr>
            <a:r>
              <a:rPr lang="en-US" sz="2400" b="1" dirty="0">
                <a:solidFill>
                  <a:srgbClr val="0B5D57"/>
                </a:solidFill>
                <a:latin typeface="Cambria" pitchFamily="34" charset="0"/>
                <a:ea typeface="Cambria" pitchFamily="34" charset="-122"/>
                <a:cs typeface="Cambria" pitchFamily="34" charset="-120"/>
              </a:rPr>
              <a:t>15</a:t>
            </a:r>
            <a:endParaRPr lang="en-US" sz="2400" dirty="0"/>
          </a:p>
        </p:txBody>
      </p:sp>
      <p:sp>
        <p:nvSpPr>
          <p:cNvPr id="27" name="Text 25"/>
          <p:cNvSpPr txBox="1"/>
          <p:nvPr/>
        </p:nvSpPr>
        <p:spPr>
          <a:xfrm>
            <a:off x="6556248" y="4663440"/>
            <a:ext cx="2249424" cy="502920"/>
          </a:xfrm>
          <a:prstGeom prst="rect">
            <a:avLst/>
          </a:prstGeom>
          <a:noFill/>
          <a:ln/>
        </p:spPr>
        <p:txBody>
          <a:bodyPr wrap="square" lIns="0" tIns="0" rIns="0" bIns="0" rtlCol="0" anchor="t"/>
          <a:lstStyle/>
          <a:p>
            <a:pPr algn="ctr" indent="0" marL="0">
              <a:buNone/>
            </a:pPr>
            <a:r>
              <a:rPr lang="en-US" sz="1050" dirty="0">
                <a:solidFill>
                  <a:srgbClr val="1D2A33"/>
                </a:solidFill>
                <a:latin typeface="Calibri" pitchFamily="34" charset="0"/>
                <a:ea typeface="Calibri" pitchFamily="34" charset="-122"/>
                <a:cs typeface="Calibri" pitchFamily="34" charset="-120"/>
              </a:rPr>
              <a:t>logic tests, incl. Python ↔ JavaScript reconciliation</a:t>
            </a:r>
            <a:endParaRPr lang="en-US" sz="1050" dirty="0"/>
          </a:p>
        </p:txBody>
      </p:sp>
      <p:sp>
        <p:nvSpPr>
          <p:cNvPr id="28" name="Shape 26"/>
          <p:cNvSpPr/>
          <p:nvPr/>
        </p:nvSpPr>
        <p:spPr>
          <a:xfrm>
            <a:off x="9052560" y="4114800"/>
            <a:ext cx="2468880" cy="1078992"/>
          </a:xfrm>
          <a:prstGeom prst="roundRect">
            <a:avLst>
              <a:gd name="adj" fmla="val 6780"/>
            </a:avLst>
          </a:prstGeom>
          <a:solidFill>
            <a:srgbClr val="FFFFFF"/>
          </a:solidFill>
          <a:ln w="9525">
            <a:solidFill>
              <a:srgbClr val="D9E1E6"/>
            </a:solidFill>
            <a:prstDash val="solid"/>
          </a:ln>
        </p:spPr>
      </p:sp>
      <p:sp>
        <p:nvSpPr>
          <p:cNvPr id="29" name="Text 27"/>
          <p:cNvSpPr txBox="1"/>
          <p:nvPr/>
        </p:nvSpPr>
        <p:spPr>
          <a:xfrm>
            <a:off x="9144000" y="4187952"/>
            <a:ext cx="2286000" cy="457200"/>
          </a:xfrm>
          <a:prstGeom prst="rect">
            <a:avLst/>
          </a:prstGeom>
          <a:noFill/>
          <a:ln/>
        </p:spPr>
        <p:txBody>
          <a:bodyPr wrap="square" lIns="0" tIns="0" rIns="0" bIns="0" rtlCol="0" anchor="t"/>
          <a:lstStyle/>
          <a:p>
            <a:pPr algn="ctr" indent="0" marL="0">
              <a:buNone/>
            </a:pPr>
            <a:r>
              <a:rPr lang="en-US" sz="2400" b="1" dirty="0">
                <a:solidFill>
                  <a:srgbClr val="0B5D57"/>
                </a:solidFill>
                <a:latin typeface="Cambria" pitchFamily="34" charset="0"/>
                <a:ea typeface="Cambria" pitchFamily="34" charset="-122"/>
                <a:cs typeface="Cambria" pitchFamily="34" charset="-120"/>
              </a:rPr>
              <a:t>83/83</a:t>
            </a:r>
            <a:endParaRPr lang="en-US" sz="2400" dirty="0"/>
          </a:p>
        </p:txBody>
      </p:sp>
      <p:sp>
        <p:nvSpPr>
          <p:cNvPr id="30" name="Text 28"/>
          <p:cNvSpPr txBox="1"/>
          <p:nvPr/>
        </p:nvSpPr>
        <p:spPr>
          <a:xfrm>
            <a:off x="9162288" y="4663440"/>
            <a:ext cx="2249424" cy="502920"/>
          </a:xfrm>
          <a:prstGeom prst="rect">
            <a:avLst/>
          </a:prstGeom>
          <a:noFill/>
          <a:ln/>
        </p:spPr>
        <p:txBody>
          <a:bodyPr wrap="square" lIns="0" tIns="0" rIns="0" bIns="0" rtlCol="0" anchor="t"/>
          <a:lstStyle/>
          <a:p>
            <a:pPr algn="ctr" indent="0" marL="0">
              <a:buNone/>
            </a:pPr>
            <a:r>
              <a:rPr lang="en-US" sz="1050" dirty="0">
                <a:solidFill>
                  <a:srgbClr val="1D2A33"/>
                </a:solidFill>
                <a:latin typeface="Calibri" pitchFamily="34" charset="0"/>
                <a:ea typeface="Calibri" pitchFamily="34" charset="-122"/>
                <a:cs typeface="Calibri" pitchFamily="34" charset="-120"/>
              </a:rPr>
              <a:t>rendered-page checks: 4 roles, 3 pages, 5 widths, keyboard</a:t>
            </a:r>
            <a:endParaRPr lang="en-US" sz="1050" dirty="0"/>
          </a:p>
        </p:txBody>
      </p:sp>
      <p:sp>
        <p:nvSpPr>
          <p:cNvPr id="31" name="Text 29"/>
          <p:cNvSpPr txBox="1"/>
          <p:nvPr/>
        </p:nvSpPr>
        <p:spPr>
          <a:xfrm>
            <a:off x="6446520" y="5349240"/>
            <a:ext cx="5120640" cy="91440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1D2A33"/>
                </a:solidFill>
                <a:latin typeface="Calibri" pitchFamily="34" charset="0"/>
                <a:ea typeface="Calibri" pitchFamily="34" charset="-122"/>
                <a:cs typeface="Calibri" pitchFamily="34" charset="-120"/>
              </a:rPr>
              <a:t>Fixed before sign-off: regional scope, Red-week values, suppression via chart positions, dropped flag reasons (issue register: 45 items)</a:t>
            </a:r>
            <a:endParaRPr lang="en-US" sz="1150" dirty="0"/>
          </a:p>
          <a:p>
            <a:pPr marL="152400" indent="-152400">
              <a:spcAft>
                <a:spcPts val="400"/>
              </a:spcAft>
              <a:buSzPct val="100000"/>
              <a:buChar char="•"/>
            </a:pPr>
            <a:r>
              <a:rPr lang="en-US" sz="1150" dirty="0">
                <a:solidFill>
                  <a:srgbClr val="1D2A33"/>
                </a:solidFill>
                <a:latin typeface="Calibri" pitchFamily="34" charset="0"/>
                <a:ea typeface="Calibri" pitchFamily="34" charset="-122"/>
                <a:cs typeface="Calibri" pitchFamily="34" charset="-120"/>
              </a:rPr>
              <a:t>Automated checks on synthetic data and simulated roles — not UAT, not Power BI, not an accessibility audit</a:t>
            </a:r>
            <a:endParaRPr lang="en-US" sz="1150" dirty="0"/>
          </a:p>
        </p:txBody>
      </p:sp>
      <p:sp>
        <p:nvSpPr>
          <p:cNvPr id="32" name="Text 30"/>
          <p:cNvSpPr txBox="1"/>
          <p:nvPr/>
        </p:nvSpPr>
        <p:spPr>
          <a:xfrm>
            <a:off x="457200" y="6419088"/>
            <a:ext cx="11247120" cy="292608"/>
          </a:xfrm>
          <a:prstGeom prst="rect">
            <a:avLst/>
          </a:prstGeom>
          <a:noFill/>
          <a:ln/>
        </p:spPr>
        <p:txBody>
          <a:bodyPr wrap="square" lIns="0" tIns="0" rIns="0" bIns="0" rtlCol="0" anchor="t"/>
          <a:lstStyle/>
          <a:p>
            <a:pPr indent="0" marL="0">
              <a:buNone/>
            </a:pPr>
            <a:r>
              <a:rPr lang="en-US" sz="900" dirty="0">
                <a:solidFill>
                  <a:srgbClr val="56656F"/>
                </a:solidFill>
                <a:latin typeface="Calibri" pitchFamily="34" charset="0"/>
                <a:ea typeface="Calibri" pitchFamily="34" charset="-122"/>
                <a:cs typeface="Calibri" pitchFamily="34" charset="-120"/>
              </a:rPr>
              <a:t>Timeline, pilot size and thresholds are illustrative proposals. Plans: Phase 11 and Appendix A9. Test evidence: evidence/test-report.md and evidence/test-results.md.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5D57"/>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56032"/>
          </a:xfrm>
          <a:prstGeom prst="rect">
            <a:avLst/>
          </a:prstGeom>
          <a:noFill/>
          <a:ln/>
        </p:spPr>
        <p:txBody>
          <a:bodyPr wrap="square" lIns="0" tIns="0" rIns="0" bIns="0" rtlCol="0" anchor="t"/>
          <a:lstStyle/>
          <a:p>
            <a:pPr indent="0" marL="0">
              <a:buNone/>
            </a:pPr>
            <a:r>
              <a:rPr lang="en-US" sz="1100" b="1" spc="150" kern="0" dirty="0">
                <a:solidFill>
                  <a:srgbClr val="A9D6D0"/>
                </a:solidFill>
                <a:latin typeface="Calibri" pitchFamily="34" charset="0"/>
                <a:ea typeface="Calibri" pitchFamily="34" charset="-122"/>
                <a:cs typeface="Calibri" pitchFamily="34" charset="-120"/>
              </a:rPr>
              <a:t>LIMITATIONS, VALIDATION NEEDED AND NEXT STEPS</a:t>
            </a:r>
            <a:endParaRPr lang="en-US" sz="1100" dirty="0"/>
          </a:p>
        </p:txBody>
      </p:sp>
      <p:sp>
        <p:nvSpPr>
          <p:cNvPr id="3" name="Text 1"/>
          <p:cNvSpPr txBox="1"/>
          <p:nvPr/>
        </p:nvSpPr>
        <p:spPr>
          <a:xfrm>
            <a:off x="457200" y="548640"/>
            <a:ext cx="11247120" cy="64008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Honest limits, and what I would ask first</a:t>
            </a:r>
            <a:endParaRPr lang="en-US" sz="2800" dirty="0"/>
          </a:p>
        </p:txBody>
      </p:sp>
      <p:sp>
        <p:nvSpPr>
          <p:cNvPr id="4" name="Text 2"/>
          <p:cNvSpPr txBox="1"/>
          <p:nvPr/>
        </p:nvSpPr>
        <p:spPr>
          <a:xfrm>
            <a:off x="11247120" y="292608"/>
            <a:ext cx="502920" cy="256032"/>
          </a:xfrm>
          <a:prstGeom prst="rect">
            <a:avLst/>
          </a:prstGeom>
          <a:noFill/>
          <a:ln/>
        </p:spPr>
        <p:txBody>
          <a:bodyPr wrap="square" lIns="0" tIns="0" rIns="0" bIns="0" rtlCol="0" anchor="t"/>
          <a:lstStyle/>
          <a:p>
            <a:pPr algn="r" indent="0" marL="0">
              <a:buNone/>
            </a:pPr>
            <a:r>
              <a:rPr lang="en-US" sz="1100" dirty="0">
                <a:solidFill>
                  <a:srgbClr val="A9D6D0"/>
                </a:solidFill>
                <a:latin typeface="Calibri" pitchFamily="34" charset="0"/>
                <a:ea typeface="Calibri" pitchFamily="34" charset="-122"/>
                <a:cs typeface="Calibri" pitchFamily="34" charset="-120"/>
              </a:rPr>
              <a:t>9</a:t>
            </a:r>
            <a:endParaRPr lang="en-US" sz="1100" dirty="0"/>
          </a:p>
        </p:txBody>
      </p:sp>
      <p:sp>
        <p:nvSpPr>
          <p:cNvPr id="5" name="Shape 3"/>
          <p:cNvSpPr/>
          <p:nvPr/>
        </p:nvSpPr>
        <p:spPr>
          <a:xfrm>
            <a:off x="457200" y="1371600"/>
            <a:ext cx="3657600" cy="2514600"/>
          </a:xfrm>
          <a:prstGeom prst="roundRect">
            <a:avLst>
              <a:gd name="adj" fmla="val 2909"/>
            </a:avLst>
          </a:prstGeom>
          <a:solidFill>
            <a:srgbClr val="0F6E67"/>
          </a:solidFill>
          <a:ln/>
        </p:spPr>
      </p:sp>
      <p:sp>
        <p:nvSpPr>
          <p:cNvPr id="6" name="Text 4"/>
          <p:cNvSpPr txBox="1"/>
          <p:nvPr/>
        </p:nvSpPr>
        <p:spPr>
          <a:xfrm>
            <a:off x="621792" y="1463040"/>
            <a:ext cx="3383280" cy="3200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Value to test (not monetised)</a:t>
            </a:r>
            <a:endParaRPr lang="en-US" sz="1400" dirty="0"/>
          </a:p>
        </p:txBody>
      </p:sp>
      <p:sp>
        <p:nvSpPr>
          <p:cNvPr id="7" name="Text 5"/>
          <p:cNvSpPr txBox="1"/>
          <p:nvPr/>
        </p:nvSpPr>
        <p:spPr>
          <a:xfrm>
            <a:off x="621792" y="1847088"/>
            <a:ext cx="3383280" cy="1965960"/>
          </a:xfrm>
          <a:prstGeom prst="rect">
            <a:avLst/>
          </a:prstGeom>
          <a:noFill/>
          <a:ln/>
        </p:spPr>
        <p:txBody>
          <a:bodyPr wrap="square" lIns="0" tIns="0" rIns="0" bIns="0" rtlCol="0" anchor="t"/>
          <a:lstStyle/>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Pilot users rate comparisons as fair</a:t>
            </a:r>
            <a:endParaRPr lang="en-US" sz="1250" dirty="0"/>
          </a:p>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Stores needing attention found sooner</a:t>
            </a:r>
            <a:endParaRPr lang="en-US" sz="1250" dirty="0"/>
          </a:p>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Flags get a named follow-up owner</a:t>
            </a:r>
            <a:endParaRPr lang="en-US" sz="1250" dirty="0"/>
          </a:p>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Data quality visible before action</a:t>
            </a:r>
            <a:endParaRPr lang="en-US" sz="1250" dirty="0"/>
          </a:p>
        </p:txBody>
      </p:sp>
      <p:sp>
        <p:nvSpPr>
          <p:cNvPr id="8" name="Shape 6"/>
          <p:cNvSpPr/>
          <p:nvPr/>
        </p:nvSpPr>
        <p:spPr>
          <a:xfrm>
            <a:off x="4251960" y="1371600"/>
            <a:ext cx="3657600" cy="2514600"/>
          </a:xfrm>
          <a:prstGeom prst="roundRect">
            <a:avLst>
              <a:gd name="adj" fmla="val 2909"/>
            </a:avLst>
          </a:prstGeom>
          <a:solidFill>
            <a:srgbClr val="0F6E67"/>
          </a:solidFill>
          <a:ln/>
        </p:spPr>
      </p:sp>
      <p:sp>
        <p:nvSpPr>
          <p:cNvPr id="9" name="Text 7"/>
          <p:cNvSpPr txBox="1"/>
          <p:nvPr/>
        </p:nvSpPr>
        <p:spPr>
          <a:xfrm>
            <a:off x="4416552" y="1463040"/>
            <a:ext cx="3383280" cy="3200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Limitations</a:t>
            </a:r>
            <a:endParaRPr lang="en-US" sz="1400" dirty="0"/>
          </a:p>
        </p:txBody>
      </p:sp>
      <p:sp>
        <p:nvSpPr>
          <p:cNvPr id="10" name="Text 8"/>
          <p:cNvSpPr txBox="1"/>
          <p:nvPr/>
        </p:nvSpPr>
        <p:spPr>
          <a:xfrm>
            <a:off x="4416552" y="1847088"/>
            <a:ext cx="3383280" cy="1965960"/>
          </a:xfrm>
          <a:prstGeom prst="rect">
            <a:avLst/>
          </a:prstGeom>
          <a:noFill/>
          <a:ln/>
        </p:spPr>
        <p:txBody>
          <a:bodyPr wrap="square" lIns="0" tIns="0" rIns="0" bIns="0" rtlCol="0" anchor="t"/>
          <a:lstStyle/>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Public, largely company-authored sources</a:t>
            </a:r>
            <a:endParaRPr lang="en-US" sz="1250" dirty="0"/>
          </a:p>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Synthetic data; roles simulated, not secured</a:t>
            </a:r>
            <a:endParaRPr lang="en-US" sz="1250" dirty="0"/>
          </a:p>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No Power BI build; DAX unexecuted</a:t>
            </a:r>
            <a:endParaRPr lang="en-US" sz="1250" dirty="0"/>
          </a:p>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No UAT, usability study or accessibility audit</a:t>
            </a:r>
            <a:endParaRPr lang="en-US" sz="1250" dirty="0"/>
          </a:p>
        </p:txBody>
      </p:sp>
      <p:sp>
        <p:nvSpPr>
          <p:cNvPr id="11" name="Shape 9"/>
          <p:cNvSpPr/>
          <p:nvPr/>
        </p:nvSpPr>
        <p:spPr>
          <a:xfrm>
            <a:off x="8046720" y="1371600"/>
            <a:ext cx="3657600" cy="2514600"/>
          </a:xfrm>
          <a:prstGeom prst="roundRect">
            <a:avLst>
              <a:gd name="adj" fmla="val 2909"/>
            </a:avLst>
          </a:prstGeom>
          <a:solidFill>
            <a:srgbClr val="0F6E67"/>
          </a:solidFill>
          <a:ln/>
        </p:spPr>
      </p:sp>
      <p:sp>
        <p:nvSpPr>
          <p:cNvPr id="12" name="Text 10"/>
          <p:cNvSpPr txBox="1"/>
          <p:nvPr/>
        </p:nvSpPr>
        <p:spPr>
          <a:xfrm>
            <a:off x="8211312" y="1463040"/>
            <a:ext cx="3383280" cy="3200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Open decisions I did not make</a:t>
            </a:r>
            <a:endParaRPr lang="en-US" sz="1400" dirty="0"/>
          </a:p>
        </p:txBody>
      </p:sp>
      <p:sp>
        <p:nvSpPr>
          <p:cNvPr id="13" name="Text 11"/>
          <p:cNvSpPr txBox="1"/>
          <p:nvPr/>
        </p:nvSpPr>
        <p:spPr>
          <a:xfrm>
            <a:off x="8211312" y="1847088"/>
            <a:ext cx="3383280" cy="1965960"/>
          </a:xfrm>
          <a:prstGeom prst="rect">
            <a:avLst/>
          </a:prstGeom>
          <a:noFill/>
          <a:ln/>
        </p:spPr>
        <p:txBody>
          <a:bodyPr wrap="square" lIns="0" tIns="0" rIns="0" bIns="0" rtlCol="0" anchor="t"/>
          <a:lstStyle/>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U-38: can managers see other regions?</a:t>
            </a:r>
            <a:endParaRPr lang="en-US" sz="1250" dirty="0"/>
          </a:p>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U-39: is complementary suppression needed?</a:t>
            </a:r>
            <a:endParaRPr lang="en-US" sz="1250" dirty="0"/>
          </a:p>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U-41: should Optometry Partners see conversion?</a:t>
            </a:r>
            <a:endParaRPr lang="en-US" sz="1250" dirty="0"/>
          </a:p>
          <a:p>
            <a:pPr marL="152400" indent="-152400">
              <a:spcAft>
                <a:spcPts val="400"/>
              </a:spcAft>
              <a:buSzPct val="100000"/>
              <a:buChar char="•"/>
            </a:pPr>
            <a:r>
              <a:rPr lang="en-US" sz="1250" dirty="0">
                <a:solidFill>
                  <a:srgbClr val="E4F2F0"/>
                </a:solidFill>
                <a:latin typeface="Calibri" pitchFamily="34" charset="0"/>
                <a:ea typeface="Calibri" pitchFamily="34" charset="-122"/>
                <a:cs typeface="Calibri" pitchFamily="34" charset="-120"/>
              </a:rPr>
              <a:t>Opening dates for converted or relocated stores</a:t>
            </a:r>
            <a:endParaRPr lang="en-US" sz="1250" dirty="0"/>
          </a:p>
        </p:txBody>
      </p:sp>
      <p:sp>
        <p:nvSpPr>
          <p:cNvPr id="14" name="Shape 12"/>
          <p:cNvSpPr/>
          <p:nvPr/>
        </p:nvSpPr>
        <p:spPr>
          <a:xfrm>
            <a:off x="457200" y="4023360"/>
            <a:ext cx="4480560" cy="2286000"/>
          </a:xfrm>
          <a:prstGeom prst="roundRect">
            <a:avLst>
              <a:gd name="adj" fmla="val 3200"/>
            </a:avLst>
          </a:prstGeom>
          <a:solidFill>
            <a:srgbClr val="08423E"/>
          </a:solidFill>
          <a:ln/>
        </p:spPr>
      </p:sp>
      <p:sp>
        <p:nvSpPr>
          <p:cNvPr id="15" name="Text 13"/>
          <p:cNvSpPr txBox="1"/>
          <p:nvPr/>
        </p:nvSpPr>
        <p:spPr>
          <a:xfrm>
            <a:off x="640080" y="4114800"/>
            <a:ext cx="4114800" cy="3200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First steps inside the business</a:t>
            </a:r>
            <a:endParaRPr lang="en-US" sz="1400" dirty="0"/>
          </a:p>
        </p:txBody>
      </p:sp>
      <p:sp>
        <p:nvSpPr>
          <p:cNvPr id="16" name="Text 14"/>
          <p:cNvSpPr txBox="1"/>
          <p:nvPr/>
        </p:nvSpPr>
        <p:spPr>
          <a:xfrm>
            <a:off x="640080" y="4480560"/>
            <a:ext cx="4160520" cy="1783080"/>
          </a:xfrm>
          <a:prstGeom prst="rect">
            <a:avLst/>
          </a:prstGeom>
          <a:noFill/>
          <a:ln/>
        </p:spPr>
        <p:txBody>
          <a:bodyPr wrap="square" lIns="0" tIns="0" rIns="0" bIns="0" rtlCol="0" anchor="t"/>
          <a:lstStyle/>
          <a:p>
            <a:pPr indent="0" marL="0">
              <a:spcAft>
                <a:spcPts val="500"/>
              </a:spcAft>
              <a:buNone/>
            </a:pPr>
            <a:r>
              <a:rPr lang="en-US" sz="1250" dirty="0">
                <a:solidFill>
                  <a:srgbClr val="E4F2F0"/>
                </a:solidFill>
                <a:latin typeface="Calibri" pitchFamily="34" charset="0"/>
                <a:ea typeface="Calibri" pitchFamily="34" charset="-122"/>
                <a:cs typeface="Calibri" pitchFamily="34" charset="-120"/>
              </a:rPr>
              <a:t>1. Review today's reports; interview managers and partners</a:t>
            </a:r>
            <a:endParaRPr lang="en-US" sz="1250" dirty="0"/>
          </a:p>
          <a:p>
            <a:pPr indent="0" marL="0">
              <a:spcAft>
                <a:spcPts val="500"/>
              </a:spcAft>
              <a:buNone/>
            </a:pPr>
            <a:r>
              <a:rPr lang="en-US" sz="1250" dirty="0">
                <a:solidFill>
                  <a:srgbClr val="E4F2F0"/>
                </a:solidFill>
                <a:latin typeface="Calibri" pitchFamily="34" charset="0"/>
                <a:ea typeface="Calibri" pitchFamily="34" charset="-122"/>
                <a:cs typeface="Calibri" pitchFamily="34" charset="-120"/>
              </a:rPr>
              <a:t>2. Agree KPI definitions, owners and peer rules</a:t>
            </a:r>
            <a:endParaRPr lang="en-US" sz="1250" dirty="0"/>
          </a:p>
          <a:p>
            <a:pPr indent="0" marL="0">
              <a:spcAft>
                <a:spcPts val="500"/>
              </a:spcAft>
              <a:buNone/>
            </a:pPr>
            <a:r>
              <a:rPr lang="en-US" sz="1250" dirty="0">
                <a:solidFill>
                  <a:srgbClr val="E4F2F0"/>
                </a:solidFill>
                <a:latin typeface="Calibri" pitchFamily="34" charset="0"/>
                <a:ea typeface="Calibri" pitchFamily="34" charset="-122"/>
                <a:cs typeface="Calibri" pitchFamily="34" charset="-120"/>
              </a:rPr>
              <a:t>3. Confirm data access, store crosswalk and linkage custody</a:t>
            </a:r>
            <a:endParaRPr lang="en-US" sz="1250" dirty="0"/>
          </a:p>
          <a:p>
            <a:pPr indent="0" marL="0">
              <a:spcAft>
                <a:spcPts val="500"/>
              </a:spcAft>
              <a:buNone/>
            </a:pPr>
            <a:r>
              <a:rPr lang="en-US" sz="1250" dirty="0">
                <a:solidFill>
                  <a:srgbClr val="E4F2F0"/>
                </a:solidFill>
                <a:latin typeface="Calibri" pitchFamily="34" charset="0"/>
                <a:ea typeface="Calibri" pitchFamily="34" charset="-122"/>
                <a:cs typeface="Calibri" pitchFamily="34" charset="-120"/>
              </a:rPr>
              <a:t>4. Privacy review; test the prototype with 5+ users</a:t>
            </a:r>
            <a:endParaRPr lang="en-US" sz="1250" dirty="0"/>
          </a:p>
        </p:txBody>
      </p:sp>
      <p:sp>
        <p:nvSpPr>
          <p:cNvPr id="17" name="Shape 15"/>
          <p:cNvSpPr/>
          <p:nvPr/>
        </p:nvSpPr>
        <p:spPr>
          <a:xfrm>
            <a:off x="5074920" y="4023360"/>
            <a:ext cx="6656832" cy="2286000"/>
          </a:xfrm>
          <a:prstGeom prst="roundRect">
            <a:avLst>
              <a:gd name="adj" fmla="val 3200"/>
            </a:avLst>
          </a:prstGeom>
          <a:solidFill>
            <a:srgbClr val="FFFFFF"/>
          </a:solidFill>
          <a:ln/>
        </p:spPr>
      </p:sp>
      <p:sp>
        <p:nvSpPr>
          <p:cNvPr id="18" name="Text 16"/>
          <p:cNvSpPr txBox="1"/>
          <p:nvPr/>
        </p:nvSpPr>
        <p:spPr>
          <a:xfrm>
            <a:off x="5257800" y="4114800"/>
            <a:ext cx="6309360" cy="320040"/>
          </a:xfrm>
          <a:prstGeom prst="rect">
            <a:avLst/>
          </a:prstGeom>
          <a:noFill/>
          <a:ln/>
        </p:spPr>
        <p:txBody>
          <a:bodyPr wrap="square" lIns="0" tIns="0" rIns="0" bIns="0" rtlCol="0" anchor="t"/>
          <a:lstStyle/>
          <a:p>
            <a:pPr indent="0" marL="0">
              <a:buNone/>
            </a:pPr>
            <a:r>
              <a:rPr lang="en-US" sz="1400" b="1" dirty="0">
                <a:solidFill>
                  <a:srgbClr val="0B5D57"/>
                </a:solidFill>
                <a:latin typeface="Cambria" pitchFamily="34" charset="0"/>
                <a:ea typeface="Cambria" pitchFamily="34" charset="-122"/>
                <a:cs typeface="Cambria" pitchFamily="34" charset="-120"/>
              </a:rPr>
              <a:t>Questions for Specsavers</a:t>
            </a:r>
            <a:endParaRPr lang="en-US" sz="1400" dirty="0"/>
          </a:p>
        </p:txBody>
      </p:sp>
      <p:sp>
        <p:nvSpPr>
          <p:cNvPr id="19" name="Text 17"/>
          <p:cNvSpPr txBox="1"/>
          <p:nvPr/>
        </p:nvSpPr>
        <p:spPr>
          <a:xfrm>
            <a:off x="5257800" y="4480560"/>
            <a:ext cx="6309360" cy="178308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rgbClr val="1D2A33"/>
                </a:solidFill>
                <a:latin typeface="Calibri" pitchFamily="34" charset="0"/>
                <a:ea typeface="Calibri" pitchFamily="34" charset="-122"/>
                <a:cs typeface="Calibri" pitchFamily="34" charset="-120"/>
              </a:rPr>
              <a:t>How do teams judge today whether a new store is on track?</a:t>
            </a:r>
            <a:endParaRPr lang="en-US" sz="1300" dirty="0"/>
          </a:p>
          <a:p>
            <a:pPr marL="152400" indent="-152400">
              <a:spcAft>
                <a:spcPts val="500"/>
              </a:spcAft>
              <a:buSzPct val="100000"/>
              <a:buChar char="•"/>
            </a:pPr>
            <a:r>
              <a:rPr lang="en-US" sz="1300" dirty="0">
                <a:solidFill>
                  <a:srgbClr val="1D2A33"/>
                </a:solidFill>
                <a:latin typeface="Calibri" pitchFamily="34" charset="0"/>
                <a:ea typeface="Calibri" pitchFamily="34" charset="-122"/>
                <a:cs typeface="Calibri" pitchFamily="34" charset="-120"/>
              </a:rPr>
              <a:t>Which event defines a store's opening date, and who owns it?</a:t>
            </a:r>
            <a:endParaRPr lang="en-US" sz="1300" dirty="0"/>
          </a:p>
          <a:p>
            <a:pPr marL="152400" indent="-152400">
              <a:spcAft>
                <a:spcPts val="500"/>
              </a:spcAft>
              <a:buSzPct val="100000"/>
              <a:buChar char="•"/>
            </a:pPr>
            <a:r>
              <a:rPr lang="en-US" sz="1300" dirty="0">
                <a:solidFill>
                  <a:srgbClr val="1D2A33"/>
                </a:solidFill>
                <a:latin typeface="Calibri" pitchFamily="34" charset="0"/>
                <a:ea typeface="Calibri" pitchFamily="34" charset="-122"/>
                <a:cs typeface="Calibri" pitchFamily="34" charset="-120"/>
              </a:rPr>
              <a:t>How, and under whose custody, are exams and purchases connected?</a:t>
            </a:r>
            <a:endParaRPr lang="en-US" sz="1300" dirty="0"/>
          </a:p>
          <a:p>
            <a:pPr marL="152400" indent="-152400">
              <a:spcAft>
                <a:spcPts val="500"/>
              </a:spcAft>
              <a:buSzPct val="100000"/>
              <a:buChar char="•"/>
            </a:pPr>
            <a:r>
              <a:rPr lang="en-US" sz="1300" dirty="0">
                <a:solidFill>
                  <a:srgbClr val="1D2A33"/>
                </a:solidFill>
                <a:latin typeface="Calibri" pitchFamily="34" charset="0"/>
                <a:ea typeface="Calibri" pitchFamily="34" charset="-122"/>
                <a:cs typeface="Calibri" pitchFamily="34" charset="-120"/>
              </a:rPr>
              <a:t>What peer-comparison principles would partners support?</a:t>
            </a:r>
            <a:endParaRPr lang="en-US" sz="1300" dirty="0"/>
          </a:p>
        </p:txBody>
      </p:sp>
      <p:sp>
        <p:nvSpPr>
          <p:cNvPr id="20" name="Text 18"/>
          <p:cNvSpPr txBox="1"/>
          <p:nvPr/>
        </p:nvSpPr>
        <p:spPr>
          <a:xfrm>
            <a:off x="457200" y="6419088"/>
            <a:ext cx="11247120" cy="292608"/>
          </a:xfrm>
          <a:prstGeom prst="rect">
            <a:avLst/>
          </a:prstGeom>
          <a:noFill/>
          <a:ln/>
        </p:spPr>
        <p:txBody>
          <a:bodyPr wrap="square" lIns="0" tIns="0" rIns="0" bIns="0" rtlCol="0" anchor="t"/>
          <a:lstStyle/>
          <a:p>
            <a:pPr indent="0" marL="0">
              <a:buNone/>
            </a:pPr>
            <a:r>
              <a:rPr lang="en-US" sz="900" dirty="0">
                <a:solidFill>
                  <a:srgbClr val="A9D6D0"/>
                </a:solidFill>
                <a:latin typeface="Calibri" pitchFamily="34" charset="0"/>
                <a:ea typeface="Calibri" pitchFamily="34" charset="-122"/>
                <a:cs typeface="Calibri" pitchFamily="34" charset="-120"/>
              </a:rPr>
              <a:t>No financial ROI is claimed. Measures and thresholds are illustrative and need baselines and internal validation. Registers: Appendix A10; status of every feature: feature-status-matrix.md.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APPENDIX A1</a:t>
            </a:r>
            <a:endParaRPr lang="en-US" sz="1100" dirty="0"/>
          </a:p>
        </p:txBody>
      </p:sp>
      <p:sp>
        <p:nvSpPr>
          <p:cNvPr id="3" name="Text 1"/>
          <p:cNvSpPr txBox="1"/>
          <p:nvPr/>
        </p:nvSpPr>
        <p:spPr>
          <a:xfrm>
            <a:off x="457200" y="512064"/>
            <a:ext cx="11247120" cy="548640"/>
          </a:xfrm>
          <a:prstGeom prst="rect">
            <a:avLst/>
          </a:prstGeom>
          <a:noFill/>
          <a:ln/>
        </p:spPr>
        <p:txBody>
          <a:bodyPr wrap="square" lIns="0" tIns="0" rIns="0" bIns="0" rtlCol="0" anchor="t"/>
          <a:lstStyle/>
          <a:p>
            <a:pPr indent="0" marL="0">
              <a:buNone/>
            </a:pPr>
            <a:r>
              <a:rPr lang="en-US" sz="2400" b="1" dirty="0">
                <a:solidFill>
                  <a:srgbClr val="1D2A33"/>
                </a:solidFill>
                <a:latin typeface="Cambria" pitchFamily="34" charset="0"/>
                <a:ea typeface="Cambria" pitchFamily="34" charset="-122"/>
                <a:cs typeface="Cambria" pitchFamily="34" charset="-120"/>
              </a:rPr>
              <a:t>Sources (accessed 13 September 2026) — titles are links</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325880"/>
                <a:gridCol w="6309360"/>
                <a:gridCol w="1554480"/>
                <a:gridCol w="2084832"/>
              </a:tblGrid>
              <a:tr h="30175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Source (select to open)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Access note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1" invalidUrl="" action="" tgtFrame="" tooltip="https://www.loblaw.ca/en/specsavers-to-open-111-new-optical-locations-in-loblaw-grocery-stores-across-canada/" history="1" highlightClick="0" endSnd="0">
                            <a:extLst>
                              <a:ext uri="{A12FA001-AC4F-418D-AE19-62706E023703}">
                                <ahyp:hlinkClr xmlns:ahyp="http://schemas.microsoft.com/office/drawing/2018/hyperlinkcolor" val="tx"/>
                              </a:ext>
                            </a:extLst>
                          </a:hlinkClick>
                        </a:rPr>
                        <a:t>Loblaw — Specsavers to open 111 new optical locations in Loblaw grocery stores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30 Jul 2025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Read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2" invalidUrl="" action="" tgtFrame="" tooltip="https://www.newswire.ca/news-releases/specsavers-appoints-jane-hoban-as-managing-director-to-lead-next-phase-of-canadian-expansion-873853796.html" history="1" highlightClick="0" endSnd="0">
                            <a:extLst>
                              <a:ext uri="{A12FA001-AC4F-418D-AE19-62706E023703}">
                                <ahyp:hlinkClr xmlns:ahyp="http://schemas.microsoft.com/office/drawing/2018/hyperlinkcolor" val="tx"/>
                              </a:ext>
                            </a:extLst>
                          </a:hlinkClick>
                        </a:rPr>
                        <a:t>Specsavers appoints Jane Hoban as Managing Director (Newswire copy)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11 Mar 2026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Canonical specsavers.ca page returned 403</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EV-03–05, 10, 11, 16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3" invalidUrl="" action="" tgtFrame="" tooltip="https://specsaverspartnership.ca/wp-content/uploads/2025/10/vx250312_03_Specsavers-Canada-Prospectus_8-2677x5-8268_EN_x1a-trim-6.pdf" history="1" highlightClick="0" endSnd="0">
                            <a:extLst>
                              <a:ext uri="{A12FA001-AC4F-418D-AE19-62706E023703}">
                                <ahyp:hlinkClr xmlns:ahyp="http://schemas.microsoft.com/office/drawing/2018/hyperlinkcolor" val="tx"/>
                              </a:ext>
                            </a:extLst>
                          </a:hlinkClick>
                        </a:rPr>
                        <a:t>Specsavers Canada partnership prospectus (PDF)</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Oct 2025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Read (text extracted)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EV-03, 15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4" invalidUrl="" action="" tgtFrame="" tooltip="https://specsaverspartnership.ca/retail-partnership/" history="1" highlightClick="0" endSnd="0">
                            <a:extLst>
                              <a:ext uri="{A12FA001-AC4F-418D-AE19-62706E023703}">
                                <ahyp:hlinkClr xmlns:ahyp="http://schemas.microsoft.com/office/drawing/2018/hyperlinkcolor" val="tx"/>
                              </a:ext>
                            </a:extLst>
                          </a:hlinkClick>
                        </a:rPr>
                        <a:t>Specsavers partnership — Retail partnership page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Accessed 13 Sep 2026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Read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5" invalidUrl="" action="" tgtFrame="" tooltip="https://www.newswire.ca/news-releases/specsavers-surpasses-100-store-milestone-in-canada-805965501.html" history="1" highlightClick="0" endSnd="0">
                            <a:extLst>
                              <a:ext uri="{A12FA001-AC4F-418D-AE19-62706E023703}">
                                <ahyp:hlinkClr xmlns:ahyp="http://schemas.microsoft.com/office/drawing/2018/hyperlinkcolor" val="tx"/>
                              </a:ext>
                            </a:extLst>
                          </a:hlinkClick>
                        </a:rPr>
                        <a:t>Specsavers surpasses 100-store milestone in Canada (Newswire copy)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7 Feb 2024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Canonical page 403</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6" invalidUrl="" action="" tgtFrame="" tooltip="https://www.newswire.ca/news-releases/specsavers-canada-highlights-national-vision-gap-one-third-of-canadians-are-overdue-for-an-eye-exam-848439853.html" history="1" highlightClick="0" endSnd="0">
                            <a:extLst>
                              <a:ext uri="{A12FA001-AC4F-418D-AE19-62706E023703}">
                                <ahyp:hlinkClr xmlns:ahyp="http://schemas.microsoft.com/office/drawing/2018/hyperlinkcolor" val="tx"/>
                              </a:ext>
                            </a:extLst>
                          </a:hlinkClick>
                        </a:rPr>
                        <a:t>Canada Eyecare Report 2025 — national vision gap (Newswire copy)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9 Oct 2025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Commissioned survey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EV-08, 17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7" invalidUrl="" action="" tgtFrame="" tooltip="https://www.loblaw.ca/en/specsavers-joins-pc-optimum-program/" history="1" highlightClick="0" endSnd="0">
                            <a:extLst>
                              <a:ext uri="{A12FA001-AC4F-418D-AE19-62706E023703}">
                                <ahyp:hlinkClr xmlns:ahyp="http://schemas.microsoft.com/office/drawing/2018/hyperlinkcolor" val="tx"/>
                              </a:ext>
                            </a:extLst>
                          </a:hlinkClick>
                        </a:rPr>
                        <a:t>Loblaw — Specsavers joins PC Optimum program</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22 Jun 2026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Re-read 13 Sep 2026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EV-09a</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8" invalidUrl="" action="" tgtFrame="" tooltip="https://join.specsavers.com/ca/job/data-business-analyst-in-burnaby-british-columbia-canada-jid-13707" history="1" highlightClick="0" endSnd="0">
                            <a:extLst>
                              <a:ext uri="{A12FA001-AC4F-418D-AE19-62706E023703}">
                                <ahyp:hlinkClr xmlns:ahyp="http://schemas.microsoft.com/office/drawing/2018/hyperlinkcolor" val="tx"/>
                              </a:ext>
                            </a:extLst>
                          </a:hlinkClick>
                        </a:rPr>
                        <a:t>Data Business Analyst, Burnaby (jid-13707)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Live at access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Hiring evidence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EV-09b</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9" invalidUrl="" action="" tgtFrame="" tooltip="https://join.specsavers.com/ca/job/data-analyst-in-burnaby-british-columbia-canada-jid-13749" history="1" highlightClick="0" endSnd="0">
                            <a:extLst>
                              <a:ext uri="{A12FA001-AC4F-418D-AE19-62706E023703}">
                                <ahyp:hlinkClr xmlns:ahyp="http://schemas.microsoft.com/office/drawing/2018/hyperlinkcolor" val="tx"/>
                              </a:ext>
                            </a:extLst>
                          </a:hlinkClick>
                        </a:rPr>
                        <a:t>Data Analyst, Burnaby (jid-13749)</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Live at access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Hiring evidence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EV-09c</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10" invalidUrl="" action="" tgtFrame="" tooltip="https://join.specsavers.com/ca/job/data-delivery-manager-in-burnaby-british-columbia-canada-jid-13764" history="1" highlightClick="0" endSnd="0">
                            <a:extLst>
                              <a:ext uri="{A12FA001-AC4F-418D-AE19-62706E023703}">
                                <ahyp:hlinkClr xmlns:ahyp="http://schemas.microsoft.com/office/drawing/2018/hyperlinkcolor" val="tx"/>
                              </a:ext>
                            </a:extLst>
                          </a:hlinkClick>
                        </a:rPr>
                        <a:t>Data Delivery Manager, Burnaby (jid-13764)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Live at access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Hiring evidence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EV-09d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11" invalidUrl="" action="" tgtFrame="" tooltip="https://join.specsavers.com/ca/job/product-owner-in-burnaby-british-columbia-canada-jid-13803" history="1" highlightClick="0" endSnd="0">
                            <a:extLst>
                              <a:ext uri="{A12FA001-AC4F-418D-AE19-62706E023703}">
                                <ahyp:hlinkClr xmlns:ahyp="http://schemas.microsoft.com/office/drawing/2018/hyperlinkcolor" val="tx"/>
                              </a:ext>
                            </a:extLst>
                          </a:hlinkClick>
                        </a:rPr>
                        <a:t>Product Owner — PMS/EMR application, Burnaby (jid-13803)</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Live at access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Hiring evidence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EV-12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12" invalidUrl="" action="" tgtFrame="" tooltip="https://join.specsavers.com/ca/candidate-privacy-policy/" history="1" highlightClick="0" endSnd="0">
                            <a:extLst>
                              <a:ext uri="{A12FA001-AC4F-418D-AE19-62706E023703}">
                                <ahyp:hlinkClr xmlns:ahyp="http://schemas.microsoft.com/office/drawing/2018/hyperlinkcolor" val="tx"/>
                              </a:ext>
                            </a:extLst>
                          </a:hlinkClick>
                        </a:rPr>
                        <a:t>Specsavers Canada candidate privacy policy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Accessed 13 Sep 2026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Read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EV-13</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13" invalidUrl="" action="" tgtFrame="" tooltip="https://join.specsavers.com/ca/job/retail-regional-manager-in-burnaby-british-columbia-canada-jid-8803" history="1" highlightClick="0" endSnd="0">
                            <a:extLst>
                              <a:ext uri="{A12FA001-AC4F-418D-AE19-62706E023703}">
                                <ahyp:hlinkClr xmlns:ahyp="http://schemas.microsoft.com/office/drawing/2018/hyperlinkcolor" val="tx"/>
                              </a:ext>
                            </a:extLst>
                          </a:hlinkClick>
                        </a:rPr>
                        <a:t>Retail Regional Manager, Burnaby (jid-8803)</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Closed posting</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HTTP 404; snippet only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EV-14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14" invalidUrl="" action="" tgtFrame="" tooltip="https://join.specsavers.com/ca/job/regional-training-manager-in-burnaby-british-columbia-canada-jid-3691" history="1" highlightClick="0" endSnd="0">
                            <a:extLst>
                              <a:ext uri="{A12FA001-AC4F-418D-AE19-62706E023703}">
                                <ahyp:hlinkClr xmlns:ahyp="http://schemas.microsoft.com/office/drawing/2018/hyperlinkcolor" val="tx"/>
                              </a:ext>
                            </a:extLst>
                          </a:hlinkClick>
                        </a:rPr>
                        <a:t>Regional Training Manager, Burnaby (jid-3691)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Closed posting</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HTTP 404; snippet only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Power BI</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15" invalidUrl="" action="" tgtFrame="" tooltip="https://learn.microsoft.com/en-us/power-bi/transform-model/desktop-date-tables" history="1" highlightClick="0" endSnd="0">
                            <a:extLst>
                              <a:ext uri="{A12FA001-AC4F-418D-AE19-62706E023703}">
                                <ahyp:hlinkClr xmlns:ahyp="http://schemas.microsoft.com/office/drawing/2018/hyperlinkcolor" val="tx"/>
                              </a:ext>
                            </a:extLst>
                          </a:hlinkClick>
                        </a:rPr>
                        <a:t>Microsoft Learn — Set and use date tables in Power BI Desktop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Accessed 13 Sep 2026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Design reference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Power BI</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u="sng" dirty="0">
                          <a:solidFill>
                            <a:srgbClr val="0B5D57"/>
                          </a:solidFill>
                          <a:latin typeface="Calibri" pitchFamily="34" charset="0"/>
                          <a:ea typeface="Calibri" pitchFamily="34" charset="-122"/>
                          <a:cs typeface="Calibri" pitchFamily="34" charset="-120"/>
                          <a:hlinkClick r:id="rId16" invalidUrl="" action="" tgtFrame="" tooltip="https://learn.microsoft.com/en-us/analysis-services/tabular-models/object-level-security?view=sql-analysis-services-2025" history="1" highlightClick="0" endSnd="0">
                            <a:extLst>
                              <a:ext uri="{A12FA001-AC4F-418D-AE19-62706E023703}">
                                <ahyp:hlinkClr xmlns:ahyp="http://schemas.microsoft.com/office/drawing/2018/hyperlinkcolor" val="tx"/>
                              </a:ext>
                            </a:extLst>
                          </a:hlinkClick>
                        </a:rPr>
                        <a:t>Microsoft Learn — Tabular model object-level security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Accessed 13 Sep 2026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Design reference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APPENDIX A2</a:t>
            </a:r>
            <a:endParaRPr lang="en-US" sz="1100" dirty="0"/>
          </a:p>
        </p:txBody>
      </p:sp>
      <p:sp>
        <p:nvSpPr>
          <p:cNvPr id="3" name="Text 1"/>
          <p:cNvSpPr txBox="1"/>
          <p:nvPr/>
        </p:nvSpPr>
        <p:spPr>
          <a:xfrm>
            <a:off x="457200" y="512064"/>
            <a:ext cx="11247120" cy="548640"/>
          </a:xfrm>
          <a:prstGeom prst="rect">
            <a:avLst/>
          </a:prstGeom>
          <a:noFill/>
          <a:ln/>
        </p:spPr>
        <p:txBody>
          <a:bodyPr wrap="square" lIns="0" tIns="0" rIns="0" bIns="0" rtlCol="0" anchor="t"/>
          <a:lstStyle/>
          <a:p>
            <a:pPr indent="0" marL="0">
              <a:buNone/>
            </a:pPr>
            <a:r>
              <a:rPr lang="en-US" sz="2400" b="1" dirty="0">
                <a:solidFill>
                  <a:srgbClr val="1D2A33"/>
                </a:solidFill>
                <a:latin typeface="Cambria" pitchFamily="34" charset="0"/>
                <a:ea typeface="Cambria" pitchFamily="34" charset="-122"/>
                <a:cs typeface="Cambria" pitchFamily="34" charset="-120"/>
              </a:rPr>
              <a:t>Evidence log — facts, inferences and corrections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914400"/>
                <a:gridCol w="5760720"/>
                <a:gridCol w="1691640"/>
                <a:gridCol w="2907792"/>
              </a:tblGrid>
              <a:tr h="33832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Verified claim (summary, dated)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Class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Correction / note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30 Jul 2025: 111 in-grocery locations announced; network projected above 260; six new provinces or territories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Fact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Announcement and projection, not outcome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11 Mar 2026: more than 270 stores; more than 130 opened in 2025; "number one" ambition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Company statement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Cite as "reported Mar 2026"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EV-17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22 Jun 2026: the 111 in-grocery locations opened in 2025; 270+ locations, nine provinces and one territory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Fact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Added in repair pass; completes EV-01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Inference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 half of stores opened in 2025 (130+ of 270+)</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Inference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Author's arithmetic on lower bounds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EV-03/04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Optometry and retail corporations; owned per provincial regulations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Fact / statement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Prospectus is the citation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Nine support services incl. patient recall and patient-record systems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Fact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Training and recruitment separate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7 Feb 2024: 100th store; 20% under six months old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Historical</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Revenue figures not verified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 in 3 overdue; 51% cost; 61% coverage misunderstanding</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Commissioned research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"or never" wording removed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EV-08</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PC Optimum at all locations, 10 points per $1 (22 Jun 2026)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Fact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Excluded from MVP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EV-09</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Data postings: Power BI, SQL, Databricks; PMS/EMR product owner</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Hiring evidence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Shows categories, not architecture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EV-11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Prospectus shows 151 Canadian stores (2024/25)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Historical</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Stale — model only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EV-12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Named Privacy Officer; PIPA/PIPEDA referenced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Fact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Team structure unknown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EV-13/14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Retail Regional Manager; Regional Training Manager (closed)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Indirect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Low confidence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3832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EV-15/16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Partnership Advisory Committee; support-office roles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Company statement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Remit unknown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APPENDIX A3</a:t>
            </a:r>
            <a:endParaRPr lang="en-US" sz="1100" dirty="0"/>
          </a:p>
        </p:txBody>
      </p:sp>
      <p:sp>
        <p:nvSpPr>
          <p:cNvPr id="3" name="Text 1"/>
          <p:cNvSpPr txBox="1"/>
          <p:nvPr/>
        </p:nvSpPr>
        <p:spPr>
          <a:xfrm>
            <a:off x="457200" y="512064"/>
            <a:ext cx="11247120" cy="548640"/>
          </a:xfrm>
          <a:prstGeom prst="rect">
            <a:avLst/>
          </a:prstGeom>
          <a:noFill/>
          <a:ln/>
        </p:spPr>
        <p:txBody>
          <a:bodyPr wrap="square" lIns="0" tIns="0" rIns="0" bIns="0" rtlCol="0" anchor="t"/>
          <a:lstStyle/>
          <a:p>
            <a:pPr indent="0" marL="0">
              <a:buNone/>
            </a:pPr>
            <a:r>
              <a:rPr lang="en-US" sz="2400" b="1" dirty="0">
                <a:solidFill>
                  <a:srgbClr val="1D2A33"/>
                </a:solidFill>
                <a:latin typeface="Cambria" pitchFamily="34" charset="0"/>
                <a:ea typeface="Cambria" pitchFamily="34" charset="-122"/>
                <a:cs typeface="Cambria" pitchFamily="34" charset="-120"/>
              </a:rPr>
              <a:t>Stakeholder analysis — evidence status, influence and roles</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914400"/>
                <a:gridCol w="2651760"/>
                <a:gridCol w="1874520"/>
                <a:gridCol w="822960"/>
                <a:gridCol w="822960"/>
                <a:gridCol w="4187952"/>
              </a:tblGrid>
              <a:tr h="30175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Stakeholder</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Infl.</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Requirements, approval and UAT role (proposed)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SH-01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Retail Partners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Store needs · endorsement via SH-14 · pilot testers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SH-02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Optometry Partners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Clinical wording and privacy · consulted · clinic view tests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SH-03</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Regional Retail Managers (title TBC)</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Assumed / indirect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Exception and workflow needs · core UAT testers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SH-04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Retail Operations leadership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Function 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Sponsor (assumed) · peer rules · business sign-off</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SH-05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Marketing</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Function 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Recall KPI owner · recall reconciliation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SH-06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Supply Chain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Function 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Fulfilment KPI owner · fulfilment reconciliation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SH-07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Finance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Function 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Revenue definitions · revenue reconciliation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SH-08</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Product Owner (data)</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Role type 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Backlog and story acceptance · co-signs UAT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SH-09</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Data Business Analyst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Elicitation, requirements, mapping, RTM · UAT lead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SH-10/11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Data Engineers · Visualization Analysts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Feasibility, model, report build · defect fixes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SH-12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Data Delivery Manager</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Release readiness · UAT gates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SH-13</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Governance / Privacy / Security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Privacy Officer 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Privacy and access approval · witnesses access tests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SH-14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Partnership Advisory Committee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Confirmed exists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Comparison principles · endorsement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SH-15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Business Development / openings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Function 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Opening-date master data owner (TBC)</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01752">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SH-16/17/18</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Clinical Services · System owners · Executive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Indirect / confirmed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Varies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Varies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Clinical wording · data access · informed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263640"/>
            <a:ext cx="11247120" cy="365760"/>
          </a:xfrm>
          <a:prstGeom prst="rect">
            <a:avLst/>
          </a:prstGeom>
          <a:noFill/>
          <a:ln/>
        </p:spPr>
        <p:txBody>
          <a:bodyPr wrap="square" lIns="0" tIns="0" rIns="0" bIns="0" rtlCol="0" anchor="t"/>
          <a:lstStyle/>
          <a:p>
            <a:pPr indent="0" marL="0">
              <a:buNone/>
            </a:pPr>
            <a:r>
              <a:rPr lang="en-US" sz="950" dirty="0">
                <a:solidFill>
                  <a:srgbClr val="56656F"/>
                </a:solidFill>
                <a:latin typeface="Calibri" pitchFamily="34" charset="0"/>
                <a:ea typeface="Calibri" pitchFamily="34" charset="-122"/>
                <a:cs typeface="Calibri" pitchFamily="34" charset="-120"/>
              </a:rPr>
              <a:t>*Collectively. RACI (19 activities) and the 8-stage engagement plan: phase-02-stakeholders.md. All roles are proposals; no stakeholder has reviewed them.</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APPENDIX A4</a:t>
            </a:r>
            <a:endParaRPr lang="en-US" sz="1100" dirty="0"/>
          </a:p>
        </p:txBody>
      </p:sp>
      <p:sp>
        <p:nvSpPr>
          <p:cNvPr id="3" name="Text 1"/>
          <p:cNvSpPr txBox="1"/>
          <p:nvPr/>
        </p:nvSpPr>
        <p:spPr>
          <a:xfrm>
            <a:off x="457200" y="512064"/>
            <a:ext cx="11247120" cy="548640"/>
          </a:xfrm>
          <a:prstGeom prst="rect">
            <a:avLst/>
          </a:prstGeom>
          <a:noFill/>
          <a:ln/>
        </p:spPr>
        <p:txBody>
          <a:bodyPr wrap="square" lIns="0" tIns="0" rIns="0" bIns="0" rtlCol="0" anchor="t"/>
          <a:lstStyle/>
          <a:p>
            <a:pPr indent="0" marL="0">
              <a:buNone/>
            </a:pPr>
            <a:r>
              <a:rPr lang="en-US" sz="2400" b="1" dirty="0">
                <a:solidFill>
                  <a:srgbClr val="1D2A33"/>
                </a:solidFill>
                <a:latin typeface="Cambria" pitchFamily="34" charset="0"/>
                <a:ea typeface="Cambria" pitchFamily="34" charset="-122"/>
                <a:cs typeface="Cambria" pitchFamily="34" charset="-120"/>
              </a:rPr>
              <a:t>Requirements catalogue (summary)</a:t>
            </a:r>
            <a:endParaRPr lang="en-US" sz="2400" dirty="0"/>
          </a:p>
        </p:txBody>
      </p:sp>
      <p:sp>
        <p:nvSpPr>
          <p:cNvPr id="4" name="Text 2"/>
          <p:cNvSpPr txBox="1"/>
          <p:nvPr/>
        </p:nvSpPr>
        <p:spPr>
          <a:xfrm>
            <a:off x="457200" y="1188720"/>
            <a:ext cx="5486400" cy="274320"/>
          </a:xfrm>
          <a:prstGeom prst="rect">
            <a:avLst/>
          </a:prstGeom>
          <a:noFill/>
          <a:ln/>
        </p:spPr>
        <p:txBody>
          <a:bodyPr wrap="square" lIns="0" tIns="0" rIns="0" bIns="0" rtlCol="0" anchor="t"/>
          <a:lstStyle/>
          <a:p>
            <a:pPr indent="0" marL="0">
              <a:buNone/>
            </a:pPr>
            <a:r>
              <a:rPr lang="en-US" sz="1300" b="1" dirty="0">
                <a:solidFill>
                  <a:srgbClr val="0B5D57"/>
                </a:solidFill>
                <a:latin typeface="Calibri" pitchFamily="34" charset="0"/>
                <a:ea typeface="Calibri" pitchFamily="34" charset="-122"/>
                <a:cs typeface="Calibri" pitchFamily="34" charset="-120"/>
              </a:rPr>
              <a:t>Business objectives</a:t>
            </a:r>
            <a:endParaRPr lang="en-US" sz="1300" dirty="0"/>
          </a:p>
        </p:txBody>
      </p:sp>
      <p:sp>
        <p:nvSpPr>
          <p:cNvPr id="5" name="Text 3"/>
          <p:cNvSpPr txBox="1"/>
          <p:nvPr/>
        </p:nvSpPr>
        <p:spPr>
          <a:xfrm>
            <a:off x="457200" y="1481328"/>
            <a:ext cx="5486400" cy="1920240"/>
          </a:xfrm>
          <a:prstGeom prst="rect">
            <a:avLst/>
          </a:prstGeom>
          <a:noFill/>
          <a:ln/>
        </p:spPr>
        <p:txBody>
          <a:bodyPr wrap="square" lIns="0" tIns="0" rIns="0" bIns="0" rtlCol="0" anchor="t"/>
          <a:lstStyle/>
          <a:p>
            <a:pPr marL="152400" indent="-152400">
              <a:spcAft>
                <a:spcPts val="200"/>
              </a:spcAft>
              <a:buSzPct val="100000"/>
              <a:buChar char="•"/>
            </a:pPr>
            <a:r>
              <a:rPr lang="en-US" sz="1150" dirty="0">
                <a:solidFill>
                  <a:srgbClr val="1D2A33"/>
                </a:solidFill>
                <a:latin typeface="Calibri" pitchFamily="34" charset="0"/>
                <a:ea typeface="Calibri" pitchFamily="34" charset="-122"/>
                <a:cs typeface="Calibri" pitchFamily="34" charset="-120"/>
              </a:rPr>
              <a:t>BO-01 Fair like-for-like assessment (Must)</a:t>
            </a:r>
            <a:endParaRPr lang="en-US" sz="1150" dirty="0"/>
          </a:p>
          <a:p>
            <a:pPr marL="152400" indent="-152400">
              <a:spcAft>
                <a:spcPts val="200"/>
              </a:spcAft>
              <a:buSzPct val="100000"/>
              <a:buChar char="•"/>
            </a:pPr>
            <a:r>
              <a:rPr lang="en-US" sz="1150" dirty="0">
                <a:solidFill>
                  <a:srgbClr val="1D2A33"/>
                </a:solidFill>
                <a:latin typeface="Calibri" pitchFamily="34" charset="0"/>
                <a:ea typeface="Calibri" pitchFamily="34" charset="-122"/>
                <a:cs typeface="Calibri" pitchFamily="34" charset="-120"/>
              </a:rPr>
              <a:t>BO-02 Surface stores earlier, esp. ramp-up (Must)</a:t>
            </a:r>
            <a:endParaRPr lang="en-US" sz="1150" dirty="0"/>
          </a:p>
          <a:p>
            <a:pPr marL="152400" indent="-152400">
              <a:spcAft>
                <a:spcPts val="200"/>
              </a:spcAft>
              <a:buSzPct val="100000"/>
              <a:buChar char="•"/>
            </a:pPr>
            <a:r>
              <a:rPr lang="en-US" sz="1150" dirty="0">
                <a:solidFill>
                  <a:srgbClr val="1D2A33"/>
                </a:solidFill>
                <a:latin typeface="Calibri" pitchFamily="34" charset="0"/>
                <a:ea typeface="Calibri" pitchFamily="34" charset="-122"/>
                <a:cs typeface="Calibri" pitchFamily="34" charset="-120"/>
              </a:rPr>
              <a:t>BO-03 Trusted, governed KPIs (Must)</a:t>
            </a:r>
            <a:endParaRPr lang="en-US" sz="1150" dirty="0"/>
          </a:p>
          <a:p>
            <a:pPr marL="152400" indent="-152400">
              <a:spcAft>
                <a:spcPts val="200"/>
              </a:spcAft>
              <a:buSzPct val="100000"/>
              <a:buChar char="•"/>
            </a:pPr>
            <a:r>
              <a:rPr lang="en-US" sz="1150" dirty="0">
                <a:solidFill>
                  <a:srgbClr val="1D2A33"/>
                </a:solidFill>
                <a:latin typeface="Calibri" pitchFamily="34" charset="0"/>
                <a:ea typeface="Calibri" pitchFamily="34" charset="-122"/>
                <a:cs typeface="Calibri" pitchFamily="34" charset="-120"/>
              </a:rPr>
              <a:t>BO-04 Better-targeted follow-up (Must)</a:t>
            </a:r>
            <a:endParaRPr lang="en-US" sz="1150" dirty="0"/>
          </a:p>
          <a:p>
            <a:pPr marL="152400" indent="-152400">
              <a:spcAft>
                <a:spcPts val="200"/>
              </a:spcAft>
              <a:buSzPct val="100000"/>
              <a:buChar char="•"/>
            </a:pPr>
            <a:r>
              <a:rPr lang="en-US" sz="1150" dirty="0">
                <a:solidFill>
                  <a:srgbClr val="1D2A33"/>
                </a:solidFill>
                <a:latin typeface="Calibri" pitchFamily="34" charset="0"/>
                <a:ea typeface="Calibri" pitchFamily="34" charset="-122"/>
                <a:cs typeface="Calibri" pitchFamily="34" charset="-120"/>
              </a:rPr>
              <a:t>BO-05 Balanced access and commercial view (Should)</a:t>
            </a:r>
            <a:endParaRPr lang="en-US" sz="1150" dirty="0"/>
          </a:p>
          <a:p>
            <a:pPr marL="152400" indent="-152400">
              <a:spcAft>
                <a:spcPts val="200"/>
              </a:spcAft>
              <a:buSzPct val="100000"/>
              <a:buChar char="•"/>
            </a:pPr>
            <a:r>
              <a:rPr lang="en-US" sz="1150" dirty="0">
                <a:solidFill>
                  <a:srgbClr val="1D2A33"/>
                </a:solidFill>
                <a:latin typeface="Calibri" pitchFamily="34" charset="0"/>
                <a:ea typeface="Calibri" pitchFamily="34" charset="-122"/>
                <a:cs typeface="Calibri" pitchFamily="34" charset="-120"/>
              </a:rPr>
              <a:t>BO-06 Privacy and confidentiality by design (Must)</a:t>
            </a:r>
            <a:endParaRPr lang="en-US" sz="1150" dirty="0"/>
          </a:p>
          <a:p>
            <a:pPr marL="152400" indent="-152400">
              <a:spcAft>
                <a:spcPts val="200"/>
              </a:spcAft>
              <a:buSzPct val="100000"/>
              <a:buChar char="•"/>
            </a:pPr>
            <a:r>
              <a:rPr lang="en-US" sz="1150" dirty="0">
                <a:solidFill>
                  <a:srgbClr val="1D2A33"/>
                </a:solidFill>
                <a:latin typeface="Calibri" pitchFamily="34" charset="0"/>
                <a:ea typeface="Calibri" pitchFamily="34" charset="-122"/>
                <a:cs typeface="Calibri" pitchFamily="34" charset="-120"/>
              </a:rPr>
              <a:t>BO-07 Reduce manual effort — if validated (Could)</a:t>
            </a:r>
            <a:endParaRPr lang="en-US" sz="1150" dirty="0"/>
          </a:p>
        </p:txBody>
      </p:sp>
      <p:sp>
        <p:nvSpPr>
          <p:cNvPr id="6" name="Text 4"/>
          <p:cNvSpPr txBox="1"/>
          <p:nvPr/>
        </p:nvSpPr>
        <p:spPr>
          <a:xfrm>
            <a:off x="457200" y="3429000"/>
            <a:ext cx="5486400" cy="274320"/>
          </a:xfrm>
          <a:prstGeom prst="rect">
            <a:avLst/>
          </a:prstGeom>
          <a:noFill/>
          <a:ln/>
        </p:spPr>
        <p:txBody>
          <a:bodyPr wrap="square" lIns="0" tIns="0" rIns="0" bIns="0" rtlCol="0" anchor="t"/>
          <a:lstStyle/>
          <a:p>
            <a:pPr indent="0" marL="0">
              <a:buNone/>
            </a:pPr>
            <a:r>
              <a:rPr lang="en-US" sz="1300" b="1" dirty="0">
                <a:solidFill>
                  <a:srgbClr val="0B5D57"/>
                </a:solidFill>
                <a:latin typeface="Calibri" pitchFamily="34" charset="0"/>
                <a:ea typeface="Calibri" pitchFamily="34" charset="-122"/>
                <a:cs typeface="Calibri" pitchFamily="34" charset="-120"/>
              </a:rPr>
              <a:t>Business requirements</a:t>
            </a:r>
            <a:endParaRPr lang="en-US" sz="1300" dirty="0"/>
          </a:p>
        </p:txBody>
      </p:sp>
      <p:sp>
        <p:nvSpPr>
          <p:cNvPr id="7" name="Text 5"/>
          <p:cNvSpPr txBox="1"/>
          <p:nvPr/>
        </p:nvSpPr>
        <p:spPr>
          <a:xfrm>
            <a:off x="457200" y="3721608"/>
            <a:ext cx="5486400" cy="219456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D2A33"/>
                </a:solidFill>
                <a:latin typeface="Calibri" pitchFamily="34" charset="0"/>
                <a:ea typeface="Calibri" pitchFamily="34" charset="-122"/>
                <a:cs typeface="Calibri" pitchFamily="34" charset="-120"/>
              </a:rPr>
              <a:t>BR-01 Network monitoring (M) · BR-02 Maturity-aware comparison (M)</a:t>
            </a:r>
            <a:endParaRPr lang="en-US" sz="1150" dirty="0"/>
          </a:p>
          <a:p>
            <a:pPr marL="152400" indent="-152400">
              <a:spcAft>
                <a:spcPts val="300"/>
              </a:spcAft>
              <a:buSzPct val="100000"/>
              <a:buChar char="•"/>
            </a:pPr>
            <a:r>
              <a:rPr lang="en-US" sz="1150" dirty="0">
                <a:solidFill>
                  <a:srgbClr val="1D2A33"/>
                </a:solidFill>
                <a:latin typeface="Calibri" pitchFamily="34" charset="0"/>
                <a:ea typeface="Calibri" pitchFamily="34" charset="-122"/>
                <a:cs typeface="Calibri" pitchFamily="34" charset="-120"/>
              </a:rPr>
              <a:t>BR-03 Candidate factors to investigate (S) · BR-04 Governed KPIs (M)</a:t>
            </a:r>
            <a:endParaRPr lang="en-US" sz="1150" dirty="0"/>
          </a:p>
          <a:p>
            <a:pPr marL="152400" indent="-152400">
              <a:spcAft>
                <a:spcPts val="300"/>
              </a:spcAft>
              <a:buSzPct val="100000"/>
              <a:buChar char="•"/>
            </a:pPr>
            <a:r>
              <a:rPr lang="en-US" sz="1150" dirty="0">
                <a:solidFill>
                  <a:srgbClr val="1D2A33"/>
                </a:solidFill>
                <a:latin typeface="Calibri" pitchFamily="34" charset="0"/>
                <a:ea typeface="Calibri" pitchFamily="34" charset="-122"/>
                <a:cs typeface="Calibri" pitchFamily="34" charset="-120"/>
              </a:rPr>
              <a:t>BR-05 Visible data quality (M) · BR-06 Partner information (M)</a:t>
            </a:r>
            <a:endParaRPr lang="en-US" sz="1150" dirty="0"/>
          </a:p>
          <a:p>
            <a:pPr marL="152400" indent="-152400">
              <a:spcAft>
                <a:spcPts val="300"/>
              </a:spcAft>
              <a:buSzPct val="100000"/>
              <a:buChar char="•"/>
            </a:pPr>
            <a:r>
              <a:rPr lang="en-US" sz="1150" dirty="0">
                <a:solidFill>
                  <a:srgbClr val="1D2A33"/>
                </a:solidFill>
                <a:latin typeface="Calibri" pitchFamily="34" charset="0"/>
                <a:ea typeface="Calibri" pitchFamily="34" charset="-122"/>
                <a:cs typeface="Calibri" pitchFamily="34" charset="-120"/>
              </a:rPr>
              <a:t>BR-07 Regional patterns (S) · BR-08 Protect sensitive information (M)</a:t>
            </a:r>
            <a:endParaRPr lang="en-US" sz="1150" dirty="0"/>
          </a:p>
          <a:p>
            <a:pPr marL="152400" indent="-152400">
              <a:spcAft>
                <a:spcPts val="300"/>
              </a:spcAft>
              <a:buSzPct val="100000"/>
              <a:buChar char="•"/>
            </a:pPr>
            <a:r>
              <a:rPr lang="en-US" sz="1150" dirty="0">
                <a:solidFill>
                  <a:srgbClr val="1D2A33"/>
                </a:solidFill>
                <a:latin typeface="Calibri" pitchFamily="34" charset="0"/>
                <a:ea typeface="Calibri" pitchFamily="34" charset="-122"/>
                <a:cs typeface="Calibri" pitchFamily="34" charset="-120"/>
              </a:rPr>
              <a:t>BR-09 Support action (M) · BR-10 → constraint CON-01</a:t>
            </a:r>
            <a:endParaRPr lang="en-US" sz="1150" dirty="0"/>
          </a:p>
          <a:p>
            <a:pPr marL="152400" indent="-152400">
              <a:spcAft>
                <a:spcPts val="300"/>
              </a:spcAft>
              <a:buSzPct val="100000"/>
              <a:buChar char="•"/>
            </a:pPr>
            <a:r>
              <a:rPr lang="en-US" sz="1150" dirty="0">
                <a:solidFill>
                  <a:srgbClr val="1D2A33"/>
                </a:solidFill>
                <a:latin typeface="Calibri" pitchFamily="34" charset="0"/>
                <a:ea typeface="Calibri" pitchFamily="34" charset="-122"/>
                <a:cs typeface="Calibri" pitchFamily="34" charset="-120"/>
              </a:rPr>
              <a:t>BR-11 Access indicators (S) · BR-12 Reduce manual compilation (C)</a:t>
            </a:r>
            <a:endParaRPr lang="en-US" sz="1150" dirty="0"/>
          </a:p>
        </p:txBody>
      </p:sp>
      <p:sp>
        <p:nvSpPr>
          <p:cNvPr id="8" name="Text 6"/>
          <p:cNvSpPr txBox="1"/>
          <p:nvPr/>
        </p:nvSpPr>
        <p:spPr>
          <a:xfrm>
            <a:off x="6217920" y="1188720"/>
            <a:ext cx="5486400" cy="274320"/>
          </a:xfrm>
          <a:prstGeom prst="rect">
            <a:avLst/>
          </a:prstGeom>
          <a:noFill/>
          <a:ln/>
        </p:spPr>
        <p:txBody>
          <a:bodyPr wrap="square" lIns="0" tIns="0" rIns="0" bIns="0" rtlCol="0" anchor="t"/>
          <a:lstStyle/>
          <a:p>
            <a:pPr indent="0" marL="0">
              <a:buNone/>
            </a:pPr>
            <a:r>
              <a:rPr lang="en-US" sz="1300" b="1" dirty="0">
                <a:solidFill>
                  <a:srgbClr val="0B5D57"/>
                </a:solidFill>
                <a:latin typeface="Calibri" pitchFamily="34" charset="0"/>
                <a:ea typeface="Calibri" pitchFamily="34" charset="-122"/>
                <a:cs typeface="Calibri" pitchFamily="34" charset="-120"/>
              </a:rPr>
              <a:t>Functional requirements</a:t>
            </a:r>
            <a:endParaRPr lang="en-US" sz="1300" dirty="0"/>
          </a:p>
        </p:txBody>
      </p:sp>
      <p:sp>
        <p:nvSpPr>
          <p:cNvPr id="9" name="Text 7"/>
          <p:cNvSpPr txBox="1"/>
          <p:nvPr/>
        </p:nvSpPr>
        <p:spPr>
          <a:xfrm>
            <a:off x="6217920" y="1481328"/>
            <a:ext cx="5486400" cy="22402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D2A33"/>
                </a:solidFill>
                <a:latin typeface="Calibri" pitchFamily="34" charset="0"/>
                <a:ea typeface="Calibri" pitchFamily="34" charset="-122"/>
                <a:cs typeface="Calibri" pitchFamily="34" charset="-120"/>
              </a:rPr>
              <a:t>MVP: FR-01 overview · FR-02 filters · FR-03 maturity · FR-04 peers · FR-05 drill-through · FR-06 exceptions · FR-07 definitions · FR-08 data quality · FR-10 access · FR-13 ramp-up · FR-14 funnel · FR-15 prompts · FR-16 small groups</a:t>
            </a:r>
            <a:endParaRPr lang="en-US" sz="1100" dirty="0"/>
          </a:p>
          <a:p>
            <a:pPr marL="152400" indent="-152400">
              <a:spcAft>
                <a:spcPts val="400"/>
              </a:spcAft>
              <a:buSzPct val="100000"/>
              <a:buChar char="•"/>
            </a:pPr>
            <a:r>
              <a:rPr lang="en-US" sz="1100" dirty="0">
                <a:solidFill>
                  <a:srgbClr val="1D2A33"/>
                </a:solidFill>
                <a:latin typeface="Calibri" pitchFamily="34" charset="0"/>
                <a:ea typeface="Calibri" pitchFamily="34" charset="-122"/>
                <a:cs typeface="Calibri" pitchFamily="34" charset="-120"/>
              </a:rPr>
              <a:t>If low effort: FR-09 landing views · FR-11 exports · FR-12 persistent filters</a:t>
            </a:r>
            <a:endParaRPr lang="en-US" sz="1100" dirty="0"/>
          </a:p>
          <a:p>
            <a:pPr marL="152400" indent="-152400">
              <a:spcAft>
                <a:spcPts val="400"/>
              </a:spcAft>
              <a:buSzPct val="100000"/>
              <a:buChar char="•"/>
            </a:pPr>
            <a:r>
              <a:rPr lang="en-US" sz="1100" dirty="0">
                <a:solidFill>
                  <a:srgbClr val="1D2A33"/>
                </a:solidFill>
                <a:latin typeface="Calibri" pitchFamily="34" charset="0"/>
                <a:ea typeface="Calibri" pitchFamily="34" charset="-122"/>
                <a:cs typeface="Calibri" pitchFamily="34" charset="-120"/>
              </a:rPr>
              <a:t>Deferred: FR-17 annotations · FR-18 action log</a:t>
            </a:r>
            <a:endParaRPr lang="en-US" sz="1100" dirty="0"/>
          </a:p>
          <a:p>
            <a:pPr marL="152400" indent="-152400">
              <a:spcAft>
                <a:spcPts val="400"/>
              </a:spcAft>
              <a:buSzPct val="100000"/>
              <a:buChar char="•"/>
            </a:pPr>
            <a:r>
              <a:rPr lang="en-US" sz="1100" dirty="0">
                <a:solidFill>
                  <a:srgbClr val="1D2A33"/>
                </a:solidFill>
                <a:latin typeface="Calibri" pitchFamily="34" charset="0"/>
                <a:ea typeface="Calibri" pitchFamily="34" charset="-122"/>
                <a:cs typeface="Calibri" pitchFamily="34" charset="-120"/>
              </a:rPr>
              <a:t>Prototype status of each: feature-status-matrix.md (FR-10 simulated; FR-11 deferred)</a:t>
            </a:r>
            <a:endParaRPr lang="en-US" sz="1100" dirty="0"/>
          </a:p>
        </p:txBody>
      </p:sp>
      <p:sp>
        <p:nvSpPr>
          <p:cNvPr id="10" name="Text 8"/>
          <p:cNvSpPr txBox="1"/>
          <p:nvPr/>
        </p:nvSpPr>
        <p:spPr>
          <a:xfrm>
            <a:off x="6217920" y="3749040"/>
            <a:ext cx="5486400" cy="274320"/>
          </a:xfrm>
          <a:prstGeom prst="rect">
            <a:avLst/>
          </a:prstGeom>
          <a:noFill/>
          <a:ln/>
        </p:spPr>
        <p:txBody>
          <a:bodyPr wrap="square" lIns="0" tIns="0" rIns="0" bIns="0" rtlCol="0" anchor="t"/>
          <a:lstStyle/>
          <a:p>
            <a:pPr indent="0" marL="0">
              <a:buNone/>
            </a:pPr>
            <a:r>
              <a:rPr lang="en-US" sz="1300" b="1" dirty="0">
                <a:solidFill>
                  <a:srgbClr val="0B5D57"/>
                </a:solidFill>
                <a:latin typeface="Calibri" pitchFamily="34" charset="0"/>
                <a:ea typeface="Calibri" pitchFamily="34" charset="-122"/>
                <a:cs typeface="Calibri" pitchFamily="34" charset="-120"/>
              </a:rPr>
              <a:t>Non-functional, data, privacy and security (targets illustrative)</a:t>
            </a:r>
            <a:endParaRPr lang="en-US" sz="1300" dirty="0"/>
          </a:p>
        </p:txBody>
      </p:sp>
      <p:sp>
        <p:nvSpPr>
          <p:cNvPr id="11" name="Text 9"/>
          <p:cNvSpPr txBox="1"/>
          <p:nvPr/>
        </p:nvSpPr>
        <p:spPr>
          <a:xfrm>
            <a:off x="6217920" y="4041648"/>
            <a:ext cx="5486400" cy="22860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D2A33"/>
                </a:solidFill>
                <a:latin typeface="Calibri" pitchFamily="34" charset="0"/>
                <a:ea typeface="Calibri" pitchFamily="34" charset="-122"/>
                <a:cs typeface="Calibri" pitchFamily="34" charset="-120"/>
              </a:rPr>
              <a:t>NFR-01–08: ≤5 s interactions · weekly refresh · 99% availability · WCAG 2.1 AA target · SUS ≥70 · 400-store scale · supportability · mobile</a:t>
            </a:r>
            <a:endParaRPr lang="en-US" sz="1050" dirty="0"/>
          </a:p>
          <a:p>
            <a:pPr marL="152400" indent="-152400">
              <a:spcAft>
                <a:spcPts val="400"/>
              </a:spcAft>
              <a:buSzPct val="100000"/>
              <a:buChar char="•"/>
            </a:pPr>
            <a:r>
              <a:rPr lang="en-US" sz="1050" dirty="0">
                <a:solidFill>
                  <a:srgbClr val="1D2A33"/>
                </a:solidFill>
                <a:latin typeface="Calibri" pitchFamily="34" charset="0"/>
                <a:ea typeface="Calibri" pitchFamily="34" charset="-122"/>
                <a:cs typeface="Calibri" pitchFamily="34" charset="-120"/>
              </a:rPr>
              <a:t>DR-01–10: lineage · versioning · retention · completeness · freshness · store-week grain · store master · reconciliation · null vs zero · as-at-week cohort</a:t>
            </a:r>
            <a:endParaRPr lang="en-US" sz="1050" dirty="0"/>
          </a:p>
          <a:p>
            <a:pPr marL="152400" indent="-152400">
              <a:spcAft>
                <a:spcPts val="400"/>
              </a:spcAft>
              <a:buSzPct val="100000"/>
              <a:buChar char="•"/>
            </a:pPr>
            <a:r>
              <a:rPr lang="en-US" sz="1050" dirty="0">
                <a:solidFill>
                  <a:srgbClr val="1D2A33"/>
                </a:solidFill>
                <a:latin typeface="Calibri" pitchFamily="34" charset="0"/>
                <a:ea typeface="Calibri" pitchFamily="34" charset="-122"/>
                <a:cs typeface="Calibri" pitchFamily="34" charset="-120"/>
              </a:rPr>
              <a:t>PR-01–08: no identifiers or diagnoses · peer floor 5 · small-count rule v0.2 · no individual performance · privacy review · partner confidentiality · synthetic non-production</a:t>
            </a:r>
            <a:endParaRPr lang="en-US" sz="1050" dirty="0"/>
          </a:p>
          <a:p>
            <a:pPr marL="152400" indent="-152400">
              <a:spcAft>
                <a:spcPts val="400"/>
              </a:spcAft>
              <a:buSzPct val="100000"/>
              <a:buChar char="•"/>
            </a:pPr>
            <a:r>
              <a:rPr lang="en-US" sz="1050" dirty="0">
                <a:solidFill>
                  <a:srgbClr val="1D2A33"/>
                </a:solidFill>
                <a:latin typeface="Calibri" pitchFamily="34" charset="0"/>
                <a:ea typeface="Calibri" pitchFamily="34" charset="-122"/>
                <a:cs typeface="Calibri" pitchFamily="34" charset="-120"/>
              </a:rPr>
              <a:t>SR-01–08: least privilege · RLS · OLS · audit · export limits · recertification · SSO/MFA · environments (specified, not built)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APPENDIX A5</a:t>
            </a:r>
            <a:endParaRPr lang="en-US" sz="1100" dirty="0"/>
          </a:p>
        </p:txBody>
      </p:sp>
      <p:sp>
        <p:nvSpPr>
          <p:cNvPr id="3" name="Text 1"/>
          <p:cNvSpPr txBox="1"/>
          <p:nvPr/>
        </p:nvSpPr>
        <p:spPr>
          <a:xfrm>
            <a:off x="457200" y="512064"/>
            <a:ext cx="11247120" cy="548640"/>
          </a:xfrm>
          <a:prstGeom prst="rect">
            <a:avLst/>
          </a:prstGeom>
          <a:noFill/>
          <a:ln/>
        </p:spPr>
        <p:txBody>
          <a:bodyPr wrap="square" lIns="0" tIns="0" rIns="0" bIns="0" rtlCol="0" anchor="t"/>
          <a:lstStyle/>
          <a:p>
            <a:pPr indent="0" marL="0">
              <a:buNone/>
            </a:pPr>
            <a:r>
              <a:rPr lang="en-US" sz="2400" b="1" dirty="0">
                <a:solidFill>
                  <a:srgbClr val="1D2A33"/>
                </a:solidFill>
                <a:latin typeface="Cambria" pitchFamily="34" charset="0"/>
                <a:ea typeface="Cambria" pitchFamily="34" charset="-122"/>
                <a:cs typeface="Cambria" pitchFamily="34" charset="-120"/>
              </a:rPr>
              <a:t>KPI dictionary v0.2 (proposed definitions — not Specsavers definitions)</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777240"/>
                <a:gridCol w="1965960"/>
                <a:gridCol w="4023360"/>
                <a:gridCol w="1417320"/>
                <a:gridCol w="3090672"/>
              </a:tblGrid>
              <a:tr h="384048">
                <a:tc>
                  <a:txBody>
                    <a:bodyPr/>
                    <a:lstStyle/>
                    <a:p>
                      <a:pPr indent="0" marL="0">
                        <a:buNone/>
                      </a:pPr>
                      <a:r>
                        <a:rPr lang="en-US" sz="980" b="1" dirty="0">
                          <a:solidFill>
                            <a:srgbClr val="FFFFFF"/>
                          </a:solidFill>
                          <a:latin typeface="Calibri" pitchFamily="34" charset="0"/>
                          <a:ea typeface="Calibri" pitchFamily="34" charset="-122"/>
                          <a:cs typeface="Calibri" pitchFamily="34" charset="-120"/>
                        </a:rPr>
                        <a:t>ID</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80" b="1" dirty="0">
                          <a:solidFill>
                            <a:srgbClr val="FFFFFF"/>
                          </a:solidFill>
                          <a:latin typeface="Calibri" pitchFamily="34" charset="0"/>
                          <a:ea typeface="Calibri" pitchFamily="34" charset="-122"/>
                          <a:cs typeface="Calibri" pitchFamily="34" charset="-120"/>
                        </a:rPr>
                        <a:t>KPI</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80" b="1" dirty="0">
                          <a:solidFill>
                            <a:srgbClr val="FFFFFF"/>
                          </a:solidFill>
                          <a:latin typeface="Calibri" pitchFamily="34" charset="0"/>
                          <a:ea typeface="Calibri" pitchFamily="34" charset="-122"/>
                          <a:cs typeface="Calibri" pitchFamily="34" charset="-120"/>
                        </a:rPr>
                        <a:t>Formula (store-week; re-aggregated from sums)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80" b="1" dirty="0">
                          <a:solidFill>
                            <a:srgbClr val="FFFFFF"/>
                          </a:solidFill>
                          <a:latin typeface="Calibri" pitchFamily="34" charset="0"/>
                          <a:ea typeface="Calibri" pitchFamily="34" charset="-122"/>
                          <a:cs typeface="Calibri" pitchFamily="34" charset="-120"/>
                        </a:rPr>
                        <a:t>Proposed owner</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80" b="1" dirty="0">
                          <a:solidFill>
                            <a:srgbClr val="FFFFFF"/>
                          </a:solidFill>
                          <a:latin typeface="Calibri" pitchFamily="34" charset="0"/>
                          <a:ea typeface="Calibri" pitchFamily="34" charset="-122"/>
                          <a:cs typeface="Calibri" pitchFamily="34" charset="-120"/>
                        </a:rPr>
                        <a:t>Key rule</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KPI-01</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Available capacity</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Σ bookable exam slots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Retail Ops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Excludes blocked or closed slots; null ≠ 0</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KPI-02</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Appointment utilization</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(Booked − cancelled) ÷ slots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Retail Ops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No-shows count as held</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KPI-03</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Attendance rate</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Completed ÷ (booked − cancelled)</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Retail Ops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Unrecorded statuses shown, not hidden</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KPI-04</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Completed examinations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Count of completed exam appointments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Clinical Services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No clinician dimension</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KPI-05</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Exam-to-purchase conversion</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Distinct exam-linked purchasers (≤30 days) ÷ completed</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Retail Ops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Customers, not transactions; linkage upstream</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KPI-06</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Revenue per completed exam</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Net eligible eyewear revenue ÷ completed</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Finance</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Context only; restricted; negative weeks valid</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KPI-07</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Average order turnaround</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Σ (ready − placed days) ÷ orders ready</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Supply Chain</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Prototype assumes all placed orders ready</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KPI-08</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On-time fulfilment</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Ready by promised date ÷ orders placed</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Supply Chain</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Excludes cancelled orders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KPI-09</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Recall-booking rate</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Recall bookings (≤30 days) ÷ recall contacts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Marketing</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n/a before programme; 1–4 shown as &lt;5</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KPI-10</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Store ramp index</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100 × store 4-week exams ÷ median of peers at same weeks since opening</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Retail Ops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≥5 peers; trigger &lt;80 for 4 weeks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KPI-11</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Data completeness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Mean of per-source received ÷ expected (equal weight)</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Governance</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≥98 Green · 90–98 Amber · &lt;90 Red</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KPI-12</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Data freshness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Current / Delayed / Stale by load age</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Data team</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80" dirty="0">
                          <a:solidFill>
                            <a:srgbClr val="1D2A33"/>
                          </a:solidFill>
                          <a:latin typeface="Calibri" pitchFamily="34" charset="0"/>
                          <a:ea typeface="Calibri" pitchFamily="34" charset="-122"/>
                          <a:cs typeface="Calibri" pitchFamily="34" charset="-120"/>
                        </a:rPr>
                        <a:t>Worst source wins; Stale withholds</a:t>
                      </a:r>
                      <a:endParaRPr lang="en-US" sz="98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bl>
          </a:graphicData>
        </a:graphic>
      </p:graphicFrame>
      <p:sp>
        <p:nvSpPr>
          <p:cNvPr id="5" name="Text 2"/>
          <p:cNvSpPr txBox="1"/>
          <p:nvPr/>
        </p:nvSpPr>
        <p:spPr>
          <a:xfrm>
            <a:off x="457200" y="6419088"/>
            <a:ext cx="11247120" cy="292608"/>
          </a:xfrm>
          <a:prstGeom prst="rect">
            <a:avLst/>
          </a:prstGeom>
          <a:noFill/>
          <a:ln/>
        </p:spPr>
        <p:txBody>
          <a:bodyPr wrap="square" lIns="0" tIns="0" rIns="0" bIns="0" rtlCol="0" anchor="t"/>
          <a:lstStyle/>
          <a:p>
            <a:pPr indent="0" marL="0">
              <a:buNone/>
            </a:pPr>
            <a:r>
              <a:rPr lang="en-US" sz="900" dirty="0">
                <a:solidFill>
                  <a:srgbClr val="56656F"/>
                </a:solidFill>
                <a:latin typeface="Calibri" pitchFamily="34" charset="0"/>
                <a:ea typeface="Calibri" pitchFamily="34" charset="-122"/>
                <a:cs typeface="Calibri" pitchFamily="34" charset="-120"/>
              </a:rPr>
              <a:t>All rates: 4 calendar weeks ending the selected week, ≥3 usable weeks, unavailable if the selected week is Red. Cohorts: New 0–26 · Developing 27–104 · Mature 105+ weeks. Change log: phase-06-kpi-dictionary.md.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APPENDIX A6</a:t>
            </a:r>
            <a:endParaRPr lang="en-US" sz="1100" dirty="0"/>
          </a:p>
        </p:txBody>
      </p:sp>
      <p:sp>
        <p:nvSpPr>
          <p:cNvPr id="3" name="Text 1"/>
          <p:cNvSpPr txBox="1"/>
          <p:nvPr/>
        </p:nvSpPr>
        <p:spPr>
          <a:xfrm>
            <a:off x="457200" y="512064"/>
            <a:ext cx="11247120" cy="548640"/>
          </a:xfrm>
          <a:prstGeom prst="rect">
            <a:avLst/>
          </a:prstGeom>
          <a:noFill/>
          <a:ln/>
        </p:spPr>
        <p:txBody>
          <a:bodyPr wrap="square" lIns="0" tIns="0" rIns="0" bIns="0" rtlCol="0" anchor="t"/>
          <a:lstStyle/>
          <a:p>
            <a:pPr indent="0" marL="0">
              <a:buNone/>
            </a:pPr>
            <a:r>
              <a:rPr lang="en-US" sz="2400" b="1" dirty="0">
                <a:solidFill>
                  <a:srgbClr val="1D2A33"/>
                </a:solidFill>
                <a:latin typeface="Cambria" pitchFamily="34" charset="0"/>
                <a:ea typeface="Cambria" pitchFamily="34" charset="-122"/>
                <a:cs typeface="Cambria" pitchFamily="34" charset="-120"/>
              </a:rPr>
              <a:t>Conceptual data model — star schema with as-at-week cohort</a:t>
            </a:r>
            <a:endParaRPr lang="en-US" sz="2400" dirty="0"/>
          </a:p>
        </p:txBody>
      </p:sp>
      <p:sp>
        <p:nvSpPr>
          <p:cNvPr id="4" name="Text 2"/>
          <p:cNvSpPr txBox="1"/>
          <p:nvPr/>
        </p:nvSpPr>
        <p:spPr>
          <a:xfrm>
            <a:off x="10332720" y="329184"/>
            <a:ext cx="1024128" cy="228600"/>
          </a:xfrm>
          <a:prstGeom prst="roundRect">
            <a:avLst>
              <a:gd name="adj" fmla="val 40000"/>
            </a:avLst>
          </a:prstGeom>
          <a:solidFill>
            <a:srgbClr val="8A5300"/>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ASSUMPTION</a:t>
            </a:r>
            <a:endParaRPr lang="en-US" sz="900" dirty="0"/>
          </a:p>
        </p:txBody>
      </p:sp>
      <p:sp>
        <p:nvSpPr>
          <p:cNvPr id="5" name="Shape 3"/>
          <p:cNvSpPr/>
          <p:nvPr/>
        </p:nvSpPr>
        <p:spPr>
          <a:xfrm>
            <a:off x="457200" y="1280160"/>
            <a:ext cx="3200400" cy="1005840"/>
          </a:xfrm>
          <a:prstGeom prst="roundRect">
            <a:avLst>
              <a:gd name="adj" fmla="val 7273"/>
            </a:avLst>
          </a:prstGeom>
          <a:solidFill>
            <a:srgbClr val="E3EFED"/>
          </a:solidFill>
          <a:ln/>
        </p:spPr>
      </p:sp>
      <p:sp>
        <p:nvSpPr>
          <p:cNvPr id="6" name="Text 4"/>
          <p:cNvSpPr txBox="1"/>
          <p:nvPr/>
        </p:nvSpPr>
        <p:spPr>
          <a:xfrm>
            <a:off x="594360" y="1371600"/>
            <a:ext cx="2926080" cy="868680"/>
          </a:xfrm>
          <a:prstGeom prst="rect">
            <a:avLst/>
          </a:prstGeom>
          <a:noFill/>
          <a:ln/>
        </p:spPr>
        <p:txBody>
          <a:bodyPr wrap="square" lIns="0" tIns="0" rIns="0" bIns="0" rtlCol="0" anchor="t"/>
          <a:lstStyle/>
          <a:p>
            <a:pPr indent="0" marL="0">
              <a:buNone/>
            </a:pPr>
            <a:r>
              <a:rPr lang="en-US" sz="1200" b="1" dirty="0">
                <a:solidFill>
                  <a:srgbClr val="1D2A33"/>
                </a:solidFill>
                <a:latin typeface="Calibri" pitchFamily="34" charset="0"/>
                <a:ea typeface="Calibri" pitchFamily="34" charset="-122"/>
                <a:cs typeface="Calibri" pitchFamily="34" charset="-120"/>
              </a:rPr>
              <a:t>DIM_STORE</a:t>
            </a:r>
            <a:endParaRPr lang="en-US" sz="1200" dirty="0"/>
          </a:p>
          <a:p>
            <a:pPr indent="0" marL="0">
              <a:buNone/>
            </a:pPr>
            <a:r>
              <a:rPr lang="en-US" sz="1050" dirty="0">
                <a:solidFill>
                  <a:srgbClr val="56656F"/>
                </a:solidFill>
                <a:latin typeface="Calibri" pitchFamily="34" charset="0"/>
                <a:ea typeface="Calibri" pitchFamily="34" charset="-122"/>
                <a:cs typeface="Calibri" pitchFamily="34" charset="-120"/>
              </a:rPr>
              <a:t>store_id · format · host banner · opening date and type · effective dates</a:t>
            </a:r>
            <a:endParaRPr lang="en-US" sz="1200" dirty="0"/>
          </a:p>
        </p:txBody>
      </p:sp>
      <p:sp>
        <p:nvSpPr>
          <p:cNvPr id="7" name="Shape 5"/>
          <p:cNvSpPr/>
          <p:nvPr/>
        </p:nvSpPr>
        <p:spPr>
          <a:xfrm>
            <a:off x="8531352" y="1280160"/>
            <a:ext cx="3200400" cy="1005840"/>
          </a:xfrm>
          <a:prstGeom prst="roundRect">
            <a:avLst>
              <a:gd name="adj" fmla="val 7273"/>
            </a:avLst>
          </a:prstGeom>
          <a:solidFill>
            <a:srgbClr val="E3EFED"/>
          </a:solidFill>
          <a:ln/>
        </p:spPr>
      </p:sp>
      <p:sp>
        <p:nvSpPr>
          <p:cNvPr id="8" name="Text 6"/>
          <p:cNvSpPr txBox="1"/>
          <p:nvPr/>
        </p:nvSpPr>
        <p:spPr>
          <a:xfrm>
            <a:off x="8668512" y="1371600"/>
            <a:ext cx="2926080" cy="868680"/>
          </a:xfrm>
          <a:prstGeom prst="rect">
            <a:avLst/>
          </a:prstGeom>
          <a:noFill/>
          <a:ln/>
        </p:spPr>
        <p:txBody>
          <a:bodyPr wrap="square" lIns="0" tIns="0" rIns="0" bIns="0" rtlCol="0" anchor="t"/>
          <a:lstStyle/>
          <a:p>
            <a:pPr indent="0" marL="0">
              <a:buNone/>
            </a:pPr>
            <a:r>
              <a:rPr lang="en-US" sz="1200" b="1" dirty="0">
                <a:solidFill>
                  <a:srgbClr val="1D2A33"/>
                </a:solidFill>
                <a:latin typeface="Calibri" pitchFamily="34" charset="0"/>
                <a:ea typeface="Calibri" pitchFamily="34" charset="-122"/>
                <a:cs typeface="Calibri" pitchFamily="34" charset="-120"/>
              </a:rPr>
              <a:t>DIM_DATE</a:t>
            </a:r>
            <a:endParaRPr lang="en-US" sz="1200" dirty="0"/>
          </a:p>
          <a:p>
            <a:pPr indent="0" marL="0">
              <a:buNone/>
            </a:pPr>
            <a:r>
              <a:rPr lang="en-US" sz="1050" dirty="0">
                <a:solidFill>
                  <a:srgbClr val="56656F"/>
                </a:solidFill>
                <a:latin typeface="Calibri" pitchFamily="34" charset="0"/>
                <a:ea typeface="Calibri" pitchFamily="34" charset="-122"/>
                <a:cs typeface="Calibri" pitchFamily="34" charset="-120"/>
              </a:rPr>
              <a:t>contiguous daily calendar · week start · published flag</a:t>
            </a:r>
            <a:endParaRPr lang="en-US" sz="1200" dirty="0"/>
          </a:p>
        </p:txBody>
      </p:sp>
      <p:sp>
        <p:nvSpPr>
          <p:cNvPr id="9" name="Shape 7"/>
          <p:cNvSpPr/>
          <p:nvPr/>
        </p:nvSpPr>
        <p:spPr>
          <a:xfrm>
            <a:off x="457200" y="4983480"/>
            <a:ext cx="3200400" cy="1005840"/>
          </a:xfrm>
          <a:prstGeom prst="roundRect">
            <a:avLst>
              <a:gd name="adj" fmla="val 7273"/>
            </a:avLst>
          </a:prstGeom>
          <a:solidFill>
            <a:srgbClr val="E3EFED"/>
          </a:solidFill>
          <a:ln/>
        </p:spPr>
      </p:sp>
      <p:sp>
        <p:nvSpPr>
          <p:cNvPr id="10" name="Text 8"/>
          <p:cNvSpPr txBox="1"/>
          <p:nvPr/>
        </p:nvSpPr>
        <p:spPr>
          <a:xfrm>
            <a:off x="594360" y="5074920"/>
            <a:ext cx="2926080" cy="868680"/>
          </a:xfrm>
          <a:prstGeom prst="rect">
            <a:avLst/>
          </a:prstGeom>
          <a:noFill/>
          <a:ln/>
        </p:spPr>
        <p:txBody>
          <a:bodyPr wrap="square" lIns="0" tIns="0" rIns="0" bIns="0" rtlCol="0" anchor="t"/>
          <a:lstStyle/>
          <a:p>
            <a:pPr indent="0" marL="0">
              <a:buNone/>
            </a:pPr>
            <a:r>
              <a:rPr lang="en-US" sz="1200" b="1" dirty="0">
                <a:solidFill>
                  <a:srgbClr val="1D2A33"/>
                </a:solidFill>
                <a:latin typeface="Calibri" pitchFamily="34" charset="0"/>
                <a:ea typeface="Calibri" pitchFamily="34" charset="-122"/>
                <a:cs typeface="Calibri" pitchFamily="34" charset="-120"/>
              </a:rPr>
              <a:t>DIM_GEOGRAPHY</a:t>
            </a:r>
            <a:endParaRPr lang="en-US" sz="1200" dirty="0"/>
          </a:p>
          <a:p>
            <a:pPr indent="0" marL="0">
              <a:buNone/>
            </a:pPr>
            <a:r>
              <a:rPr lang="en-US" sz="1050" dirty="0">
                <a:solidFill>
                  <a:srgbClr val="56656F"/>
                </a:solidFill>
                <a:latin typeface="Calibri" pitchFamily="34" charset="0"/>
                <a:ea typeface="Calibri" pitchFamily="34" charset="-122"/>
                <a:cs typeface="Calibri" pitchFamily="34" charset="-120"/>
              </a:rPr>
              <a:t>province · region (effective-dated)</a:t>
            </a:r>
            <a:endParaRPr lang="en-US" sz="1200" dirty="0"/>
          </a:p>
        </p:txBody>
      </p:sp>
      <p:sp>
        <p:nvSpPr>
          <p:cNvPr id="11" name="Shape 9"/>
          <p:cNvSpPr/>
          <p:nvPr/>
        </p:nvSpPr>
        <p:spPr>
          <a:xfrm>
            <a:off x="8531352" y="4983480"/>
            <a:ext cx="3200400" cy="1005840"/>
          </a:xfrm>
          <a:prstGeom prst="roundRect">
            <a:avLst>
              <a:gd name="adj" fmla="val 7273"/>
            </a:avLst>
          </a:prstGeom>
          <a:solidFill>
            <a:srgbClr val="E3EFED"/>
          </a:solidFill>
          <a:ln/>
        </p:spPr>
      </p:sp>
      <p:sp>
        <p:nvSpPr>
          <p:cNvPr id="12" name="Text 10"/>
          <p:cNvSpPr txBox="1"/>
          <p:nvPr/>
        </p:nvSpPr>
        <p:spPr>
          <a:xfrm>
            <a:off x="8668512" y="5074920"/>
            <a:ext cx="2926080" cy="868680"/>
          </a:xfrm>
          <a:prstGeom prst="rect">
            <a:avLst/>
          </a:prstGeom>
          <a:noFill/>
          <a:ln/>
        </p:spPr>
        <p:txBody>
          <a:bodyPr wrap="square" lIns="0" tIns="0" rIns="0" bIns="0" rtlCol="0" anchor="t"/>
          <a:lstStyle/>
          <a:p>
            <a:pPr indent="0" marL="0">
              <a:buNone/>
            </a:pPr>
            <a:r>
              <a:rPr lang="en-US" sz="1200" b="1" dirty="0">
                <a:solidFill>
                  <a:srgbClr val="1D2A33"/>
                </a:solidFill>
                <a:latin typeface="Calibri" pitchFamily="34" charset="0"/>
                <a:ea typeface="Calibri" pitchFamily="34" charset="-122"/>
                <a:cs typeface="Calibri" pitchFamily="34" charset="-120"/>
              </a:rPr>
              <a:t>DIM_MATURITY_COHORT</a:t>
            </a:r>
            <a:endParaRPr lang="en-US" sz="1200" dirty="0"/>
          </a:p>
          <a:p>
            <a:pPr indent="0" marL="0">
              <a:buNone/>
            </a:pPr>
            <a:r>
              <a:rPr lang="en-US" sz="1050" dirty="0">
                <a:solidFill>
                  <a:srgbClr val="56656F"/>
                </a:solidFill>
                <a:latin typeface="Calibri" pitchFamily="34" charset="0"/>
                <a:ea typeface="Calibri" pitchFamily="34" charset="-122"/>
                <a:cs typeface="Calibri" pitchFamily="34" charset="-120"/>
              </a:rPr>
              <a:t>New / Developing / Mature / Unclassified · version</a:t>
            </a:r>
            <a:endParaRPr lang="en-US" sz="1200" dirty="0"/>
          </a:p>
        </p:txBody>
      </p:sp>
      <p:sp>
        <p:nvSpPr>
          <p:cNvPr id="13" name="Shape 11"/>
          <p:cNvSpPr/>
          <p:nvPr/>
        </p:nvSpPr>
        <p:spPr>
          <a:xfrm>
            <a:off x="3931920" y="2331720"/>
            <a:ext cx="2103120" cy="585216"/>
          </a:xfrm>
          <a:prstGeom prst="roundRect">
            <a:avLst>
              <a:gd name="adj" fmla="val 12500"/>
            </a:avLst>
          </a:prstGeom>
          <a:solidFill>
            <a:srgbClr val="0B5D57"/>
          </a:solidFill>
          <a:ln/>
        </p:spPr>
      </p:sp>
      <p:sp>
        <p:nvSpPr>
          <p:cNvPr id="14" name="Text 12"/>
          <p:cNvSpPr txBox="1"/>
          <p:nvPr/>
        </p:nvSpPr>
        <p:spPr>
          <a:xfrm>
            <a:off x="4023360" y="2386584"/>
            <a:ext cx="1920240" cy="493776"/>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FACT_APPOINTMENT</a:t>
            </a:r>
            <a:endParaRPr lang="en-US" sz="1050" dirty="0"/>
          </a:p>
          <a:p>
            <a:pPr indent="0" marL="0">
              <a:buNone/>
            </a:pPr>
            <a:r>
              <a:rPr lang="en-US" sz="1000" dirty="0">
                <a:solidFill>
                  <a:srgbClr val="FFFFFF"/>
                </a:solidFill>
                <a:latin typeface="Calibri" pitchFamily="34" charset="0"/>
                <a:ea typeface="Calibri" pitchFamily="34" charset="-122"/>
                <a:cs typeface="Calibri" pitchFamily="34" charset="-120"/>
              </a:rPr>
              <a:t>store × week</a:t>
            </a:r>
            <a:endParaRPr lang="en-US" sz="1050" dirty="0"/>
          </a:p>
        </p:txBody>
      </p:sp>
      <p:sp>
        <p:nvSpPr>
          <p:cNvPr id="15" name="Shape 13"/>
          <p:cNvSpPr/>
          <p:nvPr/>
        </p:nvSpPr>
        <p:spPr>
          <a:xfrm>
            <a:off x="6126480" y="2331720"/>
            <a:ext cx="2103120" cy="585216"/>
          </a:xfrm>
          <a:prstGeom prst="roundRect">
            <a:avLst>
              <a:gd name="adj" fmla="val 12500"/>
            </a:avLst>
          </a:prstGeom>
          <a:solidFill>
            <a:srgbClr val="0B5D57"/>
          </a:solidFill>
          <a:ln/>
        </p:spPr>
      </p:sp>
      <p:sp>
        <p:nvSpPr>
          <p:cNvPr id="16" name="Text 14"/>
          <p:cNvSpPr txBox="1"/>
          <p:nvPr/>
        </p:nvSpPr>
        <p:spPr>
          <a:xfrm>
            <a:off x="6217920" y="2386584"/>
            <a:ext cx="1920240" cy="493776"/>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FACT_EXAMINATION</a:t>
            </a:r>
            <a:endParaRPr lang="en-US" sz="1050" dirty="0"/>
          </a:p>
          <a:p>
            <a:pPr indent="0" marL="0">
              <a:buNone/>
            </a:pPr>
            <a:r>
              <a:rPr lang="en-US" sz="1000" dirty="0">
                <a:solidFill>
                  <a:srgbClr val="FFFFFF"/>
                </a:solidFill>
                <a:latin typeface="Calibri" pitchFamily="34" charset="0"/>
                <a:ea typeface="Calibri" pitchFamily="34" charset="-122"/>
                <a:cs typeface="Calibri" pitchFamily="34" charset="-120"/>
              </a:rPr>
              <a:t>store × week</a:t>
            </a:r>
            <a:endParaRPr lang="en-US" sz="1050" dirty="0"/>
          </a:p>
        </p:txBody>
      </p:sp>
      <p:sp>
        <p:nvSpPr>
          <p:cNvPr id="17" name="Shape 15"/>
          <p:cNvSpPr/>
          <p:nvPr/>
        </p:nvSpPr>
        <p:spPr>
          <a:xfrm>
            <a:off x="3931920" y="2990088"/>
            <a:ext cx="2103120" cy="585216"/>
          </a:xfrm>
          <a:prstGeom prst="roundRect">
            <a:avLst>
              <a:gd name="adj" fmla="val 12500"/>
            </a:avLst>
          </a:prstGeom>
          <a:solidFill>
            <a:srgbClr val="0B5D57"/>
          </a:solidFill>
          <a:ln/>
        </p:spPr>
      </p:sp>
      <p:sp>
        <p:nvSpPr>
          <p:cNvPr id="18" name="Text 16"/>
          <p:cNvSpPr txBox="1"/>
          <p:nvPr/>
        </p:nvSpPr>
        <p:spPr>
          <a:xfrm>
            <a:off x="4023360" y="3044952"/>
            <a:ext cx="1920240" cy="493776"/>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FACT_EXAM_CONVERSION</a:t>
            </a:r>
            <a:endParaRPr lang="en-US" sz="1050" dirty="0"/>
          </a:p>
          <a:p>
            <a:pPr indent="0" marL="0">
              <a:buNone/>
            </a:pPr>
            <a:r>
              <a:rPr lang="en-US" sz="1000" dirty="0">
                <a:solidFill>
                  <a:srgbClr val="FFFFFF"/>
                </a:solidFill>
                <a:latin typeface="Calibri" pitchFamily="34" charset="0"/>
                <a:ea typeface="Calibri" pitchFamily="34" charset="-122"/>
                <a:cs typeface="Calibri" pitchFamily="34" charset="-120"/>
              </a:rPr>
              <a:t>store × exam week</a:t>
            </a:r>
            <a:endParaRPr lang="en-US" sz="1050" dirty="0"/>
          </a:p>
        </p:txBody>
      </p:sp>
      <p:sp>
        <p:nvSpPr>
          <p:cNvPr id="19" name="Shape 17"/>
          <p:cNvSpPr/>
          <p:nvPr/>
        </p:nvSpPr>
        <p:spPr>
          <a:xfrm>
            <a:off x="6126480" y="2990088"/>
            <a:ext cx="2103120" cy="585216"/>
          </a:xfrm>
          <a:prstGeom prst="roundRect">
            <a:avLst>
              <a:gd name="adj" fmla="val 12500"/>
            </a:avLst>
          </a:prstGeom>
          <a:solidFill>
            <a:srgbClr val="0B5D57"/>
          </a:solidFill>
          <a:ln/>
        </p:spPr>
      </p:sp>
      <p:sp>
        <p:nvSpPr>
          <p:cNvPr id="20" name="Text 18"/>
          <p:cNvSpPr txBox="1"/>
          <p:nvPr/>
        </p:nvSpPr>
        <p:spPr>
          <a:xfrm>
            <a:off x="6217920" y="3044952"/>
            <a:ext cx="1920240" cy="493776"/>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FACT_SALES_REVENUE</a:t>
            </a:r>
            <a:endParaRPr lang="en-US" sz="1050" dirty="0"/>
          </a:p>
          <a:p>
            <a:pPr indent="0" marL="0">
              <a:buNone/>
            </a:pPr>
            <a:r>
              <a:rPr lang="en-US" sz="1000" dirty="0">
                <a:solidFill>
                  <a:srgbClr val="FFFFFF"/>
                </a:solidFill>
                <a:latin typeface="Calibri" pitchFamily="34" charset="0"/>
                <a:ea typeface="Calibri" pitchFamily="34" charset="-122"/>
                <a:cs typeface="Calibri" pitchFamily="34" charset="-120"/>
              </a:rPr>
              <a:t>store × transaction week</a:t>
            </a:r>
            <a:endParaRPr lang="en-US" sz="1050" dirty="0"/>
          </a:p>
        </p:txBody>
      </p:sp>
      <p:sp>
        <p:nvSpPr>
          <p:cNvPr id="21" name="Shape 19"/>
          <p:cNvSpPr/>
          <p:nvPr/>
        </p:nvSpPr>
        <p:spPr>
          <a:xfrm>
            <a:off x="3931920" y="3648456"/>
            <a:ext cx="2103120" cy="585216"/>
          </a:xfrm>
          <a:prstGeom prst="roundRect">
            <a:avLst>
              <a:gd name="adj" fmla="val 12500"/>
            </a:avLst>
          </a:prstGeom>
          <a:solidFill>
            <a:srgbClr val="0B5D57"/>
          </a:solidFill>
          <a:ln/>
        </p:spPr>
      </p:sp>
      <p:sp>
        <p:nvSpPr>
          <p:cNvPr id="22" name="Text 20"/>
          <p:cNvSpPr txBox="1"/>
          <p:nvPr/>
        </p:nvSpPr>
        <p:spPr>
          <a:xfrm>
            <a:off x="4023360" y="3703320"/>
            <a:ext cx="1920240" cy="493776"/>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FACT_ORDER_FULFILMENT</a:t>
            </a:r>
            <a:endParaRPr lang="en-US" sz="1050" dirty="0"/>
          </a:p>
          <a:p>
            <a:pPr indent="0" marL="0">
              <a:buNone/>
            </a:pPr>
            <a:r>
              <a:rPr lang="en-US" sz="1000" dirty="0">
                <a:solidFill>
                  <a:srgbClr val="FFFFFF"/>
                </a:solidFill>
                <a:latin typeface="Calibri" pitchFamily="34" charset="0"/>
                <a:ea typeface="Calibri" pitchFamily="34" charset="-122"/>
                <a:cs typeface="Calibri" pitchFamily="34" charset="-120"/>
              </a:rPr>
              <a:t>store × placed week</a:t>
            </a:r>
            <a:endParaRPr lang="en-US" sz="1050" dirty="0"/>
          </a:p>
        </p:txBody>
      </p:sp>
      <p:sp>
        <p:nvSpPr>
          <p:cNvPr id="23" name="Shape 21"/>
          <p:cNvSpPr/>
          <p:nvPr/>
        </p:nvSpPr>
        <p:spPr>
          <a:xfrm>
            <a:off x="6126480" y="3648456"/>
            <a:ext cx="2103120" cy="585216"/>
          </a:xfrm>
          <a:prstGeom prst="roundRect">
            <a:avLst>
              <a:gd name="adj" fmla="val 12500"/>
            </a:avLst>
          </a:prstGeom>
          <a:solidFill>
            <a:srgbClr val="0B5D57"/>
          </a:solidFill>
          <a:ln/>
        </p:spPr>
      </p:sp>
      <p:sp>
        <p:nvSpPr>
          <p:cNvPr id="24" name="Text 22"/>
          <p:cNvSpPr txBox="1"/>
          <p:nvPr/>
        </p:nvSpPr>
        <p:spPr>
          <a:xfrm>
            <a:off x="6217920" y="3703320"/>
            <a:ext cx="1920240" cy="493776"/>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FACT_RECALL_CAMPAIGN</a:t>
            </a:r>
            <a:endParaRPr lang="en-US" sz="1050" dirty="0"/>
          </a:p>
          <a:p>
            <a:pPr indent="0" marL="0">
              <a:buNone/>
            </a:pPr>
            <a:r>
              <a:rPr lang="en-US" sz="1000" dirty="0">
                <a:solidFill>
                  <a:srgbClr val="FFFFFF"/>
                </a:solidFill>
                <a:latin typeface="Calibri" pitchFamily="34" charset="0"/>
                <a:ea typeface="Calibri" pitchFamily="34" charset="-122"/>
                <a:cs typeface="Calibri" pitchFamily="34" charset="-120"/>
              </a:rPr>
              <a:t>store × contact week</a:t>
            </a:r>
            <a:endParaRPr lang="en-US" sz="1050" dirty="0"/>
          </a:p>
        </p:txBody>
      </p:sp>
      <p:sp>
        <p:nvSpPr>
          <p:cNvPr id="25" name="Shape 23"/>
          <p:cNvSpPr/>
          <p:nvPr/>
        </p:nvSpPr>
        <p:spPr>
          <a:xfrm>
            <a:off x="3931920" y="4306824"/>
            <a:ext cx="2103120" cy="585216"/>
          </a:xfrm>
          <a:prstGeom prst="roundRect">
            <a:avLst>
              <a:gd name="adj" fmla="val 12500"/>
            </a:avLst>
          </a:prstGeom>
          <a:solidFill>
            <a:srgbClr val="0B5D57"/>
          </a:solidFill>
          <a:ln/>
        </p:spPr>
      </p:sp>
      <p:sp>
        <p:nvSpPr>
          <p:cNvPr id="26" name="Text 24"/>
          <p:cNvSpPr txBox="1"/>
          <p:nvPr/>
        </p:nvSpPr>
        <p:spPr>
          <a:xfrm>
            <a:off x="4023360" y="4361688"/>
            <a:ext cx="1920240" cy="493776"/>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FACT_DATA_QUALITY</a:t>
            </a:r>
            <a:endParaRPr lang="en-US" sz="1050" dirty="0"/>
          </a:p>
          <a:p>
            <a:pPr indent="0" marL="0">
              <a:buNone/>
            </a:pPr>
            <a:r>
              <a:rPr lang="en-US" sz="1000" dirty="0">
                <a:solidFill>
                  <a:srgbClr val="FFFFFF"/>
                </a:solidFill>
                <a:latin typeface="Calibri" pitchFamily="34" charset="0"/>
                <a:ea typeface="Calibri" pitchFamily="34" charset="-122"/>
                <a:cs typeface="Calibri" pitchFamily="34" charset="-120"/>
              </a:rPr>
              <a:t>store × week × source</a:t>
            </a:r>
            <a:endParaRPr lang="en-US" sz="1050" dirty="0"/>
          </a:p>
        </p:txBody>
      </p:sp>
      <p:sp>
        <p:nvSpPr>
          <p:cNvPr id="27" name="Text 25"/>
          <p:cNvSpPr txBox="1"/>
          <p:nvPr/>
        </p:nvSpPr>
        <p:spPr>
          <a:xfrm>
            <a:off x="3794760" y="1325880"/>
            <a:ext cx="4572000" cy="914400"/>
          </a:xfrm>
          <a:prstGeom prst="rect">
            <a:avLst/>
          </a:prstGeom>
          <a:noFill/>
          <a:ln/>
        </p:spPr>
        <p:txBody>
          <a:bodyPr wrap="square" lIns="0" tIns="0" rIns="0" bIns="0" rtlCol="0" anchor="t"/>
          <a:lstStyle/>
          <a:p>
            <a:pPr algn="ctr" indent="0" marL="0">
              <a:buNone/>
            </a:pPr>
            <a:r>
              <a:rPr lang="en-US" sz="1150" i="1" dirty="0">
                <a:solidFill>
                  <a:srgbClr val="1D2A33"/>
                </a:solidFill>
                <a:latin typeface="Calibri" pitchFamily="34" charset="0"/>
                <a:ea typeface="Calibri" pitchFamily="34" charset="-122"/>
                <a:cs typeface="Calibri" pitchFamily="34" charset="-120"/>
              </a:rPr>
              <a:t>Cohort and geography are resolved as at each fact week, so a store can move from New to Developing mid-period. Conversion (exam week) and revenue (transaction week) are separate facts.</a:t>
            </a:r>
            <a:endParaRPr lang="en-US" sz="1150" dirty="0"/>
          </a:p>
        </p:txBody>
      </p:sp>
      <p:sp>
        <p:nvSpPr>
          <p:cNvPr id="28" name="Text 26"/>
          <p:cNvSpPr txBox="1"/>
          <p:nvPr/>
        </p:nvSpPr>
        <p:spPr>
          <a:xfrm>
            <a:off x="457200" y="6126480"/>
            <a:ext cx="11247120" cy="320040"/>
          </a:xfrm>
          <a:prstGeom prst="rect">
            <a:avLst/>
          </a:prstGeom>
          <a:noFill/>
          <a:ln/>
        </p:spPr>
        <p:txBody>
          <a:bodyPr wrap="square" lIns="0" tIns="0" rIns="0" bIns="0" rtlCol="0" anchor="t"/>
          <a:lstStyle/>
          <a:p>
            <a:pPr algn="ctr" indent="0" marL="0">
              <a:buNone/>
            </a:pPr>
            <a:r>
              <a:rPr lang="en-US" sz="1100" dirty="0">
                <a:solidFill>
                  <a:srgbClr val="56656F"/>
                </a:solidFill>
                <a:latin typeface="Calibri" pitchFamily="34" charset="0"/>
                <a:ea typeface="Calibri" pitchFamily="34" charset="-122"/>
                <a:cs typeface="Calibri" pitchFamily="34" charset="-120"/>
              </a:rPr>
              <a:t>Supporting: store-level KPI, peer and exception tables · ramp index · KPI dictionary · rule and prompt tables · user-store access (security only)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APPENDIX A7</a:t>
            </a:r>
            <a:endParaRPr lang="en-US" sz="1100" dirty="0"/>
          </a:p>
        </p:txBody>
      </p:sp>
      <p:sp>
        <p:nvSpPr>
          <p:cNvPr id="3" name="Text 1"/>
          <p:cNvSpPr txBox="1"/>
          <p:nvPr/>
        </p:nvSpPr>
        <p:spPr>
          <a:xfrm>
            <a:off x="457200" y="512064"/>
            <a:ext cx="11247120" cy="548640"/>
          </a:xfrm>
          <a:prstGeom prst="rect">
            <a:avLst/>
          </a:prstGeom>
          <a:noFill/>
          <a:ln/>
        </p:spPr>
        <p:txBody>
          <a:bodyPr wrap="square" lIns="0" tIns="0" rIns="0" bIns="0" rtlCol="0" anchor="t"/>
          <a:lstStyle/>
          <a:p>
            <a:pPr indent="0" marL="0">
              <a:buNone/>
            </a:pPr>
            <a:r>
              <a:rPr lang="en-US" sz="2400" b="1" dirty="0">
                <a:solidFill>
                  <a:srgbClr val="1D2A33"/>
                </a:solidFill>
                <a:latin typeface="Cambria" pitchFamily="34" charset="0"/>
                <a:ea typeface="Cambria" pitchFamily="34" charset="-122"/>
                <a:cs typeface="Cambria" pitchFamily="34" charset="-120"/>
              </a:rPr>
              <a:t>Traceability matrix (summary) and gap findings</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223760" cy="914400"/>
        </p:xfrm>
        <a:graphic>
          <a:graphicData uri="http://schemas.openxmlformats.org/drawingml/2006/table">
            <a:tbl>
              <a:tblPr/>
              <a:tblGrid>
                <a:gridCol w="1920240"/>
                <a:gridCol w="1371600"/>
                <a:gridCol w="1325880"/>
                <a:gridCol w="1051560"/>
                <a:gridCol w="914400"/>
                <a:gridCol w="640080"/>
              </a:tblGrid>
              <a:tr h="38404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BR</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FR</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KPI</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User stories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UAT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Release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BR-01 Network monitoring</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FR-01, 02, 05, 09</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KPI-01–09</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US-01, US-02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01, 02, 05, 14–16, 23</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MVP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BR-02 Maturity comparison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FR-03, 04, 13, 16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KPI-04, 10</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US-03, US-10</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03, 04, 18, 22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MVP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BR-03 Candidate factors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FR-04, 14, 15, (17)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KPI-02, 03, 05, 07–09</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06, 21, 24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MVP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BR-04 Governed KPIs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FR-07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KPI-01–12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07, 15–17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MVP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BR-05 Data quality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FR-08</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KPI-11, 12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08, 15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MVP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BR-06 Partner information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FR-04, 09, 10, 12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KPI-02–06, 10</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US-03, 04, 07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09, 19, 23, 24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MVP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BR-07 Regional patterns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FR-02, 05, 06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KPI-02, 05, 07, 08</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02, 05, 17</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MVP (Should)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BR-08 Protect information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FR-10, 11, 16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KPI-06, 09</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US-07, 08, 10</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09–12, 18</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MVP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BR-09 Support action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FR-06, 15, (18)</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KPI-02, 03, 05, 07, 10</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06, 21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MVP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BR-10 → CON-01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 by design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US-09</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Constraint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BR-11 Access indicators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FR-01, 14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KPI-03, 04, 09</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US-01, 04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01, 06</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MVP</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BR-12 Manual compilation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FR-11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US-08</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Could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bl>
          </a:graphicData>
        </a:graphic>
      </p:graphicFrame>
      <p:sp>
        <p:nvSpPr>
          <p:cNvPr id="5" name="Shape 2"/>
          <p:cNvSpPr/>
          <p:nvPr/>
        </p:nvSpPr>
        <p:spPr>
          <a:xfrm>
            <a:off x="7863840" y="1188720"/>
            <a:ext cx="3867912" cy="5120640"/>
          </a:xfrm>
          <a:prstGeom prst="roundRect">
            <a:avLst>
              <a:gd name="adj" fmla="val 1891"/>
            </a:avLst>
          </a:prstGeom>
          <a:solidFill>
            <a:srgbClr val="F4F7F8"/>
          </a:solidFill>
          <a:ln/>
        </p:spPr>
      </p:sp>
      <p:sp>
        <p:nvSpPr>
          <p:cNvPr id="6" name="Text 3"/>
          <p:cNvSpPr txBox="1"/>
          <p:nvPr/>
        </p:nvSpPr>
        <p:spPr>
          <a:xfrm>
            <a:off x="8046720" y="1280160"/>
            <a:ext cx="3566160" cy="292608"/>
          </a:xfrm>
          <a:prstGeom prst="rect">
            <a:avLst/>
          </a:prstGeom>
          <a:noFill/>
          <a:ln/>
        </p:spPr>
        <p:txBody>
          <a:bodyPr wrap="square" lIns="0" tIns="0" rIns="0" bIns="0" rtlCol="0" anchor="t"/>
          <a:lstStyle/>
          <a:p>
            <a:pPr indent="0" marL="0">
              <a:buNone/>
            </a:pPr>
            <a:r>
              <a:rPr lang="en-US" sz="1300" b="1" dirty="0">
                <a:solidFill>
                  <a:srgbClr val="0B5D57"/>
                </a:solidFill>
                <a:latin typeface="Calibri" pitchFamily="34" charset="0"/>
                <a:ea typeface="Calibri" pitchFamily="34" charset="-122"/>
                <a:cs typeface="Calibri" pitchFamily="34" charset="-120"/>
              </a:rPr>
              <a:t>Gap findings (25 logged)</a:t>
            </a:r>
            <a:endParaRPr lang="en-US" sz="1300" dirty="0"/>
          </a:p>
        </p:txBody>
      </p:sp>
      <p:sp>
        <p:nvSpPr>
          <p:cNvPr id="7" name="Text 4"/>
          <p:cNvSpPr txBox="1"/>
          <p:nvPr/>
        </p:nvSpPr>
        <p:spPr>
          <a:xfrm>
            <a:off x="8046720" y="1645920"/>
            <a:ext cx="3566160" cy="45720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BO-07 weakly supported: no Must-level requirement or baseline</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FR-12, FR-17, FR-18 have no user story</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KPI-01 and KPI-06 weakly tied to a decision</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US-02, US-10 not Ready until U-38 and U-39 are decided</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KPI-05 visibility for Optometry Partners open (U-41)</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Repair pass (RTM-18–25): the first prototype did not meet several traced requirements — scope, Red weeks, suppression, flag reasons — until fixed and tested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APPENDIX A8</a:t>
            </a:r>
            <a:endParaRPr lang="en-US" sz="1100" dirty="0"/>
          </a:p>
        </p:txBody>
      </p:sp>
      <p:sp>
        <p:nvSpPr>
          <p:cNvPr id="3" name="Text 1"/>
          <p:cNvSpPr txBox="1"/>
          <p:nvPr/>
        </p:nvSpPr>
        <p:spPr>
          <a:xfrm>
            <a:off x="457200" y="512064"/>
            <a:ext cx="11247120" cy="548640"/>
          </a:xfrm>
          <a:prstGeom prst="rect">
            <a:avLst/>
          </a:prstGeom>
          <a:noFill/>
          <a:ln/>
        </p:spPr>
        <p:txBody>
          <a:bodyPr wrap="square" lIns="0" tIns="0" rIns="0" bIns="0" rtlCol="0" anchor="t"/>
          <a:lstStyle/>
          <a:p>
            <a:pPr indent="0" marL="0">
              <a:buNone/>
            </a:pPr>
            <a:r>
              <a:rPr lang="en-US" sz="2400" b="1" dirty="0">
                <a:solidFill>
                  <a:srgbClr val="1D2A33"/>
                </a:solidFill>
                <a:latin typeface="Cambria" pitchFamily="34" charset="0"/>
                <a:ea typeface="Cambria" pitchFamily="34" charset="-122"/>
                <a:cs typeface="Cambria" pitchFamily="34" charset="-120"/>
              </a:rPr>
              <a:t>Synthetic-data methodology and validation</a:t>
            </a:r>
            <a:endParaRPr lang="en-US" sz="2400" dirty="0"/>
          </a:p>
        </p:txBody>
      </p:sp>
      <p:sp>
        <p:nvSpPr>
          <p:cNvPr id="4" name="Text 2"/>
          <p:cNvSpPr txBox="1"/>
          <p:nvPr/>
        </p:nvSpPr>
        <p:spPr>
          <a:xfrm>
            <a:off x="10378440" y="329184"/>
            <a:ext cx="949147" cy="228600"/>
          </a:xfrm>
          <a:prstGeom prst="roundRect">
            <a:avLst>
              <a:gd name="adj" fmla="val 40000"/>
            </a:avLst>
          </a:prstGeom>
          <a:solidFill>
            <a:srgbClr val="A84A14"/>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SYNTHETIC</a:t>
            </a:r>
            <a:endParaRPr lang="en-US" sz="900" dirty="0"/>
          </a:p>
        </p:txBody>
      </p:sp>
      <p:sp>
        <p:nvSpPr>
          <p:cNvPr id="5" name="Shape 3"/>
          <p:cNvSpPr/>
          <p:nvPr/>
        </p:nvSpPr>
        <p:spPr>
          <a:xfrm>
            <a:off x="457200" y="1188720"/>
            <a:ext cx="3657600" cy="5120640"/>
          </a:xfrm>
          <a:prstGeom prst="roundRect">
            <a:avLst>
              <a:gd name="adj" fmla="val 2000"/>
            </a:avLst>
          </a:prstGeom>
          <a:solidFill>
            <a:srgbClr val="F4F7F8"/>
          </a:solidFill>
          <a:ln/>
        </p:spPr>
      </p:sp>
      <p:sp>
        <p:nvSpPr>
          <p:cNvPr id="6" name="Text 4"/>
          <p:cNvSpPr txBox="1"/>
          <p:nvPr/>
        </p:nvSpPr>
        <p:spPr>
          <a:xfrm>
            <a:off x="640080" y="1280160"/>
            <a:ext cx="3291840" cy="292608"/>
          </a:xfrm>
          <a:prstGeom prst="rect">
            <a:avLst/>
          </a:prstGeom>
          <a:noFill/>
          <a:ln/>
        </p:spPr>
        <p:txBody>
          <a:bodyPr wrap="square" lIns="0" tIns="0" rIns="0" bIns="0" rtlCol="0" anchor="t"/>
          <a:lstStyle/>
          <a:p>
            <a:pPr indent="0" marL="0">
              <a:buNone/>
            </a:pPr>
            <a:r>
              <a:rPr lang="en-US" sz="1300" b="1" dirty="0">
                <a:solidFill>
                  <a:srgbClr val="0B5D57"/>
                </a:solidFill>
                <a:latin typeface="Calibri" pitchFamily="34" charset="0"/>
                <a:ea typeface="Calibri" pitchFamily="34" charset="-122"/>
                <a:cs typeface="Calibri" pitchFamily="34" charset="-120"/>
              </a:rPr>
              <a:t>Generation</a:t>
            </a:r>
            <a:endParaRPr lang="en-US" sz="1300" dirty="0"/>
          </a:p>
        </p:txBody>
      </p:sp>
      <p:sp>
        <p:nvSpPr>
          <p:cNvPr id="7" name="Text 5"/>
          <p:cNvSpPr txBox="1"/>
          <p:nvPr/>
        </p:nvSpPr>
        <p:spPr>
          <a:xfrm>
            <a:off x="640080" y="1627632"/>
            <a:ext cx="3337560" cy="45720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D2A33"/>
                </a:solidFill>
                <a:latin typeface="Calibri" pitchFamily="34" charset="0"/>
                <a:ea typeface="Calibri" pitchFamily="34" charset="-122"/>
                <a:cs typeface="Calibri" pitchFamily="34" charset="-120"/>
              </a:rPr>
              <a:t>30 fictional stores (SYN-001–030), 26 weeks from 23 Feb 2026; 761 rows, 24 columns</a:t>
            </a:r>
            <a:endParaRPr lang="en-US" sz="1100" dirty="0"/>
          </a:p>
          <a:p>
            <a:pPr marL="152400" indent="-152400">
              <a:spcAft>
                <a:spcPts val="400"/>
              </a:spcAft>
              <a:buSzPct val="100000"/>
              <a:buChar char="•"/>
            </a:pPr>
            <a:r>
              <a:rPr lang="en-US" sz="1100" dirty="0">
                <a:solidFill>
                  <a:srgbClr val="1D2A33"/>
                </a:solidFill>
                <a:latin typeface="Calibri" pitchFamily="34" charset="0"/>
                <a:ea typeface="Calibri" pitchFamily="34" charset="-122"/>
                <a:cs typeface="Calibri" pitchFamily="34" charset="-120"/>
              </a:rPr>
              <a:t>8 provinces, 4 synthetic regions, 3 formats; generic host banners</a:t>
            </a:r>
            <a:endParaRPr lang="en-US" sz="1100" dirty="0"/>
          </a:p>
          <a:p>
            <a:pPr marL="152400" indent="-152400">
              <a:spcAft>
                <a:spcPts val="400"/>
              </a:spcAft>
              <a:buSzPct val="100000"/>
              <a:buChar char="•"/>
            </a:pPr>
            <a:r>
              <a:rPr lang="en-US" sz="1100" dirty="0">
                <a:solidFill>
                  <a:srgbClr val="1D2A33"/>
                </a:solidFill>
                <a:latin typeface="Calibri" pitchFamily="34" charset="0"/>
                <a:ea typeface="Calibri" pitchFamily="34" charset="-122"/>
                <a:cs typeface="Calibri" pitchFamily="34" charset="-120"/>
              </a:rPr>
              <a:t>Cohort as at each week; 3 stores open mid-window</a:t>
            </a:r>
            <a:endParaRPr lang="en-US" sz="1100" dirty="0"/>
          </a:p>
          <a:p>
            <a:pPr marL="152400" indent="-152400">
              <a:spcAft>
                <a:spcPts val="400"/>
              </a:spcAft>
              <a:buSzPct val="100000"/>
              <a:buChar char="•"/>
            </a:pPr>
            <a:r>
              <a:rPr lang="en-US" sz="1100" dirty="0">
                <a:solidFill>
                  <a:srgbClr val="1D2A33"/>
                </a:solidFill>
                <a:latin typeface="Calibri" pitchFamily="34" charset="0"/>
                <a:ea typeface="Calibri" pitchFamily="34" charset="-122"/>
                <a:cs typeface="Calibri" pitchFamily="34" charset="-120"/>
              </a:rPr>
              <a:t>Ramp-up curve drives capacity, utilization and conversion</a:t>
            </a:r>
            <a:endParaRPr lang="en-US" sz="1100" dirty="0"/>
          </a:p>
          <a:p>
            <a:pPr marL="152400" indent="-152400">
              <a:spcAft>
                <a:spcPts val="400"/>
              </a:spcAft>
              <a:buSzPct val="100000"/>
              <a:buChar char="•"/>
            </a:pPr>
            <a:r>
              <a:rPr lang="en-US" sz="1100" dirty="0">
                <a:solidFill>
                  <a:srgbClr val="1D2A33"/>
                </a:solidFill>
                <a:latin typeface="Calibri" pitchFamily="34" charset="0"/>
                <a:ea typeface="Calibri" pitchFamily="34" charset="-122"/>
                <a:cs typeface="Calibri" pitchFamily="34" charset="-120"/>
              </a:rPr>
              <a:t>Reproducible: seed 20260913 (byte-identical rerun tested)</a:t>
            </a:r>
            <a:endParaRPr lang="en-US" sz="1100" dirty="0"/>
          </a:p>
          <a:p>
            <a:pPr marL="152400" indent="-152400">
              <a:spcAft>
                <a:spcPts val="400"/>
              </a:spcAft>
              <a:buSzPct val="100000"/>
              <a:buChar char="•"/>
            </a:pPr>
            <a:r>
              <a:rPr lang="en-US" sz="1100" dirty="0">
                <a:solidFill>
                  <a:srgbClr val="1D2A33"/>
                </a:solidFill>
                <a:latin typeface="Calibri" pitchFamily="34" charset="0"/>
                <a:ea typeface="Calibri" pitchFamily="34" charset="-122"/>
                <a:cs typeface="Calibri" pitchFamily="34" charset="-120"/>
              </a:rPr>
              <a:t>Simplifications: snapshot treated as final; all orders reach ready; completeness simulated; no converted stores</a:t>
            </a:r>
            <a:endParaRPr lang="en-US" sz="1100" dirty="0"/>
          </a:p>
        </p:txBody>
      </p:sp>
      <p:sp>
        <p:nvSpPr>
          <p:cNvPr id="8" name="Shape 6"/>
          <p:cNvSpPr/>
          <p:nvPr/>
        </p:nvSpPr>
        <p:spPr>
          <a:xfrm>
            <a:off x="4251960" y="1188720"/>
            <a:ext cx="2926080" cy="5120640"/>
          </a:xfrm>
          <a:prstGeom prst="roundRect">
            <a:avLst>
              <a:gd name="adj" fmla="val 2500"/>
            </a:avLst>
          </a:prstGeom>
          <a:solidFill>
            <a:srgbClr val="E3EFED"/>
          </a:solidFill>
          <a:ln/>
        </p:spPr>
      </p:sp>
      <p:sp>
        <p:nvSpPr>
          <p:cNvPr id="9" name="Text 7"/>
          <p:cNvSpPr txBox="1"/>
          <p:nvPr/>
        </p:nvSpPr>
        <p:spPr>
          <a:xfrm>
            <a:off x="4434840" y="1280160"/>
            <a:ext cx="2651760" cy="292608"/>
          </a:xfrm>
          <a:prstGeom prst="rect">
            <a:avLst/>
          </a:prstGeom>
          <a:noFill/>
          <a:ln/>
        </p:spPr>
        <p:txBody>
          <a:bodyPr wrap="square" lIns="0" tIns="0" rIns="0" bIns="0" rtlCol="0" anchor="t"/>
          <a:lstStyle/>
          <a:p>
            <a:pPr indent="0" marL="0">
              <a:buNone/>
            </a:pPr>
            <a:r>
              <a:rPr lang="en-US" sz="1300" b="1" dirty="0">
                <a:solidFill>
                  <a:srgbClr val="0B5D57"/>
                </a:solidFill>
                <a:latin typeface="Calibri" pitchFamily="34" charset="0"/>
                <a:ea typeface="Calibri" pitchFamily="34" charset="-122"/>
                <a:cs typeface="Calibri" pitchFamily="34" charset="-120"/>
              </a:rPr>
              <a:t>Validation and tests</a:t>
            </a:r>
            <a:endParaRPr lang="en-US" sz="1300" dirty="0"/>
          </a:p>
        </p:txBody>
      </p:sp>
      <p:sp>
        <p:nvSpPr>
          <p:cNvPr id="10" name="Text 8"/>
          <p:cNvSpPr txBox="1"/>
          <p:nvPr/>
        </p:nvSpPr>
        <p:spPr>
          <a:xfrm>
            <a:off x="4434840" y="1645920"/>
            <a:ext cx="2651760" cy="640080"/>
          </a:xfrm>
          <a:prstGeom prst="rect">
            <a:avLst/>
          </a:prstGeom>
          <a:noFill/>
          <a:ln/>
        </p:spPr>
        <p:txBody>
          <a:bodyPr wrap="square" lIns="0" tIns="0" rIns="0" bIns="0" rtlCol="0" anchor="t"/>
          <a:lstStyle/>
          <a:p>
            <a:pPr indent="0" marL="0">
              <a:buNone/>
            </a:pPr>
            <a:r>
              <a:rPr lang="en-US" sz="3400" b="1" dirty="0">
                <a:solidFill>
                  <a:srgbClr val="0B5D57"/>
                </a:solidFill>
                <a:latin typeface="Cambria" pitchFamily="34" charset="0"/>
                <a:ea typeface="Cambria" pitchFamily="34" charset="-122"/>
                <a:cs typeface="Cambria" pitchFamily="34" charset="-120"/>
              </a:rPr>
              <a:t>32/32</a:t>
            </a:r>
            <a:endParaRPr lang="en-US" sz="3400" dirty="0"/>
          </a:p>
        </p:txBody>
      </p:sp>
      <p:sp>
        <p:nvSpPr>
          <p:cNvPr id="11" name="Text 9"/>
          <p:cNvSpPr txBox="1"/>
          <p:nvPr/>
        </p:nvSpPr>
        <p:spPr>
          <a:xfrm>
            <a:off x="4434840" y="2331720"/>
            <a:ext cx="2651760" cy="292608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D2A33"/>
                </a:solidFill>
                <a:latin typeface="Calibri" pitchFamily="34" charset="0"/>
                <a:ea typeface="Calibri" pitchFamily="34" charset="-122"/>
                <a:cs typeface="Calibri" pitchFamily="34" charset="-120"/>
              </a:rPr>
              <a:t>Structure, keys, arithmetic, null semantics</a:t>
            </a:r>
            <a:endParaRPr lang="en-US" sz="1100" dirty="0"/>
          </a:p>
          <a:p>
            <a:pPr marL="152400" indent="-152400">
              <a:spcAft>
                <a:spcPts val="300"/>
              </a:spcAft>
              <a:buSzPct val="100000"/>
              <a:buChar char="•"/>
            </a:pPr>
            <a:r>
              <a:rPr lang="en-US" sz="1100" dirty="0">
                <a:solidFill>
                  <a:srgbClr val="1D2A33"/>
                </a:solidFill>
                <a:latin typeface="Calibri" pitchFamily="34" charset="0"/>
                <a:ea typeface="Calibri" pitchFamily="34" charset="-122"/>
                <a:cs typeface="Calibri" pitchFamily="34" charset="-120"/>
              </a:rPr>
              <a:t>Each deliberate pattern tested</a:t>
            </a:r>
            <a:endParaRPr lang="en-US" sz="1100" dirty="0"/>
          </a:p>
          <a:p>
            <a:pPr marL="152400" indent="-152400">
              <a:spcAft>
                <a:spcPts val="300"/>
              </a:spcAft>
              <a:buSzPct val="100000"/>
              <a:buChar char="•"/>
            </a:pPr>
            <a:r>
              <a:rPr lang="en-US" sz="1100" dirty="0">
                <a:solidFill>
                  <a:srgbClr val="1D2A33"/>
                </a:solidFill>
                <a:latin typeface="Calibri" pitchFamily="34" charset="0"/>
                <a:ea typeface="Calibri" pitchFamily="34" charset="-122"/>
                <a:cs typeface="Calibri" pitchFamily="34" charset="-120"/>
              </a:rPr>
              <a:t>30 calculation tests: windows, Red weeks, peers, suppression, rules, ramp</a:t>
            </a:r>
            <a:endParaRPr lang="en-US" sz="1100" dirty="0"/>
          </a:p>
          <a:p>
            <a:pPr marL="152400" indent="-152400">
              <a:spcAft>
                <a:spcPts val="300"/>
              </a:spcAft>
              <a:buSzPct val="100000"/>
              <a:buChar char="•"/>
            </a:pPr>
            <a:r>
              <a:rPr lang="en-US" sz="1100" dirty="0">
                <a:solidFill>
                  <a:srgbClr val="1D2A33"/>
                </a:solidFill>
                <a:latin typeface="Calibri" pitchFamily="34" charset="0"/>
                <a:ea typeface="Calibri" pitchFamily="34" charset="-122"/>
                <a:cs typeface="Calibri" pitchFamily="34" charset="-120"/>
              </a:rPr>
              <a:t>15 logic tests reconcile JavaScript with Python</a:t>
            </a:r>
            <a:endParaRPr lang="en-US" sz="1100" dirty="0"/>
          </a:p>
          <a:p>
            <a:pPr marL="152400" indent="-152400">
              <a:spcAft>
                <a:spcPts val="300"/>
              </a:spcAft>
              <a:buSzPct val="100000"/>
              <a:buChar char="•"/>
            </a:pPr>
            <a:r>
              <a:rPr lang="en-US" sz="1100" dirty="0">
                <a:solidFill>
                  <a:srgbClr val="1D2A33"/>
                </a:solidFill>
                <a:latin typeface="Calibri" pitchFamily="34" charset="0"/>
                <a:ea typeface="Calibri" pitchFamily="34" charset="-122"/>
                <a:cs typeface="Calibri" pitchFamily="34" charset="-120"/>
              </a:rPr>
              <a:t>83/83 rendered-page checks</a:t>
            </a:r>
            <a:endParaRPr lang="en-US" sz="1100" dirty="0"/>
          </a:p>
        </p:txBody>
      </p:sp>
      <p:sp>
        <p:nvSpPr>
          <p:cNvPr id="12" name="Text 10"/>
          <p:cNvSpPr txBox="1"/>
          <p:nvPr/>
        </p:nvSpPr>
        <p:spPr>
          <a:xfrm>
            <a:off x="4434840" y="5394960"/>
            <a:ext cx="2606040" cy="822960"/>
          </a:xfrm>
          <a:prstGeom prst="rect">
            <a:avLst/>
          </a:prstGeom>
          <a:noFill/>
          <a:ln/>
        </p:spPr>
        <p:txBody>
          <a:bodyPr wrap="square" lIns="0" tIns="0" rIns="0" bIns="0" rtlCol="0" anchor="t"/>
          <a:lstStyle/>
          <a:p>
            <a:pPr indent="0" marL="0">
              <a:buNone/>
            </a:pPr>
            <a:r>
              <a:rPr lang="en-US" sz="1050" i="1" dirty="0">
                <a:solidFill>
                  <a:srgbClr val="56656F"/>
                </a:solidFill>
                <a:latin typeface="Calibri" pitchFamily="34" charset="0"/>
                <a:ea typeface="Calibri" pitchFamily="34" charset="-122"/>
                <a:cs typeface="Calibri" pitchFamily="34" charset="-120"/>
              </a:rPr>
              <a:t>Issues fixed: 3 in the data, 4 in the calculation engine (repair pass)</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0" y="1188720"/>
          <a:ext cx="4416552" cy="914400"/>
        </p:xfrm>
        <a:graphic>
          <a:graphicData uri="http://schemas.openxmlformats.org/drawingml/2006/table">
            <a:tbl>
              <a:tblPr/>
              <a:tblGrid>
                <a:gridCol w="1554480"/>
                <a:gridCol w="2862072"/>
              </a:tblGrid>
              <a:tr h="60350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Pattern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Synthetic evidence (period)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r>
              <a:tr h="603504">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P1 New stores improve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All 11 New-at-start stores improve utilization and exams (first vs last 4 weeks)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603504">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P2 Regional turnaround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Atlantic 8.7 vs 6.0 days (all weeks); 5 of 6 above median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603504">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P3 High demand, low attendance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SYN-012 / SYN-019 ≈ 94% utilization, ≈ 84% attendance (all weeks)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603504">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P4 Mature conversion decline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SYN-005 62.9% → 42.9% (weeks 1–6 vs last 8); exams flat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603504">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P5 Data-quality warnings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5 Amber and 4 Red store-weeks; Red weeks withheld, no flags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603504">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P6 Cohort differences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Exams per store-week 66 / 102 / 150 (all weeks)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603504">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Rule coverage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228 stage flags (8.8/week); ramp index available 36%; 216 weekly counts shown as &lt;5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457200" y="6419088"/>
            <a:ext cx="11247120" cy="292608"/>
          </a:xfrm>
          <a:prstGeom prst="rect">
            <a:avLst/>
          </a:prstGeom>
          <a:noFill/>
          <a:ln/>
        </p:spPr>
        <p:txBody>
          <a:bodyPr wrap="square" lIns="0" tIns="0" rIns="0" bIns="0" rtlCol="0" anchor="t"/>
          <a:lstStyle/>
          <a:p>
            <a:pPr indent="0" marL="0">
              <a:buNone/>
            </a:pPr>
            <a:r>
              <a:rPr lang="en-US" sz="900" dirty="0">
                <a:solidFill>
                  <a:srgbClr val="56656F"/>
                </a:solidFill>
                <a:latin typeface="Calibri" pitchFamily="34" charset="0"/>
                <a:ea typeface="Calibri" pitchFamily="34" charset="-122"/>
                <a:cs typeface="Calibri" pitchFamily="34" charset="-120"/>
              </a:rPr>
              <a:t>Fictional data, unrelated to Specsavers stores, partners, patients or results. Files: data/synthetic_store_weekly.csv · data/validation-results.md · build/*.py · tests/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APPENDIX A9</a:t>
            </a:r>
            <a:endParaRPr lang="en-US" sz="1100" dirty="0"/>
          </a:p>
        </p:txBody>
      </p:sp>
      <p:sp>
        <p:nvSpPr>
          <p:cNvPr id="3" name="Text 1"/>
          <p:cNvSpPr txBox="1"/>
          <p:nvPr/>
        </p:nvSpPr>
        <p:spPr>
          <a:xfrm>
            <a:off x="457200" y="512064"/>
            <a:ext cx="11247120" cy="548640"/>
          </a:xfrm>
          <a:prstGeom prst="rect">
            <a:avLst/>
          </a:prstGeom>
          <a:noFill/>
          <a:ln/>
        </p:spPr>
        <p:txBody>
          <a:bodyPr wrap="square" lIns="0" tIns="0" rIns="0" bIns="0" rtlCol="0" anchor="t"/>
          <a:lstStyle/>
          <a:p>
            <a:pPr indent="0" marL="0">
              <a:buNone/>
            </a:pPr>
            <a:r>
              <a:rPr lang="en-US" sz="2400" b="1" dirty="0">
                <a:solidFill>
                  <a:srgbClr val="1D2A33"/>
                </a:solidFill>
                <a:latin typeface="Cambria" pitchFamily="34" charset="0"/>
                <a:ea typeface="Cambria" pitchFamily="34" charset="-122"/>
                <a:cs typeface="Cambria" pitchFamily="34" charset="-120"/>
              </a:rPr>
              <a:t>UAT plan (summary) — a plan, not results</a:t>
            </a:r>
            <a:endParaRPr lang="en-US" sz="2400" dirty="0"/>
          </a:p>
        </p:txBody>
      </p:sp>
      <p:sp>
        <p:nvSpPr>
          <p:cNvPr id="4" name="Text 2"/>
          <p:cNvSpPr txBox="1"/>
          <p:nvPr/>
        </p:nvSpPr>
        <p:spPr>
          <a:xfrm>
            <a:off x="9966960" y="329184"/>
            <a:ext cx="1174090" cy="228600"/>
          </a:xfrm>
          <a:prstGeom prst="roundRect">
            <a:avLst>
              <a:gd name="adj" fmla="val 40000"/>
            </a:avLst>
          </a:prstGeom>
          <a:solidFill>
            <a:srgbClr val="B3261E"/>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NOT EXECUTED</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315200" cy="914400"/>
        </p:xfrm>
        <a:graphic>
          <a:graphicData uri="http://schemas.openxmlformats.org/drawingml/2006/table">
            <a:tbl>
              <a:tblPr/>
              <a:tblGrid>
                <a:gridCol w="1645920"/>
                <a:gridCol w="1371600"/>
                <a:gridCol w="4297680"/>
              </a:tblGrid>
              <a:tr h="60350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Scenarios</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Expected results (synthetic test data)</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r>
              <a:tr h="603504">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Core pages</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UAT-01–06, 22, 23</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Default latest week; ratio of sums; SYN-014 changes cohort 20 Jul 2026; SYN-025–028 flagged on on-time and turnaround</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603504">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Definitions and data quality</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UAT-07, 08</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Dictionary version shown; SYN-022 Red weeks withheld in the week itself, no flags, excluded from peers</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603504">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Security and privacy</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UAT-09–12, 18</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Partner sees only SYN-014; Atlantic manager sees 6 stores, 545 exams, no out-of-region names; &lt;5 rule</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603504">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Reconciliation</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UAT-15–17</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Exams ±0.5% · revenue ±1.0% · orders ±0.5% vs control totals (illustrative)</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603504">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Quality attributes</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UAT-13, 14, 19, 24</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WCAG checks; ≤5 s interactions; persistent filters; 80% complete triage task ≤3 min</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603504">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Interpretation and sign-off</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UAT-20, 21</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0 prohibited causal terms; ≥80% comprehension; sign-off order recorded</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7955280" y="1188720"/>
          <a:ext cx="3776472" cy="914400"/>
        </p:xfrm>
        <a:graphic>
          <a:graphicData uri="http://schemas.openxmlformats.org/drawingml/2006/table">
            <a:tbl>
              <a:tblPr/>
              <a:tblGrid>
                <a:gridCol w="2011680"/>
                <a:gridCol w="1764792"/>
              </a:tblGrid>
              <a:tr h="41148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Level</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r>
              <a:tr h="411480">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Data and pattern checks</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Executed (32/32)</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Calculation and reconciliation</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Executed (30 + 15)</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411480">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Rendered-page regression</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Executed (83/83)</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Power BI (DAX, RLS, OLS)</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Not executed</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411480">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UAT with business users</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1000" dirty="0">
                          <a:solidFill>
                            <a:srgbClr val="1D2A33"/>
                          </a:solidFill>
                          <a:latin typeface="Calibri" pitchFamily="34" charset="0"/>
                          <a:ea typeface="Calibri" pitchFamily="34" charset="-122"/>
                          <a:cs typeface="Calibri" pitchFamily="34" charset="-120"/>
                        </a:rPr>
                        <a:t>Not executed</a:t>
                      </a:r>
                      <a:endParaRPr lang="en-US" sz="100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bl>
          </a:graphicData>
        </a:graphic>
      </p:graphicFrame>
      <p:sp>
        <p:nvSpPr>
          <p:cNvPr id="7" name="Shape 3"/>
          <p:cNvSpPr/>
          <p:nvPr/>
        </p:nvSpPr>
        <p:spPr>
          <a:xfrm>
            <a:off x="7955280" y="3840480"/>
            <a:ext cx="3776472" cy="2468880"/>
          </a:xfrm>
          <a:prstGeom prst="roundRect">
            <a:avLst>
              <a:gd name="adj" fmla="val 2963"/>
            </a:avLst>
          </a:prstGeom>
          <a:solidFill>
            <a:srgbClr val="F4F7F8"/>
          </a:solidFill>
          <a:ln/>
        </p:spPr>
      </p:sp>
      <p:sp>
        <p:nvSpPr>
          <p:cNvPr id="8" name="Text 4"/>
          <p:cNvSpPr txBox="1"/>
          <p:nvPr/>
        </p:nvSpPr>
        <p:spPr>
          <a:xfrm>
            <a:off x="8138160" y="3931920"/>
            <a:ext cx="3474720" cy="292608"/>
          </a:xfrm>
          <a:prstGeom prst="rect">
            <a:avLst/>
          </a:prstGeom>
          <a:noFill/>
          <a:ln/>
        </p:spPr>
        <p:txBody>
          <a:bodyPr wrap="square" lIns="0" tIns="0" rIns="0" bIns="0" rtlCol="0" anchor="t"/>
          <a:lstStyle/>
          <a:p>
            <a:pPr indent="0" marL="0">
              <a:buNone/>
            </a:pPr>
            <a:r>
              <a:rPr lang="en-US" sz="1300" b="1" dirty="0">
                <a:solidFill>
                  <a:srgbClr val="0B5D57"/>
                </a:solidFill>
                <a:latin typeface="Calibri" pitchFamily="34" charset="0"/>
                <a:ea typeface="Calibri" pitchFamily="34" charset="-122"/>
                <a:cs typeface="Calibri" pitchFamily="34" charset="-120"/>
              </a:rPr>
              <a:t>Entry and exit</a:t>
            </a:r>
            <a:endParaRPr lang="en-US" sz="1300" dirty="0"/>
          </a:p>
        </p:txBody>
      </p:sp>
      <p:sp>
        <p:nvSpPr>
          <p:cNvPr id="9" name="Text 5"/>
          <p:cNvSpPr txBox="1"/>
          <p:nvPr/>
        </p:nvSpPr>
        <p:spPr>
          <a:xfrm>
            <a:off x="8138160" y="4279392"/>
            <a:ext cx="3474720" cy="19659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Entry: stories done · test environment · role accounts · privacy review · no Sev 1</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Exit: 100% Must scenarios run · ≥95% pass · 0 Sev 1–2 · access tests witnessed</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Pilot: 4 weeks · office hours · pulse surveys · evaluation workshop</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256032"/>
          </a:xfrm>
          <a:prstGeom prst="rect">
            <a:avLst/>
          </a:prstGeom>
          <a:noFill/>
          <a:ln/>
        </p:spPr>
        <p:txBody>
          <a:bodyPr wrap="square" lIns="0" tIns="0" rIns="0" bIns="0" rtlCol="0" anchor="t"/>
          <a:lstStyle/>
          <a:p>
            <a:pPr indent="0" marL="0">
              <a:buNone/>
            </a:pPr>
            <a:r>
              <a:rPr lang="en-US" sz="1100" b="1" spc="150" kern="0" dirty="0">
                <a:solidFill>
                  <a:srgbClr val="0B5D57"/>
                </a:solidFill>
                <a:latin typeface="Calibri" pitchFamily="34" charset="0"/>
                <a:ea typeface="Calibri" pitchFamily="34" charset="-122"/>
                <a:cs typeface="Calibri" pitchFamily="34" charset="-120"/>
              </a:rPr>
              <a:t>APPENDIX A10</a:t>
            </a:r>
            <a:endParaRPr lang="en-US" sz="1100" dirty="0"/>
          </a:p>
        </p:txBody>
      </p:sp>
      <p:sp>
        <p:nvSpPr>
          <p:cNvPr id="3" name="Text 1"/>
          <p:cNvSpPr txBox="1"/>
          <p:nvPr/>
        </p:nvSpPr>
        <p:spPr>
          <a:xfrm>
            <a:off x="457200" y="512064"/>
            <a:ext cx="11247120" cy="548640"/>
          </a:xfrm>
          <a:prstGeom prst="rect">
            <a:avLst/>
          </a:prstGeom>
          <a:noFill/>
          <a:ln/>
        </p:spPr>
        <p:txBody>
          <a:bodyPr wrap="square" lIns="0" tIns="0" rIns="0" bIns="0" rtlCol="0" anchor="t"/>
          <a:lstStyle/>
          <a:p>
            <a:pPr indent="0" marL="0">
              <a:buNone/>
            </a:pPr>
            <a:r>
              <a:rPr lang="en-US" sz="2400" b="1" dirty="0">
                <a:solidFill>
                  <a:srgbClr val="1D2A33"/>
                </a:solidFill>
                <a:latin typeface="Cambria" pitchFamily="34" charset="0"/>
                <a:ea typeface="Cambria" pitchFamily="34" charset="-122"/>
                <a:cs typeface="Cambria" pitchFamily="34" charset="-120"/>
              </a:rPr>
              <a:t>Risk and assumption registers (highlights)</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040880" cy="914400"/>
        </p:xfrm>
        <a:graphic>
          <a:graphicData uri="http://schemas.openxmlformats.org/drawingml/2006/table">
            <a:tbl>
              <a:tblPr/>
              <a:tblGrid>
                <a:gridCol w="548640"/>
                <a:gridCol w="1828800"/>
                <a:gridCol w="868680"/>
                <a:gridCol w="2148840"/>
                <a:gridCol w="1645920"/>
              </a:tblGrid>
              <a:tr h="47548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ID</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Risk</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P×I</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Mitigation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Early warning</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B5D57"/>
                    </a:solidFill>
                  </a:tcPr>
                </a:tc>
              </a:tr>
              <a:tr h="47548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R-01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Conflicting KPI definitions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16 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Domain workshops; governed dictionary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Two or more definitions surface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R-02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Unfair store comparisons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15 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Cohort × format peers; comprehension tests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Fairness score &lt;80%</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47548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R-04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Missing or delayed data</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16 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Checkpoints; withholding; publish gate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Red store-weeks &gt;5%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R-11</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Incorrect causal interpretation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16 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Rule-specific text; UAT-21; training</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Flags quoted as causes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47548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R-14</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Source-system integration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16 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Sprint 0 access; ready sources first</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No access by end of Sprint 0</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R-15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Master-data inconsistency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16 High</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Crosswalk; opening-date owner</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Unmapped store codes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r h="47548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R-05</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Privacy exposure</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10 (critical)</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Privacy boundary; PR-01–04; review</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Identifier-like fields in scan</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R-22</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Prototype mistaken for secured or production-ready</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9 Medium</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Simulated-role note; status matrix</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c>
                  <a:txBody>
                    <a:bodyPr/>
                    <a:lstStyle/>
                    <a:p>
                      <a:pPr indent="0" marL="0">
                        <a:buNone/>
                      </a:pPr>
                      <a:r>
                        <a:rPr lang="en-US" sz="950" dirty="0">
                          <a:solidFill>
                            <a:srgbClr val="1D2A33"/>
                          </a:solidFill>
                          <a:latin typeface="Calibri" pitchFamily="34" charset="0"/>
                          <a:ea typeface="Calibri" pitchFamily="34" charset="-122"/>
                          <a:cs typeface="Calibri" pitchFamily="34" charset="-120"/>
                        </a:rPr>
                        <a:t>Prototype called "secured" or "tested with users"</a:t>
                      </a:r>
                      <a:endParaRPr lang="en-US" sz="950" dirty="0">
                        <a:latin typeface="Calibri" charset="0"/>
                        <a:ea typeface="Calibri" charset="0"/>
                        <a:cs typeface="Calibri" charset="0"/>
                      </a:endParaRPr>
                    </a:p>
                  </a:txBody>
                  <a:tcPr marL="36576" marR="36576" marT="36576" marB="36576"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F7FAFA"/>
                    </a:solidFill>
                  </a:tcPr>
                </a:tc>
              </a:tr>
            </a:tbl>
          </a:graphicData>
        </a:graphic>
      </p:graphicFrame>
      <p:sp>
        <p:nvSpPr>
          <p:cNvPr id="5" name="Shape 2"/>
          <p:cNvSpPr/>
          <p:nvPr/>
        </p:nvSpPr>
        <p:spPr>
          <a:xfrm>
            <a:off x="7680960" y="1188720"/>
            <a:ext cx="4050792" cy="5120640"/>
          </a:xfrm>
          <a:prstGeom prst="roundRect">
            <a:avLst>
              <a:gd name="adj" fmla="val 1806"/>
            </a:avLst>
          </a:prstGeom>
          <a:solidFill>
            <a:srgbClr val="F4F7F8"/>
          </a:solidFill>
          <a:ln/>
        </p:spPr>
      </p:sp>
      <p:sp>
        <p:nvSpPr>
          <p:cNvPr id="6" name="Text 3"/>
          <p:cNvSpPr txBox="1"/>
          <p:nvPr/>
        </p:nvSpPr>
        <p:spPr>
          <a:xfrm>
            <a:off x="7863840" y="1280160"/>
            <a:ext cx="3749040" cy="292608"/>
          </a:xfrm>
          <a:prstGeom prst="rect">
            <a:avLst/>
          </a:prstGeom>
          <a:noFill/>
          <a:ln/>
        </p:spPr>
        <p:txBody>
          <a:bodyPr wrap="square" lIns="0" tIns="0" rIns="0" bIns="0" rtlCol="0" anchor="t"/>
          <a:lstStyle/>
          <a:p>
            <a:pPr indent="0" marL="0">
              <a:buNone/>
            </a:pPr>
            <a:r>
              <a:rPr lang="en-US" sz="1300" b="1" dirty="0">
                <a:solidFill>
                  <a:srgbClr val="8A5300"/>
                </a:solidFill>
                <a:latin typeface="Calibri" pitchFamily="34" charset="0"/>
                <a:ea typeface="Calibri" pitchFamily="34" charset="-122"/>
                <a:cs typeface="Calibri" pitchFamily="34" charset="-120"/>
              </a:rPr>
              <a:t>Lowest-confidence assumptions</a:t>
            </a:r>
            <a:endParaRPr lang="en-US" sz="1300" dirty="0"/>
          </a:p>
        </p:txBody>
      </p:sp>
      <p:sp>
        <p:nvSpPr>
          <p:cNvPr id="7" name="Text 4"/>
          <p:cNvSpPr txBox="1"/>
          <p:nvPr/>
        </p:nvSpPr>
        <p:spPr>
          <a:xfrm>
            <a:off x="7863840" y="1645920"/>
            <a:ext cx="3749040" cy="31089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A-06 Aggregated exam counts can be shown to retail users</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A-17 Partnership Advisory Committee suits endorsement</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A-19 Manual compilation exists today</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A-26 Finance can provide weekly control totals</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A-31 / A-33 Exam↔purchase linkage without exposing identifiers</a:t>
            </a:r>
            <a:endParaRPr lang="en-US" sz="1100" dirty="0"/>
          </a:p>
          <a:p>
            <a:pPr marL="152400" indent="-152400">
              <a:spcAft>
                <a:spcPts val="500"/>
              </a:spcAft>
              <a:buSzPct val="100000"/>
              <a:buChar char="•"/>
            </a:pPr>
            <a:r>
              <a:rPr lang="en-US" sz="1100" dirty="0">
                <a:solidFill>
                  <a:srgbClr val="1D2A33"/>
                </a:solidFill>
                <a:latin typeface="Calibri" pitchFamily="34" charset="0"/>
                <a:ea typeface="Calibri" pitchFamily="34" charset="-122"/>
                <a:cs typeface="Calibri" pitchFamily="34" charset="-120"/>
              </a:rPr>
              <a:t>A-46 Optometry Partners see conversion (demonstration only, U-41)</a:t>
            </a:r>
            <a:endParaRPr lang="en-US" sz="1100" dirty="0"/>
          </a:p>
        </p:txBody>
      </p:sp>
      <p:sp>
        <p:nvSpPr>
          <p:cNvPr id="8" name="Text 5"/>
          <p:cNvSpPr txBox="1"/>
          <p:nvPr/>
        </p:nvSpPr>
        <p:spPr>
          <a:xfrm>
            <a:off x="7863840" y="4937760"/>
            <a:ext cx="3749040" cy="1188720"/>
          </a:xfrm>
          <a:prstGeom prst="rect">
            <a:avLst/>
          </a:prstGeom>
          <a:noFill/>
          <a:ln/>
        </p:spPr>
        <p:txBody>
          <a:bodyPr wrap="square" lIns="0" tIns="0" rIns="0" bIns="0" rtlCol="0" anchor="t"/>
          <a:lstStyle/>
          <a:p>
            <a:pPr indent="0" marL="0">
              <a:buNone/>
            </a:pPr>
            <a:r>
              <a:rPr lang="en-US" sz="1100" dirty="0">
                <a:solidFill>
                  <a:srgbClr val="56656F"/>
                </a:solidFill>
                <a:latin typeface="Calibri" pitchFamily="34" charset="0"/>
                <a:ea typeface="Calibri" pitchFamily="34" charset="-122"/>
                <a:cs typeface="Calibri" pitchFamily="34" charset="-120"/>
              </a:rPr>
              <a:t>Registers: 22 risks · 47 assumptions · 9 constraints · 12 dependencies · 42 open questions (phase-10-raid-registers.md).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 Comparisons for a Fast-Growing Network — Outside-In Case Study</dc:title>
  <dc:subject>Data Business Analyst case study (public information + synthetic data)</dc:subject>
  <dc:creator>PptxGenJS</dc:creator>
  <cp:lastModifiedBy>PptxGenJS</cp:lastModifiedBy>
  <cp:revision>1</cp:revision>
  <dcterms:created xsi:type="dcterms:W3CDTF">2026-09-13T20:51:27Z</dcterms:created>
  <dcterms:modified xsi:type="dcterms:W3CDTF">2026-09-13T20:51:27Z</dcterms:modified>
</cp:coreProperties>
</file>