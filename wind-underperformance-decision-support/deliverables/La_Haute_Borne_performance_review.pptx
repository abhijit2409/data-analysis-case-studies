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2.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4.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5.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6.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aafc10f02b14fbc" /><Relationship Type="http://schemas.openxmlformats.org/officeDocument/2006/relationships/extended-properties" Target="/docProps/app.xml" Id="R893e2f70869f4d12" /><Relationship Type="http://schemas.openxmlformats.org/officeDocument/2006/relationships/officeDocument" Target="/ppt/presentation.xml" Id="R6ee2c4b7ab0d445b" /></Relationships>
</file>

<file path=ppt/presentation.xml><?xml version="1.0" encoding="utf-8"?>
<p:presentation xmlns:p="http://schemas.openxmlformats.org/presentationml/2006/main">
  <p:sldMasterIdLst>
    <p:sldMasterId xmlns:r="http://schemas.openxmlformats.org/officeDocument/2006/relationships" id="2147483648" r:id="Ra8d2b7fc4c0b4ea7"/>
  </p:sldMasterIdLst>
  <p:notesMasterIdLst>
    <p:notesMasterId xmlns:r="http://schemas.openxmlformats.org/officeDocument/2006/relationships" r:id="R93222f79c1e64644"/>
  </p:notesMasterIdLst>
  <p:sldIdLst>
    <p:sldId xmlns:r="http://schemas.openxmlformats.org/officeDocument/2006/relationships" id="256" r:id="R62e88f5bc0c54051"/>
    <p:sldId xmlns:r="http://schemas.openxmlformats.org/officeDocument/2006/relationships" id="257" r:id="R0f84c57fbfa4422f"/>
    <p:sldId xmlns:r="http://schemas.openxmlformats.org/officeDocument/2006/relationships" id="258" r:id="Re46a9531032848c2"/>
    <p:sldId xmlns:r="http://schemas.openxmlformats.org/officeDocument/2006/relationships" id="259" r:id="R5eda2474e4ed4dcf"/>
    <p:sldId xmlns:r="http://schemas.openxmlformats.org/officeDocument/2006/relationships" id="260" r:id="R73aeb5b254904d8c"/>
    <p:sldId xmlns:r="http://schemas.openxmlformats.org/officeDocument/2006/relationships" id="261" r:id="Rf203b1a7f19243ae"/>
    <p:sldId xmlns:r="http://schemas.openxmlformats.org/officeDocument/2006/relationships" id="262" r:id="Rc7e338a2683f4e1c"/>
    <p:sldId xmlns:r="http://schemas.openxmlformats.org/officeDocument/2006/relationships" id="263" r:id="Rb8bd372beb794e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720117864a64e61" /><Relationship Type="http://schemas.openxmlformats.org/officeDocument/2006/relationships/slideMaster" Target="/ppt/slideMasters/slideMaster1.xml" Id="Ra8d2b7fc4c0b4ea7" /><Relationship Type="http://schemas.openxmlformats.org/officeDocument/2006/relationships/notesMaster" Target="/ppt/notesMasters/notesMaster1.xml" Id="R93222f79c1e64644" /><Relationship Type="http://schemas.openxmlformats.org/officeDocument/2006/relationships/presProps" Target="/ppt/presProps.xml" Id="R536fde50a1e44726" /><Relationship Type="http://schemas.openxmlformats.org/officeDocument/2006/relationships/tableStyles" Target="/ppt/tableStyles.xml" Id="R8c9792cd7c374409" /><Relationship Type="http://schemas.openxmlformats.org/officeDocument/2006/relationships/slide" Target="/ppt/slides/slide1.xml" Id="R62e88f5bc0c54051" /><Relationship Type="http://schemas.openxmlformats.org/officeDocument/2006/relationships/slide" Target="/ppt/slides/slide2.xml" Id="R0f84c57fbfa4422f" /><Relationship Type="http://schemas.openxmlformats.org/officeDocument/2006/relationships/slide" Target="/ppt/slides/slide3.xml" Id="Re46a9531032848c2" /><Relationship Type="http://schemas.openxmlformats.org/officeDocument/2006/relationships/slide" Target="/ppt/slides/slide4.xml" Id="R5eda2474e4ed4dcf" /><Relationship Type="http://schemas.openxmlformats.org/officeDocument/2006/relationships/slide" Target="/ppt/slides/slide5.xml" Id="R73aeb5b254904d8c" /><Relationship Type="http://schemas.openxmlformats.org/officeDocument/2006/relationships/slide" Target="/ppt/slides/slide6.xml" Id="Rf203b1a7f19243ae" /><Relationship Type="http://schemas.openxmlformats.org/officeDocument/2006/relationships/slide" Target="/ppt/slides/slide7.xml" Id="Rc7e338a2683f4e1c" /><Relationship Type="http://schemas.openxmlformats.org/officeDocument/2006/relationships/slide" Target="/ppt/slides/slide8.xml" Id="Rb8bd372beb794e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a6a4e1a6bdb49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f90bacbdf64d2e" /><Relationship Type="http://schemas.openxmlformats.org/officeDocument/2006/relationships/notesMaster" Target="/ppt/notesMasters/notesMaster1.xml" Id="R36ae74a427ec41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737aacfb4b4927" /><Relationship Type="http://schemas.openxmlformats.org/officeDocument/2006/relationships/notesMaster" Target="/ppt/notesMasters/notesMaster1.xml" Id="Re06247858b544a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faba71b51e49cb" /><Relationship Type="http://schemas.openxmlformats.org/officeDocument/2006/relationships/notesMaster" Target="/ppt/notesMasters/notesMaster1.xml" Id="R740a3b6388304b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b4f50134c44f59" /><Relationship Type="http://schemas.openxmlformats.org/officeDocument/2006/relationships/notesMaster" Target="/ppt/notesMasters/notesMaster1.xml" Id="Rc5f376fb41e249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8d30a4cf824749" /><Relationship Type="http://schemas.openxmlformats.org/officeDocument/2006/relationships/notesMaster" Target="/ppt/notesMasters/notesMaster1.xml" Id="Rd6dfa368ca834c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7a3ae0ff2546c5" /><Relationship Type="http://schemas.openxmlformats.org/officeDocument/2006/relationships/notesMaster" Target="/ppt/notesMasters/notesMaster1.xml" Id="Ra707f750501145b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4af1078e0d44e8" /><Relationship Type="http://schemas.openxmlformats.org/officeDocument/2006/relationships/notesMaster" Target="/ppt/notesMasters/notesMaster1.xml" Id="R555f9380e79946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09303063b5149fd" /><Relationship Type="http://schemas.openxmlformats.org/officeDocument/2006/relationships/notesMaster" Target="/ppt/notesMasters/notesMaster1.xml" Id="R4de15028fed6401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outputs/tables/decision_event_register.csv; docs/executive_memo.md. Values are potential shortfall, not confirmed recoverable energy.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outputs/figures/fig4_timestamp_validation.png; docs/phase_1_findings.md; docs/executive_memo.md.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outputs/tables/energy_accounting.csv. Percent split is 380.8 / 671.6 and 290.8 / 671.6. Gross shortfall is not confirmed recoverable energy.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outputs/tables/decision_event_timelines.csv, priority_rank=1. Chart shows four-hour means for readability; official event calculations use ten-minute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docs/executive_memo.md; outputs/tables/decision_event_register.csv. The 4.46% result is the documented counterfactual after removing the top event.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outputs/tables/phase3_turbine_comparison.csv; docs/phase_3_findings.md. A uses each turbine's own history, B pools the transparent curve, C is a constrained pooled gradient-boosted challenger.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docs/phase_3_findings.md, overall deterministic synthetic injection benchmark. Apparent alert burden is not a real-world false-positive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docs/executive_memo.md; docs/phase_3_findings.md. The link opens the complete public project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3fce1be57c44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1f0f6ee80f4b4a" /><Relationship Type="http://schemas.openxmlformats.org/officeDocument/2006/relationships/slideLayout" Target="/ppt/slideLayouts/slideLayout1.xml" Id="Refb6fa6a03b3402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fb6fa6a03b3402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b062d384df74290" /><Relationship Type="http://schemas.openxmlformats.org/officeDocument/2006/relationships/chart" Target="/ppt/slides/charts/chart1.xml" Id="R62122483729f477e" /><Relationship Type="http://schemas.openxmlformats.org/officeDocument/2006/relationships/hyperlink" Target="https://github.com/Abhijit2409/data-analysis-case-studies/tree/main/wind-underperformance-decision-support" TargetMode="External" Id="R39a3a5ae6e354fbd" /><Relationship Type="http://schemas.openxmlformats.org/officeDocument/2006/relationships/notesSlide" Target="/ppt/notesSlides/notesSlide1.xml" Id="R362d209a26c9478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bd9672d500b4943" /><Relationship Type="http://schemas.openxmlformats.org/officeDocument/2006/relationships/image" Target="/ppt/media/image.png" Id="R1e0425a432bd4714" /><Relationship Type="http://schemas.openxmlformats.org/officeDocument/2006/relationships/hyperlink" Target="https://github.com/Abhijit2409/data-analysis-case-studies/tree/main/wind-underperformance-decision-support" TargetMode="External" Id="Rbe6d8985e98649a8" /><Relationship Type="http://schemas.openxmlformats.org/officeDocument/2006/relationships/notesSlide" Target="/ppt/notesSlides/notesSlide2.xml" Id="R0d30bb02e5a549a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69982d9fd3e40cb" /><Relationship Type="http://schemas.openxmlformats.org/officeDocument/2006/relationships/chart" Target="/ppt/slides/charts/chart2.xml" Id="R87c1c5b50cf142f1" /><Relationship Type="http://schemas.openxmlformats.org/officeDocument/2006/relationships/hyperlink" Target="https://github.com/Abhijit2409/data-analysis-case-studies/tree/main/wind-underperformance-decision-support" TargetMode="External" Id="Rdf76dc0312ef4d92" /><Relationship Type="http://schemas.openxmlformats.org/officeDocument/2006/relationships/notesSlide" Target="/ppt/notesSlides/notesSlide3.xml" Id="R2771bc5413f64b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34da9a788b4c95" /><Relationship Type="http://schemas.openxmlformats.org/officeDocument/2006/relationships/chart" Target="/ppt/slides/charts/chart3.xml" Id="R3be61aab37164eee" /><Relationship Type="http://schemas.openxmlformats.org/officeDocument/2006/relationships/hyperlink" Target="https://github.com/Abhijit2409/data-analysis-case-studies/tree/main/wind-underperformance-decision-support" TargetMode="External" Id="R0b7713dd58bd4886" /><Relationship Type="http://schemas.openxmlformats.org/officeDocument/2006/relationships/notesSlide" Target="/ppt/notesSlides/notesSlide4.xml" Id="Rd8d5742b7e6b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66e3e98e61d405e" /><Relationship Type="http://schemas.openxmlformats.org/officeDocument/2006/relationships/chart" Target="/ppt/slides/charts/chart4.xml" Id="R1a90d5f8b24b4a81" /><Relationship Type="http://schemas.openxmlformats.org/officeDocument/2006/relationships/hyperlink" Target="https://github.com/Abhijit2409/data-analysis-case-studies/tree/main/wind-underperformance-decision-support" TargetMode="External" Id="R6730f7ed1b514b6a" /><Relationship Type="http://schemas.openxmlformats.org/officeDocument/2006/relationships/notesSlide" Target="/ppt/notesSlides/notesSlide5.xml" Id="R2e8fe76072ff4e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b653bd6d39d4cbb" /><Relationship Type="http://schemas.openxmlformats.org/officeDocument/2006/relationships/chart" Target="/ppt/slides/charts/chart5.xml" Id="Rdccaf926d63e410c" /><Relationship Type="http://schemas.openxmlformats.org/officeDocument/2006/relationships/hyperlink" Target="https://github.com/Abhijit2409/data-analysis-case-studies/tree/main/wind-underperformance-decision-support" TargetMode="External" Id="Rfac1080b856d47fe" /><Relationship Type="http://schemas.openxmlformats.org/officeDocument/2006/relationships/notesSlide" Target="/ppt/notesSlides/notesSlide6.xml" Id="Ra83d9f261b3845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d1df7b8263341a2" /><Relationship Type="http://schemas.openxmlformats.org/officeDocument/2006/relationships/chart" Target="/ppt/slides/charts/chart6.xml" Id="R814cb015f96b4a8b" /><Relationship Type="http://schemas.openxmlformats.org/officeDocument/2006/relationships/hyperlink" Target="https://github.com/Abhijit2409/data-analysis-case-studies/tree/main/wind-underperformance-decision-support" TargetMode="External" Id="Re5f3895cb8254639" /><Relationship Type="http://schemas.openxmlformats.org/officeDocument/2006/relationships/notesSlide" Target="/ppt/notesSlides/notesSlide7.xml" Id="Rd7c0612bcfdc4c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2173d163ff43e1" /><Relationship Type="http://schemas.openxmlformats.org/officeDocument/2006/relationships/hyperlink" Target="https://github.com/Abhijit2409/data-analysis-case-studies/tree/main/wind-underperformance-decision-support" TargetMode="External" Id="Rc5a6b83e7b684f27" /><Relationship Type="http://schemas.openxmlformats.org/officeDocument/2006/relationships/hyperlink" Target="https://github.com/Abhijit2409/data-analysis-case-studies/tree/main/wind-underperformance-decision-support" TargetMode="External" Id="Rcd4838cc6219412b" /><Relationship Type="http://schemas.openxmlformats.org/officeDocument/2006/relationships/notesSlide" Target="/ppt/notesSlides/notesSlide8.xml" Id="R7fdccdbc502c46a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Minimum shortfall across methods</c:v>
          </c:tx>
          <c:spPr>
            <a:solidFill xmlns:a="http://schemas.openxmlformats.org/drawingml/2006/main">
              <a:srgbClr val="0B8F87"/>
            </a:solidFill>
          </c:spPr>
          <c:cat>
            <c:strRef>
              <c:f>'Chart Data'!$A$2:$A$6</c:f>
              <c:strCache>
                <c:ptCount val="5"/>
                <c:pt idx="0">
                  <c:v>R80711  #1</c:v>
                </c:pt>
                <c:pt idx="1">
                  <c:v>R80790  #2</c:v>
                </c:pt>
                <c:pt idx="2">
                  <c:v>R80790  #3</c:v>
                </c:pt>
                <c:pt idx="3">
                  <c:v>R80736  #4</c:v>
                </c:pt>
                <c:pt idx="4">
                  <c:v>R80721  #5</c:v>
                </c:pt>
              </c:strCache>
            </c:strRef>
          </c:cat>
          <c:val>
            <c:numRef>
              <c:f>'Chart Data'!$B$2:$B$6</c:f>
              <c:numCache>
                <c:formatCode>General</c:formatCode>
                <c:ptCount val="5"/>
                <c:pt idx="0">
                  <c:v>36.8</c:v>
                </c:pt>
                <c:pt idx="1">
                  <c:v>14.5</c:v>
                </c:pt>
                <c:pt idx="2">
                  <c:v>14.2</c:v>
                </c:pt>
                <c:pt idx="3">
                  <c:v>6.4</c:v>
                </c:pt>
                <c:pt idx="4">
                  <c:v>5.4</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0B2638"/>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D7E0E4"/>
              </a:solidFill>
            </a:ln>
          </c:spPr>
        </c:majorGridlines>
        <c:title>
          <c:tx>
            <c:rich>
              <a:bodyPr xmlns:a="http://schemas.openxmlformats.org/drawingml/2006/main"/>
              <a:lstStyle xmlns:a="http://schemas.openxmlformats.org/drawingml/2006/main"/>
              <a:p xmlns:a="http://schemas.openxmlformats.org/drawingml/2006/main">
                <a:r>
                  <a:rPr sz="1050">
                    <a:solidFill>
                      <a:srgbClr val="0B2638"/>
                    </a:solidFill>
                    <a:latin typeface="Arial"/>
                    <a:ea typeface="Arial"/>
                    <a:cs typeface="Arial"/>
                  </a:rPr>
                  <a:t>Potential shortfall (MWh)</a:t>
                </a:r>
              </a:p>
            </c:rich>
          </c:tx>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0B2638"/>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0B2638"/>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doughnutChart>
        <c:ser>
          <c:idx val="0"/>
          <c:order val="0"/>
          <c:tx>
            <c:v>Potential shortfall</c:v>
          </c:tx>
          <c:dPt>
            <c:idx val="0"/>
            <c:spPr>
              <a:solidFill xmlns:a="http://schemas.openxmlformats.org/drawingml/2006/main">
                <a:srgbClr val="0B8F87"/>
              </a:solidFill>
            </c:spPr>
          </c:dPt>
          <c:dPt>
            <c:idx val="1"/>
            <c:spPr>
              <a:solidFill xmlns:a="http://schemas.openxmlformats.org/drawingml/2006/main">
                <a:srgbClr val="E28540"/>
              </a:solidFill>
            </c:spPr>
          </c:dPt>
          <c:cat>
            <c:strRef>
              <c:f>'Chart Data'!$A$2:$A$3</c:f>
              <c:strCache>
                <c:ptCount val="2"/>
                <c:pt idx="0">
                  <c:v>Persistent reviewable events</c:v>
                </c:pt>
                <c:pt idx="1">
                  <c:v>Non-persistent short dips</c:v>
                </c:pt>
              </c:strCache>
            </c:strRef>
          </c:cat>
          <c:val>
            <c:numRef>
              <c:f>'Chart Data'!$B$2:$B$3</c:f>
              <c:numCache>
                <c:formatCode>General</c:formatCode>
                <c:ptCount val="2"/>
                <c:pt idx="0">
                  <c:v>380.8</c:v>
                </c:pt>
                <c:pt idx="1">
                  <c:v>290.8</c:v>
                </c:pt>
              </c:numCache>
            </c:numRef>
          </c:val>
        </c:ser>
        <c:dLbls>
          <c:txPr>
            <a:bodyPr xmlns:a="http://schemas.openxmlformats.org/drawingml/2006/main" anchorCtr="1"/>
            <a:lstStyle xmlns:a="http://schemas.openxmlformats.org/drawingml/2006/main"/>
            <a:p xmlns:a="http://schemas.openxmlformats.org/drawingml/2006/main">
              <a:pPr>
                <a:defRPr sz="1200" b="1">
                  <a:solidFill>
                    <a:srgbClr val="0B2638"/>
                  </a:solidFill>
                  <a:latin typeface="Arial"/>
                  <a:ea typeface="Arial"/>
                  <a:cs typeface="Arial"/>
                </a:defRPr>
              </a:pPr>
            </a:p>
          </c:txPr>
          <c:showLegendKey val="0"/>
          <c:showVal val="0"/>
          <c:showCatName val="0"/>
          <c:showSerName val="0"/>
          <c:showPercent val="1"/>
          <c:showBubbleSize val="0"/>
          <c:showLeaderLines val="0"/>
        </c:dLbls>
        <c:firstSliceAng val="270"/>
        <c:holeSize val="62"/>
      </c:doughnutChart>
      <c:spPr>
        <a:solidFill xmlns:a="http://schemas.openxmlformats.org/drawingml/2006/main">
          <a:srgbClr val="F4F7F8"/>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legend>
    <c:plotVisOnly val="1"/>
  </c:chart>
  <c:spPr>
    <a:solidFill xmlns:a="http://schemas.openxmlformats.org/drawingml/2006/main">
      <a:srgbClr val="F4F7F8"/>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ser>
          <c:idx val="0"/>
          <c:order val="0"/>
          <c:tx>
            <c:v>Observed power</c:v>
          </c:tx>
          <c:spPr>
            <a:ln xmlns:a="http://schemas.openxmlformats.org/drawingml/2006/main" w="38100">
              <a:solidFill>
                <a:srgbClr val="C64949"/>
              </a:solidFill>
              <a:prstDash val="solid"/>
            </a:ln>
          </c:spPr>
          <c:marker>
            <c:symbol val="circle"/>
            <c:size val="5"/>
            <c:spPr>
              <a:solidFill xmlns:a="http://schemas.openxmlformats.org/drawingml/2006/main">
                <a:srgbClr val="C64949"/>
              </a:solidFill>
            </c:spPr>
          </c:marker>
          <c:cat>
            <c:strRef>
              <c:f>'Chart Data'!$A$2:$A$13</c:f>
              <c:strCache>
                <c:ptCount val="12"/>
                <c:pt idx="0">
                  <c:v>26 Jul, 12</c:v>
                </c:pt>
                <c:pt idx="1">
                  <c:v>26 Jul, 16</c:v>
                </c:pt>
                <c:pt idx="2">
                  <c:v>26 Jul, 20</c:v>
                </c:pt>
                <c:pt idx="3">
                  <c:v>27 Jul, 00</c:v>
                </c:pt>
                <c:pt idx="4">
                  <c:v>27 Jul, 04</c:v>
                </c:pt>
                <c:pt idx="5">
                  <c:v>27 Jul, 08</c:v>
                </c:pt>
                <c:pt idx="6">
                  <c:v>27 Jul, 12</c:v>
                </c:pt>
                <c:pt idx="7">
                  <c:v>27 Jul, 16</c:v>
                </c:pt>
                <c:pt idx="8">
                  <c:v>27 Jul, 20</c:v>
                </c:pt>
                <c:pt idx="9">
                  <c:v>28 Jul, 00</c:v>
                </c:pt>
                <c:pt idx="10">
                  <c:v>28 Jul, 04</c:v>
                </c:pt>
                <c:pt idx="11">
                  <c:v>28 Jul, 08</c:v>
                </c:pt>
              </c:strCache>
            </c:strRef>
          </c:cat>
          <c:val>
            <c:numRef>
              <c:f>'Chart Data'!$B$2:$B$13</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647</c:v>
                </c:pt>
              </c:numCache>
            </c:numRef>
          </c:val>
        </c:ser>
        <c:ser>
          <c:idx val="1"/>
          <c:order val="1"/>
          <c:tx>
            <c:v>Expected power, pooled transparent</c:v>
          </c:tx>
          <c:spPr>
            <a:ln xmlns:a="http://schemas.openxmlformats.org/drawingml/2006/main" w="38100">
              <a:solidFill>
                <a:srgbClr val="0B8F87"/>
              </a:solidFill>
              <a:prstDash val="solid"/>
            </a:ln>
          </c:spPr>
          <c:marker>
            <c:symbol val="none"/>
          </c:marker>
          <c:cat>
            <c:strRef>
              <c:f>'Chart Data'!$C$2:$C$13</c:f>
              <c:strCache>
                <c:ptCount val="12"/>
                <c:pt idx="0">
                  <c:v>26 Jul, 12</c:v>
                </c:pt>
                <c:pt idx="1">
                  <c:v>26 Jul, 16</c:v>
                </c:pt>
                <c:pt idx="2">
                  <c:v>26 Jul, 20</c:v>
                </c:pt>
                <c:pt idx="3">
                  <c:v>27 Jul, 00</c:v>
                </c:pt>
                <c:pt idx="4">
                  <c:v>27 Jul, 04</c:v>
                </c:pt>
                <c:pt idx="5">
                  <c:v>27 Jul, 08</c:v>
                </c:pt>
                <c:pt idx="6">
                  <c:v>27 Jul, 12</c:v>
                </c:pt>
                <c:pt idx="7">
                  <c:v>27 Jul, 16</c:v>
                </c:pt>
                <c:pt idx="8">
                  <c:v>27 Jul, 20</c:v>
                </c:pt>
                <c:pt idx="9">
                  <c:v>28 Jul, 00</c:v>
                </c:pt>
                <c:pt idx="10">
                  <c:v>28 Jul, 04</c:v>
                </c:pt>
                <c:pt idx="11">
                  <c:v>28 Jul, 08</c:v>
                </c:pt>
              </c:strCache>
            </c:strRef>
          </c:cat>
          <c:val>
            <c:numRef>
              <c:f>'Chart Data'!$D$2:$D$13</c:f>
              <c:numCache>
                <c:formatCode>General</c:formatCode>
                <c:ptCount val="12"/>
                <c:pt idx="0">
                  <c:v>185</c:v>
                </c:pt>
                <c:pt idx="1">
                  <c:v>649</c:v>
                </c:pt>
                <c:pt idx="2">
                  <c:v>847</c:v>
                </c:pt>
                <c:pt idx="3">
                  <c:v>1241</c:v>
                </c:pt>
                <c:pt idx="4">
                  <c:v>983</c:v>
                </c:pt>
                <c:pt idx="5">
                  <c:v>1276</c:v>
                </c:pt>
                <c:pt idx="6">
                  <c:v>1229</c:v>
                </c:pt>
                <c:pt idx="7">
                  <c:v>821</c:v>
                </c:pt>
                <c:pt idx="8">
                  <c:v>1030</c:v>
                </c:pt>
                <c:pt idx="9">
                  <c:v>689</c:v>
                </c:pt>
                <c:pt idx="10">
                  <c:v>436</c:v>
                </c:pt>
                <c:pt idx="11">
                  <c:v>867</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4757F"/>
                </a:solidFill>
                <a:latin typeface="Arial"/>
                <a:ea typeface="Arial"/>
                <a:cs typeface="Arial"/>
              </a:defRPr>
            </a:pPr>
          </a:p>
        </c:txPr>
        <c:crossAx val="48672768"/>
      </c:catAx>
      <c:valAx>
        <c:axId val="48672768"/>
        <c:scaling>
          <c:orientation val="minMax"/>
          <c:min val="0"/>
        </c:scaling>
        <c:delete val="0"/>
        <c:axPos val="l"/>
        <c:majorGridlines>
          <c:spPr>
            <a:ln xmlns:a="http://schemas.openxmlformats.org/drawingml/2006/main" w="9525">
              <a:solidFill>
                <a:srgbClr val="D7E0E4"/>
              </a:solidFill>
            </a:ln>
          </c:spPr>
        </c:majorGridlines>
        <c:title>
          <c:tx>
            <c:rich>
              <a:bodyPr xmlns:a="http://schemas.openxmlformats.org/drawingml/2006/main"/>
              <a:lstStyle xmlns:a="http://schemas.openxmlformats.org/drawingml/2006/main"/>
              <a:p xmlns:a="http://schemas.openxmlformats.org/drawingml/2006/main">
                <a:r>
                  <a:rPr sz="1050">
                    <a:solidFill>
                      <a:srgbClr val="0B2638"/>
                    </a:solidFill>
                    <a:latin typeface="Arial"/>
                    <a:ea typeface="Arial"/>
                    <a:cs typeface="Arial"/>
                  </a:rPr>
                  <a:t>Power (kW)</a:t>
                </a:r>
              </a:p>
            </c:rich>
          </c:tx>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57F"/>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legend>
    <c:plotVisOnly val="1"/>
  </c:chart>
  <c:spPr>
    <a:solidFill xmlns:a="http://schemas.openxmlformats.org/drawingml/2006/main">
      <a:srgbClr val="F4F7F8"/>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Gross shortfall</c:v>
          </c:tx>
          <c:dPt>
            <c:idx val="0"/>
            <c:invertIfNegative val="0"/>
            <c:spPr>
              <a:solidFill xmlns:a="http://schemas.openxmlformats.org/drawingml/2006/main">
                <a:srgbClr val="0B8F87"/>
              </a:solidFill>
            </c:spPr>
          </c:dPt>
          <c:dPt>
            <c:idx val="1"/>
            <c:invertIfNegative val="0"/>
            <c:spPr>
              <a:solidFill xmlns:a="http://schemas.openxmlformats.org/drawingml/2006/main">
                <a:srgbClr val="3B6EA8"/>
              </a:solidFill>
            </c:spPr>
          </c:dPt>
          <c:dPt>
            <c:idx val="2"/>
            <c:invertIfNegative val="0"/>
            <c:spPr>
              <a:solidFill xmlns:a="http://schemas.openxmlformats.org/drawingml/2006/main">
                <a:srgbClr val="E28540"/>
              </a:solidFill>
            </c:spPr>
          </c:dPt>
          <c:cat>
            <c:strRef>
              <c:f>'Chart Data'!$A$2:$A$4</c:f>
              <c:strCache>
                <c:ptCount val="3"/>
                <c:pt idx="0">
                  <c:v>R80711, all events</c:v>
                </c:pt>
                <c:pt idx="1">
                  <c:v>R80711, top event removed</c:v>
                </c:pt>
                <c:pt idx="2">
                  <c:v>R80790</c:v>
                </c:pt>
              </c:strCache>
            </c:strRef>
          </c:cat>
          <c:val>
            <c:numRef>
              <c:f>'Chart Data'!$B$2:$B$4</c:f>
              <c:numCache>
                <c:formatCode>General</c:formatCode>
                <c:ptCount val="3"/>
                <c:pt idx="0">
                  <c:v>5.35</c:v>
                </c:pt>
                <c:pt idx="1">
                  <c:v>4.46</c:v>
                </c:pt>
                <c:pt idx="2">
                  <c:v>5.1</c:v>
                </c:pt>
              </c:numCache>
            </c:numRef>
          </c:val>
        </c:ser>
        <c:dLbls>
          <c:txPr>
            <a:bodyPr xmlns:a="http://schemas.openxmlformats.org/drawingml/2006/main" anchorCtr="1"/>
            <a:lstStyle xmlns:a="http://schemas.openxmlformats.org/drawingml/2006/main"/>
            <a:p xmlns:a="http://schemas.openxmlformats.org/drawingml/2006/main">
              <a:pPr>
                <a:defRPr sz="1050" b="1">
                  <a:solidFill>
                    <a:srgbClr val="0B2638"/>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D7E0E4"/>
              </a:solidFill>
            </a:ln>
          </c:spPr>
        </c:majorGridlines>
        <c:title>
          <c:tx>
            <c:rich>
              <a:bodyPr xmlns:a="http://schemas.openxmlformats.org/drawingml/2006/main"/>
              <a:lstStyle xmlns:a="http://schemas.openxmlformats.org/drawingml/2006/main"/>
              <a:p xmlns:a="http://schemas.openxmlformats.org/drawingml/2006/main">
                <a:r>
                  <a:rPr sz="1050">
                    <a:solidFill>
                      <a:srgbClr val="0B2638"/>
                    </a:solidFill>
                    <a:latin typeface="Arial"/>
                    <a:ea typeface="Arial"/>
                    <a:cs typeface="Arial"/>
                  </a:rPr>
                  <a:t>Gross shortfall (% of potential)</a:t>
                </a:r>
              </a:p>
            </c:rich>
          </c:tx>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57F"/>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4F7F8"/>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 own history</c:v>
          </c:tx>
          <c:spPr>
            <a:solidFill xmlns:a="http://schemas.openxmlformats.org/drawingml/2006/main">
              <a:srgbClr val="3B6EA8"/>
            </a:solidFill>
          </c:spPr>
          <c:cat>
            <c:strRef>
              <c:f>'Chart Data'!$A$2:$A$5</c:f>
              <c:strCache>
                <c:ptCount val="4"/>
                <c:pt idx="0">
                  <c:v>R80711</c:v>
                </c:pt>
                <c:pt idx="1">
                  <c:v>R80721</c:v>
                </c:pt>
                <c:pt idx="2">
                  <c:v>R80736</c:v>
                </c:pt>
                <c:pt idx="3">
                  <c:v>R80790</c:v>
                </c:pt>
              </c:strCache>
            </c:strRef>
          </c:cat>
          <c:val>
            <c:numRef>
              <c:f>'Chart Data'!$B$2:$B$5</c:f>
              <c:numCache>
                <c:formatCode>0.0</c:formatCode>
                <c:ptCount val="4"/>
                <c:pt idx="0">
                  <c:v>4.36</c:v>
                </c:pt>
                <c:pt idx="1">
                  <c:v>4.22</c:v>
                </c:pt>
                <c:pt idx="2">
                  <c:v>4.25</c:v>
                </c:pt>
                <c:pt idx="3">
                  <c:v>6.15</c:v>
                </c:pt>
              </c:numCache>
            </c:numRef>
          </c:val>
        </c:ser>
        <c:ser>
          <c:idx val="1"/>
          <c:order val="1"/>
          <c:tx>
            <c:v>B: pooled transparent</c:v>
          </c:tx>
          <c:spPr>
            <a:solidFill xmlns:a="http://schemas.openxmlformats.org/drawingml/2006/main">
              <a:srgbClr val="E28540"/>
            </a:solidFill>
          </c:spPr>
          <c:cat>
            <c:strRef>
              <c:f>'Chart Data'!$C$2:$C$5</c:f>
              <c:strCache>
                <c:ptCount val="4"/>
                <c:pt idx="0">
                  <c:v>R80711</c:v>
                </c:pt>
                <c:pt idx="1">
                  <c:v>R80721</c:v>
                </c:pt>
                <c:pt idx="2">
                  <c:v>R80736</c:v>
                </c:pt>
                <c:pt idx="3">
                  <c:v>R80790</c:v>
                </c:pt>
              </c:strCache>
            </c:strRef>
          </c:cat>
          <c:val>
            <c:numRef>
              <c:f>'Chart Data'!$D$2:$D$5</c:f>
              <c:numCache>
                <c:formatCode>0.0</c:formatCode>
                <c:ptCount val="4"/>
                <c:pt idx="0">
                  <c:v>5.35</c:v>
                </c:pt>
                <c:pt idx="1">
                  <c:v>4.49</c:v>
                </c:pt>
                <c:pt idx="2">
                  <c:v>4.15</c:v>
                </c:pt>
                <c:pt idx="3">
                  <c:v>5.1</c:v>
                </c:pt>
              </c:numCache>
            </c:numRef>
          </c:val>
        </c:ser>
        <c:ser>
          <c:idx val="2"/>
          <c:order val="2"/>
          <c:tx>
            <c:v>C: pooled challenger</c:v>
          </c:tx>
          <c:spPr>
            <a:solidFill xmlns:a="http://schemas.openxmlformats.org/drawingml/2006/main">
              <a:srgbClr val="0B8F87"/>
            </a:solidFill>
          </c:spPr>
          <c:cat>
            <c:strRef>
              <c:f>'Chart Data'!$E$2:$E$5</c:f>
              <c:strCache>
                <c:ptCount val="4"/>
                <c:pt idx="0">
                  <c:v>R80711</c:v>
                </c:pt>
                <c:pt idx="1">
                  <c:v>R80721</c:v>
                </c:pt>
                <c:pt idx="2">
                  <c:v>R80736</c:v>
                </c:pt>
                <c:pt idx="3">
                  <c:v>R80790</c:v>
                </c:pt>
              </c:strCache>
            </c:strRef>
          </c:cat>
          <c:val>
            <c:numRef>
              <c:f>'Chart Data'!$F$2:$F$5</c:f>
              <c:numCache>
                <c:formatCode>0.0</c:formatCode>
                <c:ptCount val="4"/>
                <c:pt idx="0">
                  <c:v>4.72</c:v>
                </c:pt>
                <c:pt idx="1">
                  <c:v>3.56</c:v>
                </c:pt>
                <c:pt idx="2">
                  <c:v>3.23</c:v>
                </c:pt>
                <c:pt idx="3">
                  <c:v>4.58</c:v>
                </c:pt>
              </c:numCache>
            </c:numRef>
          </c:val>
        </c:ser>
        <c:dLbls>
          <c:txPr>
            <a:bodyPr xmlns:a="http://schemas.openxmlformats.org/drawingml/2006/main" anchorCtr="1"/>
            <a:lstStyle xmlns:a="http://schemas.openxmlformats.org/drawingml/2006/main"/>
            <a:p xmlns:a="http://schemas.openxmlformats.org/drawingml/2006/main">
              <a:pPr>
                <a:defRPr sz="825">
                  <a:solidFill>
                    <a:srgbClr val="0B2638"/>
                  </a:solidFill>
                  <a:latin typeface="Arial"/>
                  <a:ea typeface="Arial"/>
                  <a:cs typeface="Arial"/>
                </a:defRPr>
              </a:pPr>
            </a:p>
          </c:txPr>
          <c:dLblPos val="outEnd"/>
          <c:showLegendKey val="0"/>
          <c:showVal val="1"/>
          <c:showCatName val="0"/>
          <c:showSerName val="0"/>
          <c:showPercent val="0"/>
          <c:showBubbleSize val="0"/>
          <c:showLeaderLines val="0"/>
        </c:dLbls>
        <c:gapWidth val="8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0B2638"/>
                </a:solidFill>
                <a:latin typeface="Arial"/>
                <a:ea typeface="Arial"/>
                <a:cs typeface="Arial"/>
              </a:defRPr>
            </a:pPr>
          </a:p>
        </c:txPr>
        <c:crossAx val="48672768"/>
      </c:catAx>
      <c:valAx>
        <c:axId val="48672768"/>
        <c:scaling>
          <c:orientation val="minMax"/>
          <c:max val="7"/>
          <c:min val="0"/>
        </c:scaling>
        <c:delete val="0"/>
        <c:axPos val="l"/>
        <c:majorGridlines>
          <c:spPr>
            <a:ln xmlns:a="http://schemas.openxmlformats.org/drawingml/2006/main" w="9525">
              <a:solidFill>
                <a:srgbClr val="D7E0E4"/>
              </a:solidFill>
            </a:ln>
          </c:spPr>
        </c:majorGridlines>
        <c:title>
          <c:tx>
            <c:rich>
              <a:bodyPr xmlns:a="http://schemas.openxmlformats.org/drawingml/2006/main"/>
              <a:lstStyle xmlns:a="http://schemas.openxmlformats.org/drawingml/2006/main"/>
              <a:p xmlns:a="http://schemas.openxmlformats.org/drawingml/2006/main">
                <a:r>
                  <a:rPr sz="1050">
                    <a:solidFill>
                      <a:srgbClr val="0B2638"/>
                    </a:solidFill>
                    <a:latin typeface="Arial"/>
                    <a:ea typeface="Arial"/>
                    <a:cs typeface="Arial"/>
                  </a:rPr>
                  <a:t>Gross shortfall (% of potential)</a:t>
                </a:r>
              </a:p>
            </c:rich>
          </c:tx>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57F"/>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975">
              <a:solidFill>
                <a:srgbClr val="0B2638"/>
              </a:solidFill>
              <a:latin typeface="Arial"/>
              <a:ea typeface="Arial"/>
              <a:cs typeface="Arial"/>
            </a:defRPr>
          </a:pPr>
        </a:p>
      </c:txPr>
    </c:legend>
    <c:plotVisOnly val="1"/>
  </c:chart>
  <c:spPr>
    <a:solidFill xmlns:a="http://schemas.openxmlformats.org/drawingml/2006/main">
      <a:srgbClr val="F4F7F8"/>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Injected-event recovery</c:v>
          </c:tx>
          <c:spPr>
            <a:solidFill xmlns:a="http://schemas.openxmlformats.org/drawingml/2006/main">
              <a:srgbClr val="0B8F87"/>
            </a:solidFill>
          </c:spPr>
          <c:cat>
            <c:strRef>
              <c:f>'Chart Data'!$A$2:$A$4</c:f>
              <c:strCache>
                <c:ptCount val="3"/>
                <c:pt idx="0">
                  <c:v>A: own history</c:v>
                </c:pt>
                <c:pt idx="1">
                  <c:v>B: pooled transparent</c:v>
                </c:pt>
                <c:pt idx="2">
                  <c:v>C: challenger</c:v>
                </c:pt>
              </c:strCache>
            </c:strRef>
          </c:cat>
          <c:val>
            <c:numRef>
              <c:f>'Chart Data'!$B$2:$B$4</c:f>
              <c:numCache>
                <c:formatCode>0</c:formatCode>
                <c:ptCount val="3"/>
                <c:pt idx="0">
                  <c:v>74.59</c:v>
                </c:pt>
                <c:pt idx="1">
                  <c:v>77.13</c:v>
                </c:pt>
                <c:pt idx="2">
                  <c:v>81.83</c:v>
                </c:pt>
              </c:numCache>
            </c:numRef>
          </c:val>
        </c:ser>
        <c:ser>
          <c:idx val="1"/>
          <c:order val="1"/>
          <c:tx>
            <c:v>Apparent alert burden</c:v>
          </c:tx>
          <c:spPr>
            <a:solidFill xmlns:a="http://schemas.openxmlformats.org/drawingml/2006/main">
              <a:srgbClr val="E28540"/>
            </a:solidFill>
          </c:spPr>
          <c:cat>
            <c:strRef>
              <c:f>'Chart Data'!$C$2:$C$4</c:f>
              <c:strCache>
                <c:ptCount val="3"/>
                <c:pt idx="0">
                  <c:v>A: own history</c:v>
                </c:pt>
                <c:pt idx="1">
                  <c:v>B: pooled transparent</c:v>
                </c:pt>
                <c:pt idx="2">
                  <c:v>C: challenger</c:v>
                </c:pt>
              </c:strCache>
            </c:strRef>
          </c:cat>
          <c:val>
            <c:numRef>
              <c:f>'Chart Data'!$D$2:$D$4</c:f>
              <c:numCache>
                <c:formatCode>0</c:formatCode>
                <c:ptCount val="3"/>
                <c:pt idx="0">
                  <c:v>37.89</c:v>
                </c:pt>
                <c:pt idx="1">
                  <c:v>39.93</c:v>
                </c:pt>
                <c:pt idx="2">
                  <c:v>40.83</c:v>
                </c:pt>
              </c:numCache>
            </c:numRef>
          </c:val>
        </c:ser>
        <c:dLbls>
          <c:txPr>
            <a:bodyPr xmlns:a="http://schemas.openxmlformats.org/drawingml/2006/main" anchorCtr="1"/>
            <a:lstStyle xmlns:a="http://schemas.openxmlformats.org/drawingml/2006/main"/>
            <a:p xmlns:a="http://schemas.openxmlformats.org/drawingml/2006/main">
              <a:pPr>
                <a:defRPr sz="900" b="1">
                  <a:solidFill>
                    <a:srgbClr val="0B2638"/>
                  </a:solidFill>
                  <a:latin typeface="Arial"/>
                  <a:ea typeface="Arial"/>
                  <a:cs typeface="Arial"/>
                </a:defRPr>
              </a:pPr>
            </a:p>
          </c:txPr>
          <c:dLblPos val="outEnd"/>
          <c:showLegendKey val="0"/>
          <c:showVal val="1"/>
          <c:showCatName val="0"/>
          <c:showSerName val="0"/>
          <c:showPercent val="0"/>
          <c:showBubbleSize val="0"/>
          <c:showLeaderLines val="0"/>
        </c:dLbls>
        <c:gapWidth val="7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7E0E4"/>
              </a:solidFill>
            </a:ln>
          </c:spPr>
        </c:majorGridlines>
        <c:title>
          <c:tx>
            <c:rich>
              <a:bodyPr xmlns:a="http://schemas.openxmlformats.org/drawingml/2006/main"/>
              <a:lstStyle xmlns:a="http://schemas.openxmlformats.org/drawingml/2006/main"/>
              <a:p xmlns:a="http://schemas.openxmlformats.org/drawingml/2006/main">
                <a:r>
                  <a:rPr sz="1050">
                    <a:solidFill>
                      <a:srgbClr val="0B2638"/>
                    </a:solidFill>
                    <a:latin typeface="Arial"/>
                    <a:ea typeface="Arial"/>
                    <a:cs typeface="Arial"/>
                  </a:rPr>
                  <a:t>Share of windows (%)</a:t>
                </a:r>
              </a:p>
            </c:rich>
          </c:tx>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4757F"/>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0B2638"/>
              </a:solidFill>
              <a:latin typeface="Arial"/>
              <a:ea typeface="Arial"/>
              <a:cs typeface="Arial"/>
            </a:defRPr>
          </a:pPr>
        </a:p>
      </c:txPr>
    </c:legend>
    <c:plotVisOnly val="1"/>
  </c:chart>
  <c:spPr>
    <a:solidFill xmlns:a="http://schemas.openxmlformats.org/drawingml/2006/main">
      <a:srgbClr val="F4F7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263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43F537C-B8A7-40C1-B928-340B361C27F5}"/>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11907559-C30C-420C-ADA3-EDDD424792F4}"/>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72D0C8"/>
                </a:solidFill>
                <a:latin typeface="Arial"/>
                <a:ea typeface="Arial"/>
                <a:cs typeface="Arial"/>
              </a:defRPr>
            </a:pPr>
            <a:r>
              <a:rPr sz="1050" b="1" i="0">
                <a:solidFill>
                  <a:srgbClr val="72D0C8"/>
                </a:solidFill>
                <a:latin typeface="Arial"/>
                <a:ea typeface="Arial"/>
                <a:cs typeface="Arial"/>
              </a:rPr>
              <a:t>EXECUTIVE DECISION</a:t>
            </a:r>
          </a:p>
        </p:txBody>
      </p:sp>
      <p:sp>
        <p:nvSpPr>
          <p:cNvPr id="3" name="">
            <a:extLst xmlns:a="http://schemas.openxmlformats.org/drawingml/2006/main">
              <a:ext uri="{FF2B5EF4-FFF2-40B4-BE49-F238E27FC236}">
                <a16:creationId xmlns:a16="http://schemas.microsoft.com/office/drawing/2014/main" id="{5F53ADE3-9297-496E-BB41-A15C3AA76247}"/>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FFFFFF"/>
                </a:solidFill>
                <a:latin typeface="Arial"/>
                <a:ea typeface="Arial"/>
                <a:cs typeface="Arial"/>
              </a:defRPr>
            </a:pPr>
            <a:r>
              <a:rPr sz="3300" b="1" i="0">
                <a:solidFill>
                  <a:srgbClr val="FFFFFF"/>
                </a:solidFill>
                <a:latin typeface="Arial"/>
                <a:ea typeface="Arial"/>
                <a:cs typeface="Arial"/>
              </a:rPr>
              <a:t>Which issue should be investigated first?</a:t>
            </a:r>
          </a:p>
        </p:txBody>
      </p:sp>
      <p:sp>
        <p:nvSpPr>
          <p:cNvPr id="4" name="">
            <a:extLst xmlns:a="http://schemas.openxmlformats.org/drawingml/2006/main">
              <a:ext uri="{FF2B5EF4-FFF2-40B4-BE49-F238E27FC236}">
                <a16:creationId xmlns:a16="http://schemas.microsoft.com/office/drawing/2014/main" id="{62B2DCF9-0BA7-4F58-9041-FB3F9F23B3E2}"/>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A8C0CD"/>
                </a:solidFill>
                <a:latin typeface="Arial"/>
                <a:ea typeface="Arial"/>
                <a:cs typeface="Arial"/>
              </a:defRPr>
            </a:pPr>
            <a:r>
              <a:rPr sz="975" b="0" i="0">
                <a:solidFill>
                  <a:srgbClr val="A8C0CD"/>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030A7B4C-D1DB-4CA0-9026-164BD2804DEC}"/>
              </a:ext>
            </a:extLst>
          </p:cNvPr>
          <p:cNvSpPr>
            <a:spLocks xmlns:a="http://schemas.openxmlformats.org/drawingml/2006/main" noGrp="1"/>
          </p:cNvSpPr>
          <p:nvPr/>
        </p:nvSpPr>
        <p:spPr>
          <a:xfrm xmlns:a="http://schemas.openxmlformats.org/drawingml/2006/main">
            <a:off x="609600" y="1524000"/>
            <a:ext cx="304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4797"/>
          </a:bodyPr>
          <a:lstStyle xmlns:a="http://schemas.openxmlformats.org/drawingml/2006/main"/>
          <a:p xmlns:a="http://schemas.openxmlformats.org/drawingml/2006/main">
            <a:pPr algn="l">
              <a:lnSpc>
                <a:spcPct val="108000"/>
              </a:lnSpc>
              <a:buNone/>
              <a:defRPr sz="5250" b="1" i="0">
                <a:solidFill>
                  <a:srgbClr val="FFFFFF"/>
                </a:solidFill>
                <a:latin typeface="Arial"/>
                <a:ea typeface="Arial"/>
                <a:cs typeface="Arial"/>
              </a:defRPr>
            </a:pPr>
            <a:r>
              <a:rPr sz="5250" b="1" i="0">
                <a:solidFill>
                  <a:srgbClr val="FFFFFF"/>
                </a:solidFill>
                <a:latin typeface="Arial"/>
                <a:ea typeface="Arial"/>
                <a:cs typeface="Arial"/>
              </a:rPr>
              <a:t>R80711</a:t>
            </a:r>
          </a:p>
        </p:txBody>
      </p:sp>
      <p:sp>
        <p:nvSpPr>
          <p:cNvPr id="6" name="">
            <a:extLst xmlns:a="http://schemas.openxmlformats.org/drawingml/2006/main">
              <a:ext uri="{FF2B5EF4-FFF2-40B4-BE49-F238E27FC236}">
                <a16:creationId xmlns:a16="http://schemas.microsoft.com/office/drawing/2014/main" id="{71371194-DE74-47B0-94B7-D266BCB13E0C}"/>
              </a:ext>
            </a:extLst>
          </p:cNvPr>
          <p:cNvSpPr>
            <a:spLocks xmlns:a="http://schemas.openxmlformats.org/drawingml/2006/main" noGrp="1"/>
          </p:cNvSpPr>
          <p:nvPr/>
        </p:nvSpPr>
        <p:spPr>
          <a:xfrm xmlns:a="http://schemas.openxmlformats.org/drawingml/2006/main">
            <a:off x="609600" y="23431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72D0C8"/>
                </a:solidFill>
                <a:latin typeface="Arial"/>
                <a:ea typeface="Arial"/>
                <a:cs typeface="Arial"/>
              </a:defRPr>
            </a:pPr>
            <a:r>
              <a:rPr sz="1650" b="1" i="0">
                <a:solidFill>
                  <a:srgbClr val="72D0C8"/>
                </a:solidFill>
                <a:latin typeface="Arial"/>
                <a:ea typeface="Arial"/>
                <a:cs typeface="Arial"/>
              </a:rPr>
              <a:t>26-28 July 2015  |  42.5 hours</a:t>
            </a:r>
          </a:p>
        </p:txBody>
      </p:sp>
      <p:sp>
        <p:nvSpPr>
          <p:cNvPr id="7" name="">
            <a:extLst xmlns:a="http://schemas.openxmlformats.org/drawingml/2006/main">
              <a:ext uri="{FF2B5EF4-FFF2-40B4-BE49-F238E27FC236}">
                <a16:creationId xmlns:a16="http://schemas.microsoft.com/office/drawing/2014/main" id="{357043C4-1ED0-4E6A-9FD3-F97753C8A5D8}"/>
              </a:ext>
            </a:extLst>
          </p:cNvPr>
          <p:cNvSpPr>
            <a:spLocks xmlns:a="http://schemas.openxmlformats.org/drawingml/2006/main" noGrp="1"/>
          </p:cNvSpPr>
          <p:nvPr/>
        </p:nvSpPr>
        <p:spPr>
          <a:xfrm xmlns:a="http://schemas.openxmlformats.org/drawingml/2006/main">
            <a:off x="609600" y="2914650"/>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8C0CD"/>
                </a:solidFill>
                <a:latin typeface="Arial"/>
                <a:ea typeface="Arial"/>
                <a:cs typeface="Arial"/>
              </a:defRPr>
            </a:pPr>
            <a:r>
              <a:rPr sz="1200" b="0" i="0">
                <a:solidFill>
                  <a:srgbClr val="A8C0CD"/>
                </a:solidFill>
                <a:latin typeface="Arial"/>
                <a:ea typeface="Arial"/>
                <a:cs typeface="Arial"/>
              </a:rPr>
              <a:t>Potential shortfall</a:t>
            </a:r>
          </a:p>
        </p:txBody>
      </p:sp>
      <p:sp>
        <p:nvSpPr>
          <p:cNvPr id="8" name="">
            <a:extLst xmlns:a="http://schemas.openxmlformats.org/drawingml/2006/main">
              <a:ext uri="{FF2B5EF4-FFF2-40B4-BE49-F238E27FC236}">
                <a16:creationId xmlns:a16="http://schemas.microsoft.com/office/drawing/2014/main" id="{6CECADE3-5305-483F-B481-5B01707AE1FB}"/>
              </a:ext>
            </a:extLst>
          </p:cNvPr>
          <p:cNvSpPr>
            <a:spLocks xmlns:a="http://schemas.openxmlformats.org/drawingml/2006/main" noGrp="1"/>
          </p:cNvSpPr>
          <p:nvPr/>
        </p:nvSpPr>
        <p:spPr>
          <a:xfrm xmlns:a="http://schemas.openxmlformats.org/drawingml/2006/main">
            <a:off x="609600" y="3162300"/>
            <a:ext cx="323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02"/>
          </a:bodyPr>
          <a:lstStyle xmlns:a="http://schemas.openxmlformats.org/drawingml/2006/main"/>
          <a:p xmlns:a="http://schemas.openxmlformats.org/drawingml/2006/main">
            <a:pPr algn="l">
              <a:lnSpc>
                <a:spcPct val="108000"/>
              </a:lnSpc>
              <a:buNone/>
              <a:defRPr sz="2625" b="1" i="0">
                <a:solidFill>
                  <a:srgbClr val="FFFFFF"/>
                </a:solidFill>
                <a:latin typeface="Arial"/>
                <a:ea typeface="Arial"/>
                <a:cs typeface="Arial"/>
              </a:defRPr>
            </a:pPr>
            <a:r>
              <a:rPr sz="2625" b="1" i="0">
                <a:solidFill>
                  <a:srgbClr val="FFFFFF"/>
                </a:solidFill>
                <a:latin typeface="Arial"/>
                <a:ea typeface="Arial"/>
                <a:cs typeface="Arial"/>
              </a:rPr>
              <a:t>36.8-37.6 MWh</a:t>
            </a:r>
          </a:p>
        </p:txBody>
      </p:sp>
      <p:sp>
        <p:nvSpPr>
          <p:cNvPr id="9" name="">
            <a:extLst xmlns:a="http://schemas.openxmlformats.org/drawingml/2006/main">
              <a:ext uri="{FF2B5EF4-FFF2-40B4-BE49-F238E27FC236}">
                <a16:creationId xmlns:a16="http://schemas.microsoft.com/office/drawing/2014/main" id="{F8CEF180-1740-490E-A61E-BCF0A8DB8341}"/>
              </a:ext>
            </a:extLst>
          </p:cNvPr>
          <p:cNvSpPr>
            <a:spLocks xmlns:a="http://schemas.openxmlformats.org/drawingml/2006/main" noGrp="1"/>
          </p:cNvSpPr>
          <p:nvPr/>
        </p:nvSpPr>
        <p:spPr>
          <a:xfrm xmlns:a="http://schemas.openxmlformats.org/drawingml/2006/main">
            <a:off x="609600" y="3638550"/>
            <a:ext cx="4238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Arial"/>
                <a:ea typeface="Arial"/>
                <a:cs typeface="Arial"/>
              </a:defRPr>
            </a:pPr>
            <a:r>
              <a:rPr sz="1350" b="0" i="0">
                <a:solidFill>
                  <a:srgbClr val="FFFFFF"/>
                </a:solidFill>
                <a:latin typeface="Arial"/>
                <a:ea typeface="Arial"/>
                <a:cs typeface="Arial"/>
              </a:rPr>
              <a:t>Illustrative exposure: EUR 1,842-4,513 at EUR 50-120/MWh</a:t>
            </a:r>
          </a:p>
        </p:txBody>
      </p:sp>
      <p:sp>
        <p:nvSpPr>
          <p:cNvPr id="10" name="">
            <a:extLst xmlns:a="http://schemas.openxmlformats.org/drawingml/2006/main">
              <a:ext uri="{FF2B5EF4-FFF2-40B4-BE49-F238E27FC236}">
                <a16:creationId xmlns:a16="http://schemas.microsoft.com/office/drawing/2014/main" id="{CAD60FED-713F-42A0-AA34-AD480F61A6BE}"/>
              </a:ext>
            </a:extLst>
          </p:cNvPr>
          <p:cNvSpPr>
            <a:spLocks xmlns:a="http://schemas.openxmlformats.org/drawingml/2006/main" noGrp="1"/>
          </p:cNvSpPr>
          <p:nvPr/>
        </p:nvSpPr>
        <p:spPr>
          <a:xfrm xmlns:a="http://schemas.openxmlformats.org/drawingml/2006/main">
            <a:off x="609600" y="4314825"/>
            <a:ext cx="4238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FFFFFF"/>
                </a:solidFill>
                <a:latin typeface="Arial"/>
                <a:ea typeface="Arial"/>
                <a:cs typeface="Arial"/>
              </a:defRPr>
            </a:pPr>
            <a:r>
              <a:rPr sz="1500" b="0" i="0">
                <a:solidFill>
                  <a:srgbClr val="FFFFFF"/>
                </a:solidFill>
                <a:latin typeface="Arial"/>
                <a:ea typeface="Arial"/>
                <a:cs typeface="Arial"/>
              </a:rPr>
              <a:t>All three methods agree. Confidence remains medium because no operational record exists.</a:t>
            </a:r>
          </a:p>
        </p:txBody>
      </p:sp>
      <p:sp>
        <p:nvSpPr>
          <p:cNvPr id="11" name="">
            <a:extLst xmlns:a="http://schemas.openxmlformats.org/drawingml/2006/main">
              <a:ext uri="{FF2B5EF4-FFF2-40B4-BE49-F238E27FC236}">
                <a16:creationId xmlns:a16="http://schemas.microsoft.com/office/drawing/2014/main" id="{4F988844-79E8-4E62-9CEC-A28547155014}"/>
              </a:ext>
            </a:extLst>
          </p:cNvPr>
          <p:cNvSpPr>
            <a:spLocks xmlns:a="http://schemas.openxmlformats.org/drawingml/2006/main" noGrp="1"/>
          </p:cNvSpPr>
          <p:nvPr/>
        </p:nvSpPr>
        <p:spPr>
          <a:xfrm xmlns:a="http://schemas.openxmlformats.org/drawingml/2006/main">
            <a:off x="609600" y="5143500"/>
            <a:ext cx="4238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FFD0A8"/>
                </a:solidFill>
                <a:latin typeface="Arial"/>
                <a:ea typeface="Arial"/>
                <a:cs typeface="Arial"/>
              </a:defRPr>
            </a:pPr>
            <a:r>
              <a:rPr sz="1500" b="1" i="0">
                <a:solidFill>
                  <a:srgbClr val="FFD0A8"/>
                </a:solidFill>
                <a:latin typeface="Arial"/>
                <a:ea typeface="Arial"/>
                <a:cs typeface="Arial"/>
              </a:rPr>
              <a:t>Potential shortfall is not confirmed recoverable energy.</a:t>
            </a:r>
          </a:p>
        </p:txBody>
      </p:sp>
      <p:sp>
        <p:nvSpPr>
          <p:cNvPr id="12" name="">
            <a:extLst xmlns:a="http://schemas.openxmlformats.org/drawingml/2006/main">
              <a:ext uri="{FF2B5EF4-FFF2-40B4-BE49-F238E27FC236}">
                <a16:creationId xmlns:a16="http://schemas.microsoft.com/office/drawing/2014/main" id="{997FE728-A8FB-42E8-9D81-C8BF76FDC6F3}"/>
              </a:ext>
            </a:extLst>
          </p:cNvPr>
          <p:cNvSpPr>
            <a:spLocks xmlns:a="http://schemas.openxmlformats.org/drawingml/2006/main" noGrp="1"/>
          </p:cNvSpPr>
          <p:nvPr/>
        </p:nvSpPr>
        <p:spPr>
          <a:xfrm xmlns:a="http://schemas.openxmlformats.org/drawingml/2006/main">
            <a:off x="609600" y="5772150"/>
            <a:ext cx="423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72D0C8"/>
                </a:solidFill>
                <a:latin typeface="Arial"/>
                <a:ea typeface="Arial"/>
                <a:cs typeface="Arial"/>
              </a:defRPr>
            </a:pPr>
            <a:r>
              <a:rPr sz="1350" b="1" i="0">
                <a:solidFill>
                  <a:srgbClr val="72D0C8"/>
                </a:solidFill>
                <a:latin typeface="Arial"/>
                <a:ea typeface="Arial"/>
                <a:cs typeface="Arial"/>
              </a:rPr>
              <a:t>Next step: request event codes and work orders for the interval.</a:t>
            </a:r>
          </a:p>
        </p:txBody>
      </p:sp>
      <p:graphicFrame>
        <p:nvGraphicFramePr>
          <p:cNvPr id="29" name="Chart"/>
          <p:cNvGraphicFramePr/>
          <p:nvPr/>
        </p:nvGraphicFramePr>
        <p:xfrm>
          <a:off xmlns:a="http://schemas.openxmlformats.org/drawingml/2006/main" x="5219700" y="1562100"/>
          <a:ext xmlns:a="http://schemas.openxmlformats.org/drawingml/2006/main" cx="6286500" cy="4267200"/>
        </p:xfrm>
        <a:graphic xmlns:a="http://schemas.openxmlformats.org/drawingml/2006/main">
          <a:graphicData uri="http://schemas.openxmlformats.org/drawingml/2006/chart">
            <c:chart xmlns:r="http://schemas.openxmlformats.org/officeDocument/2006/relationships" xmlns:c="http://schemas.openxmlformats.org/drawingml/2006/chart" r:id="R62122483729f477e"/>
          </a:graphicData>
        </a:graphic>
      </p:graphicFrame>
      <p:sp>
        <p:nvSpPr>
          <p:cNvPr id="14" name="">
            <a:extLst xmlns:a="http://schemas.openxmlformats.org/drawingml/2006/main">
              <a:ext uri="{FF2B5EF4-FFF2-40B4-BE49-F238E27FC236}">
                <a16:creationId xmlns:a16="http://schemas.microsoft.com/office/drawing/2014/main" id="{B10D1D8A-3722-4924-B91A-365F986579AA}"/>
              </a:ext>
            </a:extLst>
          </p:cNvPr>
          <p:cNvSpPr>
            <a:spLocks xmlns:a="http://schemas.openxmlformats.org/drawingml/2006/main" noGrp="1"/>
          </p:cNvSpPr>
          <p:nvPr/>
        </p:nvSpPr>
        <p:spPr>
          <a:xfrm xmlns:a="http://schemas.openxmlformats.org/drawingml/2006/main">
            <a:off x="5391150" y="1295400"/>
            <a:ext cx="590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A8C0CD"/>
                </a:solidFill>
                <a:latin typeface="Arial"/>
                <a:ea typeface="Arial"/>
                <a:cs typeface="Arial"/>
              </a:defRPr>
            </a:pPr>
            <a:r>
              <a:rPr sz="1200" b="1" i="0">
                <a:solidFill>
                  <a:srgbClr val="A8C0CD"/>
                </a:solidFill>
                <a:latin typeface="Arial"/>
                <a:ea typeface="Arial"/>
                <a:cs typeface="Arial"/>
              </a:rPr>
              <a:t>Priority register: top five discrete events</a:t>
            </a:r>
          </a:p>
        </p:txBody>
      </p:sp>
      <p:sp>
        <p:nvSpPr>
          <p:cNvPr id="15" name="">
            <a:extLst xmlns:a="http://schemas.openxmlformats.org/drawingml/2006/main">
              <a:ext uri="{FF2B5EF4-FFF2-40B4-BE49-F238E27FC236}">
                <a16:creationId xmlns:a16="http://schemas.microsoft.com/office/drawing/2014/main" id="{E3521AE2-B3DC-4BBA-A4CD-DE61B5A7CA4F}"/>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A8C0CD"/>
                </a:solidFill>
                <a:latin typeface="Arial"/>
                <a:ea typeface="Arial"/>
                <a:cs typeface="Arial"/>
              </a:defRPr>
            </a:pPr>
            <a:r>
              <a:rPr sz="750" b="0" i="0">
                <a:solidFill>
                  <a:srgbClr val="A8C0CD"/>
                </a:solidFill>
                <a:latin typeface="Arial"/>
                <a:ea typeface="Arial"/>
                <a:cs typeface="Arial"/>
              </a:rPr>
              <a:t>Independent project. Public data: ENGIE La Haute Borne, Etalab Open Licence 2.0, via OpenOA. No Clir Renewables data, software or methodology used.</a:t>
            </a:r>
          </a:p>
        </p:txBody>
      </p:sp>
      <p:sp>
        <p:nvSpPr>
          <p:cNvPr id="16" name="">
            <a:extLst xmlns:a="http://schemas.openxmlformats.org/drawingml/2006/main">
              <a:ext uri="{FF2B5EF4-FFF2-40B4-BE49-F238E27FC236}">
                <a16:creationId xmlns:a16="http://schemas.microsoft.com/office/drawing/2014/main" id="{0C22710F-1FBF-41FE-B75F-9B3DAD9D11E0}"/>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72D0C8"/>
                </a:solidFill>
                <a:latin typeface="Arial"/>
                <a:ea typeface="Arial"/>
                <a:cs typeface="Arial"/>
              </a:defRPr>
            </a:pPr>
            <a:r>
              <a:rPr sz="825" u="sng">
                <a:solidFill>
                  <a:srgbClr val="72D0C8"/>
                </a:solidFill>
                <a:latin typeface="Arial"/>
                <a:ea typeface="Arial"/>
                <a:cs typeface="Arial"/>
                <a:hlinkClick xmlns:r="http://schemas.openxmlformats.org/officeDocument/2006/relationships" r:id="R39a3a5ae6e354fbd"/>
              </a:rPr>
              <a:t>Open project and supporting evidence</a:t>
            </a:r>
          </a:p>
        </p:txBody>
      </p:sp>
    </p:spTree>
    <p:extLst>
      <p:ext uri="{BB962C8B-B14F-4D97-AF65-F5344CB8AC3E}">
        <p14:creationId xmlns:p14="http://schemas.microsoft.com/office/powerpoint/2010/main" val="2029467533"/>
      </p:ext>
    </p:extLst>
  </p:cSld>
</p:sld>
</file>

<file path=ppt/slides/slide2.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4DB5102-0DD9-4672-9BF9-D96CDF7F9ED8}"/>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A663EF91-E322-4141-8CF3-5D4C43FCE869}"/>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DATA TRUST</a:t>
            </a:r>
          </a:p>
        </p:txBody>
      </p:sp>
      <p:sp>
        <p:nvSpPr>
          <p:cNvPr id="3" name="">
            <a:extLst xmlns:a="http://schemas.openxmlformats.org/drawingml/2006/main">
              <a:ext uri="{FF2B5EF4-FFF2-40B4-BE49-F238E27FC236}">
                <a16:creationId xmlns:a16="http://schemas.microsoft.com/office/drawing/2014/main" id="{846B25DA-7914-42A0-BBA6-C269A8AAD276}"/>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What trusting the raw data would have missed</a:t>
            </a:r>
          </a:p>
        </p:txBody>
      </p:sp>
      <p:sp>
        <p:nvSpPr>
          <p:cNvPr id="4" name="">
            <a:extLst xmlns:a="http://schemas.openxmlformats.org/drawingml/2006/main">
              <a:ext uri="{FF2B5EF4-FFF2-40B4-BE49-F238E27FC236}">
                <a16:creationId xmlns:a16="http://schemas.microsoft.com/office/drawing/2014/main" id="{ADDAAD57-099D-423E-8668-8A05B8D196A2}"/>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34A97301-9263-4B8D-87A3-6E52A88258A8}"/>
              </a:ext>
            </a:extLst>
          </p:cNvPr>
          <p:cNvSpPr>
            <a:spLocks xmlns:a="http://schemas.openxmlformats.org/drawingml/2006/main" noGrp="1"/>
          </p:cNvSpPr>
          <p:nvPr/>
        </p:nvSpPr>
        <p:spPr>
          <a:xfrm xmlns:a="http://schemas.openxmlformats.org/drawingml/2006/main">
            <a:off x="609600" y="1409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1523"/>
          </a:bodyPr>
          <a:lstStyle xmlns:a="http://schemas.openxmlformats.org/drawingml/2006/main"/>
          <a:p xmlns:a="http://schemas.openxmlformats.org/drawingml/2006/main">
            <a:pPr algn="l">
              <a:lnSpc>
                <a:spcPct val="108000"/>
              </a:lnSpc>
              <a:buNone/>
              <a:defRPr sz="1800" b="1" i="0">
                <a:solidFill>
                  <a:srgbClr val="C64949"/>
                </a:solidFill>
                <a:latin typeface="Arial"/>
                <a:ea typeface="Arial"/>
                <a:cs typeface="Arial"/>
              </a:defRPr>
            </a:pPr>
            <a:r>
              <a:rPr sz="1800" b="1" i="0">
                <a:solidFill>
                  <a:srgbClr val="C64949"/>
                </a:solidFill>
                <a:latin typeface="Arial"/>
                <a:ea typeface="Arial"/>
                <a:cs typeface="Arial"/>
              </a:rPr>
              <a:t>The timestamps looked reliable and were wrong</a:t>
            </a:r>
          </a:p>
        </p:txBody>
      </p:sp>
      <p:sp>
        <p:nvSpPr>
          <p:cNvPr id="6" name="">
            <a:extLst xmlns:a="http://schemas.openxmlformats.org/drawingml/2006/main">
              <a:ext uri="{FF2B5EF4-FFF2-40B4-BE49-F238E27FC236}">
                <a16:creationId xmlns:a16="http://schemas.microsoft.com/office/drawing/2014/main" id="{EE5F99D2-FA24-4826-8CF2-E82721789317}"/>
              </a:ext>
            </a:extLst>
          </p:cNvPr>
          <p:cNvSpPr>
            <a:spLocks xmlns:a="http://schemas.openxmlformats.org/drawingml/2006/main" noGrp="1"/>
          </p:cNvSpPr>
          <p:nvPr/>
        </p:nvSpPr>
        <p:spPr>
          <a:xfrm xmlns:a="http://schemas.openxmlformats.org/drawingml/2006/main">
            <a:off x="609600" y="1790700"/>
            <a:ext cx="47625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632"/>
          </a:bodyPr>
          <a:lstStyle xmlns:a="http://schemas.openxmlformats.org/drawingml/2006/main"/>
          <a:p xmlns:a="http://schemas.openxmlformats.org/drawingml/2006/main">
            <a:pPr algn="l">
              <a:lnSpc>
                <a:spcPct val="108000"/>
              </a:lnSpc>
              <a:buNone/>
              <a:defRPr sz="1500" b="0" i="0">
                <a:solidFill>
                  <a:srgbClr val="1B2C36"/>
                </a:solidFill>
                <a:latin typeface="Arial"/>
                <a:ea typeface="Arial"/>
                <a:cs typeface="Arial"/>
              </a:defRPr>
            </a:pPr>
            <a:r>
              <a:rPr sz="1500" b="0" i="0">
                <a:solidFill>
                  <a:srgbClr val="1B2C36"/>
                </a:solidFill>
                <a:latin typeface="Arial"/>
                <a:ea typeface="Arial"/>
                <a:cs typeface="Arial"/>
              </a:rPr>
              <a:t>Proper daylight-saving offsets hid a logger clock that never moved. Every summer record sat one hour early, for about seven months of each year. The correction removed all 48 duplicate and 48 absent intervals and closed the seasonal gap against independent reanalysis.</a:t>
            </a:r>
          </a:p>
        </p:txBody>
      </p:sp>
      <p:sp>
        <p:nvSpPr>
          <p:cNvPr id="7" name="">
            <a:extLst xmlns:a="http://schemas.openxmlformats.org/drawingml/2006/main">
              <a:ext uri="{FF2B5EF4-FFF2-40B4-BE49-F238E27FC236}">
                <a16:creationId xmlns:a16="http://schemas.microsoft.com/office/drawing/2014/main" id="{08E567B5-D968-473E-9E0F-D1B54E197EB1}"/>
              </a:ext>
            </a:extLst>
          </p:cNvPr>
          <p:cNvSpPr>
            <a:spLocks xmlns:a="http://schemas.openxmlformats.org/drawingml/2006/main" noGrp="1"/>
          </p:cNvSpPr>
          <p:nvPr/>
        </p:nvSpPr>
        <p:spPr>
          <a:xfrm xmlns:a="http://schemas.openxmlformats.org/drawingml/2006/main">
            <a:off x="609600" y="33718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E28540"/>
                </a:solidFill>
                <a:latin typeface="Arial"/>
                <a:ea typeface="Arial"/>
                <a:cs typeface="Arial"/>
              </a:defRPr>
            </a:pPr>
            <a:r>
              <a:rPr sz="1650" b="1" i="0">
                <a:solidFill>
                  <a:srgbClr val="E28540"/>
                </a:solidFill>
                <a:latin typeface="Arial"/>
                <a:ea typeface="Arial"/>
                <a:cs typeface="Arial"/>
              </a:rPr>
              <a:t>The meter series is synthetic</a:t>
            </a:r>
          </a:p>
        </p:txBody>
      </p:sp>
      <p:sp>
        <p:nvSpPr>
          <p:cNvPr id="8" name="">
            <a:extLst xmlns:a="http://schemas.openxmlformats.org/drawingml/2006/main">
              <a:ext uri="{FF2B5EF4-FFF2-40B4-BE49-F238E27FC236}">
                <a16:creationId xmlns:a16="http://schemas.microsoft.com/office/drawing/2014/main" id="{466AE938-485B-443F-9F0F-065611F3C0FB}"/>
              </a:ext>
            </a:extLst>
          </p:cNvPr>
          <p:cNvSpPr>
            <a:spLocks xmlns:a="http://schemas.openxmlformats.org/drawingml/2006/main" noGrp="1"/>
          </p:cNvSpPr>
          <p:nvPr/>
        </p:nvSpPr>
        <p:spPr>
          <a:xfrm xmlns:a="http://schemas.openxmlformats.org/drawingml/2006/main">
            <a:off x="609600" y="3733800"/>
            <a:ext cx="4762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The publisher derived it from SCADA. That removes the only external cross-check, so all verification here is internal.</a:t>
            </a:r>
          </a:p>
        </p:txBody>
      </p:sp>
      <p:sp>
        <p:nvSpPr>
          <p:cNvPr id="9" name="">
            <a:extLst xmlns:a="http://schemas.openxmlformats.org/drawingml/2006/main">
              <a:ext uri="{FF2B5EF4-FFF2-40B4-BE49-F238E27FC236}">
                <a16:creationId xmlns:a16="http://schemas.microsoft.com/office/drawing/2014/main" id="{C04237A5-459F-428F-8E0A-351828DB8D71}"/>
              </a:ext>
            </a:extLst>
          </p:cNvPr>
          <p:cNvSpPr>
            <a:spLocks xmlns:a="http://schemas.openxmlformats.org/drawingml/2006/main" noGrp="1"/>
          </p:cNvSpPr>
          <p:nvPr/>
        </p:nvSpPr>
        <p:spPr>
          <a:xfrm xmlns:a="http://schemas.openxmlformats.org/drawingml/2006/main">
            <a:off x="609600" y="474345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B6EA8"/>
                </a:solidFill>
                <a:latin typeface="Arial"/>
                <a:ea typeface="Arial"/>
                <a:cs typeface="Arial"/>
              </a:defRPr>
            </a:pPr>
            <a:r>
              <a:rPr sz="1650" b="1" i="0">
                <a:solidFill>
                  <a:srgbClr val="3B6EA8"/>
                </a:solidFill>
                <a:latin typeface="Arial"/>
                <a:ea typeface="Arial"/>
                <a:cs typeface="Arial"/>
              </a:rPr>
              <a:t>Missing data is never zero</a:t>
            </a:r>
          </a:p>
        </p:txBody>
      </p:sp>
      <p:sp>
        <p:nvSpPr>
          <p:cNvPr id="10" name="">
            <a:extLst xmlns:a="http://schemas.openxmlformats.org/drawingml/2006/main">
              <a:ext uri="{FF2B5EF4-FFF2-40B4-BE49-F238E27FC236}">
                <a16:creationId xmlns:a16="http://schemas.microsoft.com/office/drawing/2014/main" id="{343EEDF2-EA79-4636-9941-31CF4989572E}"/>
              </a:ext>
            </a:extLst>
          </p:cNvPr>
          <p:cNvSpPr>
            <a:spLocks xmlns:a="http://schemas.openxmlformats.org/drawingml/2006/main" noGrp="1"/>
          </p:cNvSpPr>
          <p:nvPr/>
        </p:nvSpPr>
        <p:spPr>
          <a:xfrm xmlns:a="http://schemas.openxmlformats.org/drawingml/2006/main">
            <a:off x="609600" y="510540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Gaps run up to 132.8 hours. 388 gaps are site-wide. Filling them would invent days of false outage.</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1e0425a432bd4714"/>
          <a:stretch xmlns:a="http://schemas.openxmlformats.org/drawingml/2006/main"/>
        </p:blipFill>
        <p:spPr>
          <a:xfrm xmlns:a="http://schemas.openxmlformats.org/drawingml/2006/main">
            <a:off x="5619750" y="2416969"/>
            <a:ext cx="5905500" cy="2214563"/>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5C22BAD-94F7-40F4-942B-DFB58E3D6749}"/>
              </a:ext>
            </a:extLst>
          </p:cNvPr>
          <p:cNvSpPr>
            <a:spLocks xmlns:a="http://schemas.openxmlformats.org/drawingml/2006/main" noGrp="1"/>
          </p:cNvSpPr>
          <p:nvPr/>
        </p:nvSpPr>
        <p:spPr>
          <a:xfrm xmlns:a="http://schemas.openxmlformats.org/drawingml/2006/main">
            <a:off x="5810250" y="5619750"/>
            <a:ext cx="552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4757F"/>
                </a:solidFill>
                <a:latin typeface="Arial"/>
                <a:ea typeface="Arial"/>
                <a:cs typeface="Arial"/>
              </a:defRPr>
            </a:pPr>
            <a:r>
              <a:rPr sz="1200" b="1" i="0">
                <a:solidFill>
                  <a:srgbClr val="64757F"/>
                </a:solidFill>
                <a:latin typeface="Arial"/>
                <a:ea typeface="Arial"/>
                <a:cs typeface="Arial"/>
              </a:rPr>
              <a:t>Evidence for the one-hour correction</a:t>
            </a:r>
          </a:p>
        </p:txBody>
      </p:sp>
      <p:sp>
        <p:nvSpPr>
          <p:cNvPr id="13" name="">
            <a:extLst xmlns:a="http://schemas.openxmlformats.org/drawingml/2006/main">
              <a:ext uri="{FF2B5EF4-FFF2-40B4-BE49-F238E27FC236}">
                <a16:creationId xmlns:a16="http://schemas.microsoft.com/office/drawing/2014/main" id="{E01E8A93-6BF1-403F-A506-72AD3568AC18}"/>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14" name="">
            <a:extLst xmlns:a="http://schemas.openxmlformats.org/drawingml/2006/main">
              <a:ext uri="{FF2B5EF4-FFF2-40B4-BE49-F238E27FC236}">
                <a16:creationId xmlns:a16="http://schemas.microsoft.com/office/drawing/2014/main" id="{D16CEE64-FEDD-4469-B89F-C332713DAB74}"/>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be6d8985e98649a8"/>
              </a:rPr>
              <a:t>Open project and supporting evidence</a:t>
            </a:r>
          </a:p>
        </p:txBody>
      </p:sp>
    </p:spTree>
    <p:extLst>
      <p:ext uri="{BB962C8B-B14F-4D97-AF65-F5344CB8AC3E}">
        <p14:creationId xmlns:p14="http://schemas.microsoft.com/office/powerpoint/2010/main" val="1202857604"/>
      </p:ext>
    </p:extLst>
  </p:cSld>
</p:sld>
</file>

<file path=ppt/slides/slide3.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6E54CA9-9454-49F6-8173-2EBE721A96D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0A7478E4-759F-41D5-BC35-A459DCB61FC1}"/>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ENERGY ACCOUNTING</a:t>
            </a:r>
          </a:p>
        </p:txBody>
      </p:sp>
      <p:sp>
        <p:nvSpPr>
          <p:cNvPr id="3" name="">
            <a:extLst xmlns:a="http://schemas.openxmlformats.org/drawingml/2006/main">
              <a:ext uri="{FF2B5EF4-FFF2-40B4-BE49-F238E27FC236}">
                <a16:creationId xmlns:a16="http://schemas.microsoft.com/office/drawing/2014/main" id="{BE0684FF-4B58-49F0-8A70-123CA0C29060}"/>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469"/>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Only 57% of the headline sits inside reviewable events</a:t>
            </a:r>
          </a:p>
        </p:txBody>
      </p:sp>
      <p:sp>
        <p:nvSpPr>
          <p:cNvPr id="4" name="">
            <a:extLst xmlns:a="http://schemas.openxmlformats.org/drawingml/2006/main">
              <a:ext uri="{FF2B5EF4-FFF2-40B4-BE49-F238E27FC236}">
                <a16:creationId xmlns:a16="http://schemas.microsoft.com/office/drawing/2014/main" id="{7D2BE769-937C-4104-95A3-7F4D35C797B6}"/>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3/8</a:t>
            </a:r>
          </a:p>
        </p:txBody>
      </p:sp>
      <p:graphicFrame>
        <p:nvGraphicFramePr>
          <p:cNvPr id="18" name="Chart"/>
          <p:cNvGraphicFramePr/>
          <p:nvPr/>
        </p:nvGraphicFramePr>
        <p:xfrm>
          <a:off xmlns:a="http://schemas.openxmlformats.org/drawingml/2006/main" x="533400" y="1524000"/>
          <a:ext xmlns:a="http://schemas.openxmlformats.org/drawingml/2006/main" cx="5143500" cy="4095750"/>
        </p:xfrm>
        <a:graphic xmlns:a="http://schemas.openxmlformats.org/drawingml/2006/main">
          <a:graphicData uri="http://schemas.openxmlformats.org/drawingml/2006/chart">
            <c:chart xmlns:r="http://schemas.openxmlformats.org/officeDocument/2006/relationships" xmlns:c="http://schemas.openxmlformats.org/drawingml/2006/chart" r:id="R87c1c5b50cf142f1"/>
          </a:graphicData>
        </a:graphic>
      </p:graphicFrame>
      <p:sp>
        <p:nvSpPr>
          <p:cNvPr id="6" name="">
            <a:extLst xmlns:a="http://schemas.openxmlformats.org/drawingml/2006/main">
              <a:ext uri="{FF2B5EF4-FFF2-40B4-BE49-F238E27FC236}">
                <a16:creationId xmlns:a16="http://schemas.microsoft.com/office/drawing/2014/main" id="{75C7A629-CDBE-4E9A-A435-56BCEA631756}"/>
              </a:ext>
            </a:extLst>
          </p:cNvPr>
          <p:cNvSpPr>
            <a:spLocks xmlns:a="http://schemas.openxmlformats.org/drawingml/2006/main" noGrp="1"/>
          </p:cNvSpPr>
          <p:nvPr/>
        </p:nvSpPr>
        <p:spPr>
          <a:xfrm xmlns:a="http://schemas.openxmlformats.org/drawingml/2006/main">
            <a:off x="6286500" y="1619250"/>
            <a:ext cx="4095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451"/>
          </a:bodyPr>
          <a:lstStyle xmlns:a="http://schemas.openxmlformats.org/drawingml/2006/main"/>
          <a:p xmlns:a="http://schemas.openxmlformats.org/drawingml/2006/main">
            <a:pPr algn="l">
              <a:lnSpc>
                <a:spcPct val="108000"/>
              </a:lnSpc>
              <a:buNone/>
              <a:defRPr sz="3600" b="1" i="0">
                <a:solidFill>
                  <a:srgbClr val="0B2638"/>
                </a:solidFill>
                <a:latin typeface="Arial"/>
                <a:ea typeface="Arial"/>
                <a:cs typeface="Arial"/>
              </a:defRPr>
            </a:pPr>
            <a:r>
              <a:rPr sz="3600" b="1" i="0">
                <a:solidFill>
                  <a:srgbClr val="0B2638"/>
                </a:solidFill>
                <a:latin typeface="Arial"/>
                <a:ea typeface="Arial"/>
                <a:cs typeface="Arial"/>
              </a:rPr>
              <a:t>671.6 MWh</a:t>
            </a:r>
          </a:p>
        </p:txBody>
      </p:sp>
      <p:sp>
        <p:nvSpPr>
          <p:cNvPr id="7" name="">
            <a:extLst xmlns:a="http://schemas.openxmlformats.org/drawingml/2006/main">
              <a:ext uri="{FF2B5EF4-FFF2-40B4-BE49-F238E27FC236}">
                <a16:creationId xmlns:a16="http://schemas.microsoft.com/office/drawing/2014/main" id="{7D382E15-BB84-47F4-9730-06048E1BDF7B}"/>
              </a:ext>
            </a:extLst>
          </p:cNvPr>
          <p:cNvSpPr>
            <a:spLocks xmlns:a="http://schemas.openxmlformats.org/drawingml/2006/main" noGrp="1"/>
          </p:cNvSpPr>
          <p:nvPr/>
        </p:nvSpPr>
        <p:spPr>
          <a:xfrm xmlns:a="http://schemas.openxmlformats.org/drawingml/2006/main">
            <a:off x="6286500" y="219075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4757F"/>
                </a:solidFill>
                <a:latin typeface="Arial"/>
                <a:ea typeface="Arial"/>
                <a:cs typeface="Arial"/>
              </a:defRPr>
            </a:pPr>
            <a:r>
              <a:rPr sz="1575" b="0" i="0">
                <a:solidFill>
                  <a:srgbClr val="64757F"/>
                </a:solidFill>
                <a:latin typeface="Arial"/>
                <a:ea typeface="Arial"/>
                <a:cs typeface="Arial"/>
              </a:rPr>
              <a:t>Gross positive residual shortfall</a:t>
            </a:r>
          </a:p>
        </p:txBody>
      </p:sp>
      <p:sp>
        <p:nvSpPr>
          <p:cNvPr id="8" name="">
            <a:extLst xmlns:a="http://schemas.openxmlformats.org/drawingml/2006/main">
              <a:ext uri="{FF2B5EF4-FFF2-40B4-BE49-F238E27FC236}">
                <a16:creationId xmlns:a16="http://schemas.microsoft.com/office/drawing/2014/main" id="{E6562EAF-AFC8-4818-BEE8-698AC6A43553}"/>
              </a:ext>
            </a:extLst>
          </p:cNvPr>
          <p:cNvSpPr>
            <a:spLocks xmlns:a="http://schemas.openxmlformats.org/drawingml/2006/main" noGrp="1"/>
          </p:cNvSpPr>
          <p:nvPr/>
        </p:nvSpPr>
        <p:spPr>
          <a:xfrm xmlns:a="http://schemas.openxmlformats.org/drawingml/2006/main">
            <a:off x="6286500" y="28956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380.8 MWh inside persistent reviewable events</a:t>
            </a:r>
          </a:p>
        </p:txBody>
      </p:sp>
      <p:sp>
        <p:nvSpPr>
          <p:cNvPr id="9" name="">
            <a:extLst xmlns:a="http://schemas.openxmlformats.org/drawingml/2006/main">
              <a:ext uri="{FF2B5EF4-FFF2-40B4-BE49-F238E27FC236}">
                <a16:creationId xmlns:a16="http://schemas.microsoft.com/office/drawing/2014/main" id="{7BDD37CA-49DA-47C5-9ADC-3BB4AAAF3F23}"/>
              </a:ext>
            </a:extLst>
          </p:cNvPr>
          <p:cNvSpPr>
            <a:spLocks xmlns:a="http://schemas.openxmlformats.org/drawingml/2006/main" noGrp="1"/>
          </p:cNvSpPr>
          <p:nvPr/>
        </p:nvSpPr>
        <p:spPr>
          <a:xfrm xmlns:a="http://schemas.openxmlformats.org/drawingml/2006/main">
            <a:off x="6286500" y="3352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E28540"/>
                </a:solidFill>
                <a:latin typeface="Arial"/>
                <a:ea typeface="Arial"/>
                <a:cs typeface="Arial"/>
              </a:defRPr>
            </a:pPr>
            <a:r>
              <a:rPr sz="1650" b="1" i="0">
                <a:solidFill>
                  <a:srgbClr val="E28540"/>
                </a:solidFill>
                <a:latin typeface="Arial"/>
                <a:ea typeface="Arial"/>
                <a:cs typeface="Arial"/>
              </a:rPr>
              <a:t>290.8 MWh in non-persistent short dips</a:t>
            </a:r>
          </a:p>
        </p:txBody>
      </p:sp>
      <p:sp>
        <p:nvSpPr>
          <p:cNvPr id="10" name="">
            <a:extLst xmlns:a="http://schemas.openxmlformats.org/drawingml/2006/main">
              <a:ext uri="{FF2B5EF4-FFF2-40B4-BE49-F238E27FC236}">
                <a16:creationId xmlns:a16="http://schemas.microsoft.com/office/drawing/2014/main" id="{04DF6120-AAAA-47C2-B4BA-17B9C5A0A4C1}"/>
              </a:ext>
            </a:extLst>
          </p:cNvPr>
          <p:cNvSpPr>
            <a:spLocks xmlns:a="http://schemas.openxmlformats.org/drawingml/2006/main" noGrp="1"/>
          </p:cNvSpPr>
          <p:nvPr/>
        </p:nvSpPr>
        <p:spPr>
          <a:xfrm xmlns:a="http://schemas.openxmlformats.org/drawingml/2006/main">
            <a:off x="6286500" y="4057650"/>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1B2C36"/>
                </a:solidFill>
                <a:latin typeface="Arial"/>
                <a:ea typeface="Arial"/>
                <a:cs typeface="Arial"/>
              </a:defRPr>
            </a:pPr>
            <a:r>
              <a:rPr sz="1500" b="0" i="0">
                <a:solidFill>
                  <a:srgbClr val="1B2C36"/>
                </a:solidFill>
                <a:latin typeface="Arial"/>
                <a:ea typeface="Arial"/>
                <a:cs typeface="Arial"/>
              </a:rPr>
              <a:t>Energy during missing data remains unknown, not zero. Another 2,771 records cannot be assessed.</a:t>
            </a:r>
          </a:p>
        </p:txBody>
      </p:sp>
      <p:sp>
        <p:nvSpPr>
          <p:cNvPr id="11" name="">
            <a:extLst xmlns:a="http://schemas.openxmlformats.org/drawingml/2006/main">
              <a:ext uri="{FF2B5EF4-FFF2-40B4-BE49-F238E27FC236}">
                <a16:creationId xmlns:a16="http://schemas.microsoft.com/office/drawing/2014/main" id="{0AEAF7F8-8207-4DF1-9AFE-453A7538247A}"/>
              </a:ext>
            </a:extLst>
          </p:cNvPr>
          <p:cNvSpPr>
            <a:spLocks xmlns:a="http://schemas.openxmlformats.org/drawingml/2006/main" noGrp="1"/>
          </p:cNvSpPr>
          <p:nvPr/>
        </p:nvSpPr>
        <p:spPr>
          <a:xfrm xmlns:a="http://schemas.openxmlformats.org/drawingml/2006/main">
            <a:off x="6286500" y="5010150"/>
            <a:ext cx="476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725"/>
          </a:bodyPr>
          <a:lstStyle xmlns:a="http://schemas.openxmlformats.org/drawingml/2006/main"/>
          <a:p xmlns:a="http://schemas.openxmlformats.org/drawingml/2006/main">
            <a:pPr algn="l">
              <a:lnSpc>
                <a:spcPct val="108000"/>
              </a:lnSpc>
              <a:buNone/>
              <a:defRPr sz="1350" b="0" i="0">
                <a:solidFill>
                  <a:srgbClr val="1B2C36"/>
                </a:solidFill>
                <a:latin typeface="Arial"/>
                <a:ea typeface="Arial"/>
                <a:cs typeface="Arial"/>
              </a:defRPr>
            </a:pPr>
            <a:r>
              <a:rPr sz="1350" b="0" i="0">
                <a:solidFill>
                  <a:srgbClr val="1B2C36"/>
                </a:solidFill>
                <a:latin typeface="Arial"/>
                <a:ea typeface="Arial"/>
                <a:cs typeface="Arial"/>
              </a:rPr>
              <a:t>The remainder is scattered across thousands of dips that never persist for an hour. Turbulence, sensor noise and curve approximation fit the evidence as well as an operational cause. Treating the full headline as actionable would overstate the result.</a:t>
            </a:r>
          </a:p>
        </p:txBody>
      </p:sp>
      <p:sp>
        <p:nvSpPr>
          <p:cNvPr id="12" name="">
            <a:extLst xmlns:a="http://schemas.openxmlformats.org/drawingml/2006/main">
              <a:ext uri="{FF2B5EF4-FFF2-40B4-BE49-F238E27FC236}">
                <a16:creationId xmlns:a16="http://schemas.microsoft.com/office/drawing/2014/main" id="{967B441F-52DA-4AD7-9613-A9F68B5C0CB2}"/>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13" name="">
            <a:extLst xmlns:a="http://schemas.openxmlformats.org/drawingml/2006/main">
              <a:ext uri="{FF2B5EF4-FFF2-40B4-BE49-F238E27FC236}">
                <a16:creationId xmlns:a16="http://schemas.microsoft.com/office/drawing/2014/main" id="{A1B60F2F-463B-49AB-AE64-A32DC79AAC18}"/>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df76dc0312ef4d92"/>
              </a:rPr>
              <a:t>Open project and supporting evidence</a:t>
            </a:r>
          </a:p>
        </p:txBody>
      </p:sp>
    </p:spTree>
    <p:extLst>
      <p:ext uri="{BB962C8B-B14F-4D97-AF65-F5344CB8AC3E}">
        <p14:creationId xmlns:p14="http://schemas.microsoft.com/office/powerpoint/2010/main" val="884520471"/>
      </p:ext>
    </p:extLst>
  </p:cSld>
</p:sld>
</file>

<file path=ppt/slides/slide4.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A5961F39-CC7D-455B-80AB-BFE4E69CFB7F}"/>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32FFA0CB-E1D7-4ECB-AD82-D173D306C024}"/>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FIRST INVESTIGATION</a:t>
            </a:r>
          </a:p>
        </p:txBody>
      </p:sp>
      <p:sp>
        <p:nvSpPr>
          <p:cNvPr id="3" name="">
            <a:extLst xmlns:a="http://schemas.openxmlformats.org/drawingml/2006/main">
              <a:ext uri="{FF2B5EF4-FFF2-40B4-BE49-F238E27FC236}">
                <a16:creationId xmlns:a16="http://schemas.microsoft.com/office/drawing/2014/main" id="{CFD82300-4E48-48AE-BFBC-842151F35928}"/>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R80711 stopped while its peers kept producing</a:t>
            </a:r>
          </a:p>
        </p:txBody>
      </p:sp>
      <p:sp>
        <p:nvSpPr>
          <p:cNvPr id="4" name="">
            <a:extLst xmlns:a="http://schemas.openxmlformats.org/drawingml/2006/main">
              <a:ext uri="{FF2B5EF4-FFF2-40B4-BE49-F238E27FC236}">
                <a16:creationId xmlns:a16="http://schemas.microsoft.com/office/drawing/2014/main" id="{70F8918C-87CE-4B78-B0D3-37E119187992}"/>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4/8</a:t>
            </a:r>
          </a:p>
        </p:txBody>
      </p:sp>
      <p:graphicFrame>
        <p:nvGraphicFramePr>
          <p:cNvPr id="18" name="Chart"/>
          <p:cNvGraphicFramePr/>
          <p:nvPr/>
        </p:nvGraphicFramePr>
        <p:xfrm>
          <a:off xmlns:a="http://schemas.openxmlformats.org/drawingml/2006/main" x="533400" y="1619250"/>
          <a:ext xmlns:a="http://schemas.openxmlformats.org/drawingml/2006/main" cx="7239000" cy="3714750"/>
        </p:xfrm>
        <a:graphic xmlns:a="http://schemas.openxmlformats.org/drawingml/2006/main">
          <a:graphicData uri="http://schemas.openxmlformats.org/drawingml/2006/chart">
            <c:chart xmlns:r="http://schemas.openxmlformats.org/officeDocument/2006/relationships" xmlns:c="http://schemas.openxmlformats.org/drawingml/2006/chart" r:id="R3be61aab37164eee"/>
          </a:graphicData>
        </a:graphic>
      </p:graphicFrame>
      <p:sp>
        <p:nvSpPr>
          <p:cNvPr id="6" name="">
            <a:extLst xmlns:a="http://schemas.openxmlformats.org/drawingml/2006/main">
              <a:ext uri="{FF2B5EF4-FFF2-40B4-BE49-F238E27FC236}">
                <a16:creationId xmlns:a16="http://schemas.microsoft.com/office/drawing/2014/main" id="{D336B776-34D6-4BDA-BFC3-B28DCE506411}"/>
              </a:ext>
            </a:extLst>
          </p:cNvPr>
          <p:cNvSpPr>
            <a:spLocks xmlns:a="http://schemas.openxmlformats.org/drawingml/2006/main" noGrp="1"/>
          </p:cNvSpPr>
          <p:nvPr/>
        </p:nvSpPr>
        <p:spPr>
          <a:xfrm xmlns:a="http://schemas.openxmlformats.org/drawingml/2006/main">
            <a:off x="8191500" y="1676400"/>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236"/>
          </a:bodyPr>
          <a:lstStyle xmlns:a="http://schemas.openxmlformats.org/drawingml/2006/main"/>
          <a:p xmlns:a="http://schemas.openxmlformats.org/drawingml/2006/main">
            <a:pPr algn="l">
              <a:lnSpc>
                <a:spcPct val="108000"/>
              </a:lnSpc>
              <a:buNone/>
              <a:defRPr sz="3600" b="1" i="0">
                <a:solidFill>
                  <a:srgbClr val="C64949"/>
                </a:solidFill>
                <a:latin typeface="Arial"/>
                <a:ea typeface="Arial"/>
                <a:cs typeface="Arial"/>
              </a:defRPr>
            </a:pPr>
            <a:r>
              <a:rPr sz="3600" b="1" i="0">
                <a:solidFill>
                  <a:srgbClr val="C64949"/>
                </a:solidFill>
                <a:latin typeface="Arial"/>
                <a:ea typeface="Arial"/>
                <a:cs typeface="Arial"/>
              </a:rPr>
              <a:t>97.6%</a:t>
            </a:r>
          </a:p>
        </p:txBody>
      </p:sp>
      <p:sp>
        <p:nvSpPr>
          <p:cNvPr id="7" name="">
            <a:extLst xmlns:a="http://schemas.openxmlformats.org/drawingml/2006/main">
              <a:ext uri="{FF2B5EF4-FFF2-40B4-BE49-F238E27FC236}">
                <a16:creationId xmlns:a16="http://schemas.microsoft.com/office/drawing/2014/main" id="{57381D6E-C37B-45BA-84A5-9B105FFB2114}"/>
              </a:ext>
            </a:extLst>
          </p:cNvPr>
          <p:cNvSpPr>
            <a:spLocks xmlns:a="http://schemas.openxmlformats.org/drawingml/2006/main" noGrp="1"/>
          </p:cNvSpPr>
          <p:nvPr/>
        </p:nvSpPr>
        <p:spPr>
          <a:xfrm xmlns:a="http://schemas.openxmlformats.org/drawingml/2006/main">
            <a:off x="8191500" y="222885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64757F"/>
                </a:solidFill>
                <a:latin typeface="Arial"/>
                <a:ea typeface="Arial"/>
                <a:cs typeface="Arial"/>
              </a:defRPr>
            </a:pPr>
            <a:r>
              <a:rPr sz="1500" b="0" i="0">
                <a:solidFill>
                  <a:srgbClr val="64757F"/>
                </a:solidFill>
                <a:latin typeface="Arial"/>
                <a:ea typeface="Arial"/>
                <a:cs typeface="Arial"/>
              </a:rPr>
              <a:t>of records at or below zero</a:t>
            </a:r>
          </a:p>
        </p:txBody>
      </p:sp>
      <p:sp>
        <p:nvSpPr>
          <p:cNvPr id="8" name="">
            <a:extLst xmlns:a="http://schemas.openxmlformats.org/drawingml/2006/main">
              <a:ext uri="{FF2B5EF4-FFF2-40B4-BE49-F238E27FC236}">
                <a16:creationId xmlns:a16="http://schemas.microsoft.com/office/drawing/2014/main" id="{7B880A07-7CC1-4CC9-A484-C504684D4583}"/>
              </a:ext>
            </a:extLst>
          </p:cNvPr>
          <p:cNvSpPr>
            <a:spLocks xmlns:a="http://schemas.openxmlformats.org/drawingml/2006/main" noGrp="1"/>
          </p:cNvSpPr>
          <p:nvPr/>
        </p:nvSpPr>
        <p:spPr>
          <a:xfrm xmlns:a="http://schemas.openxmlformats.org/drawingml/2006/main">
            <a:off x="8191500" y="28956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451"/>
          </a:bodyPr>
          <a:lstStyle xmlns:a="http://schemas.openxmlformats.org/drawingml/2006/main"/>
          <a:p xmlns:a="http://schemas.openxmlformats.org/drawingml/2006/main">
            <a:pPr algn="l">
              <a:lnSpc>
                <a:spcPct val="108000"/>
              </a:lnSpc>
              <a:buNone/>
              <a:defRPr sz="3000" b="1" i="0">
                <a:solidFill>
                  <a:srgbClr val="0B8F87"/>
                </a:solidFill>
                <a:latin typeface="Arial"/>
                <a:ea typeface="Arial"/>
                <a:cs typeface="Arial"/>
              </a:defRPr>
            </a:pPr>
            <a:r>
              <a:rPr sz="3000" b="1" i="0">
                <a:solidFill>
                  <a:srgbClr val="0B8F87"/>
                </a:solidFill>
                <a:latin typeface="Arial"/>
                <a:ea typeface="Arial"/>
                <a:cs typeface="Arial"/>
              </a:rPr>
              <a:t>901 kW</a:t>
            </a:r>
          </a:p>
        </p:txBody>
      </p:sp>
      <p:sp>
        <p:nvSpPr>
          <p:cNvPr id="9" name="">
            <a:extLst xmlns:a="http://schemas.openxmlformats.org/drawingml/2006/main">
              <a:ext uri="{FF2B5EF4-FFF2-40B4-BE49-F238E27FC236}">
                <a16:creationId xmlns:a16="http://schemas.microsoft.com/office/drawing/2014/main" id="{76C983A1-4428-4478-A15B-7C9F06E5599C}"/>
              </a:ext>
            </a:extLst>
          </p:cNvPr>
          <p:cNvSpPr>
            <a:spLocks xmlns:a="http://schemas.openxmlformats.org/drawingml/2006/main" noGrp="1"/>
          </p:cNvSpPr>
          <p:nvPr/>
        </p:nvSpPr>
        <p:spPr>
          <a:xfrm xmlns:a="http://schemas.openxmlformats.org/drawingml/2006/main">
            <a:off x="8191500" y="3371850"/>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64757F"/>
                </a:solidFill>
                <a:latin typeface="Arial"/>
                <a:ea typeface="Arial"/>
                <a:cs typeface="Arial"/>
              </a:defRPr>
            </a:pPr>
            <a:r>
              <a:rPr sz="1500" b="0" i="0">
                <a:solidFill>
                  <a:srgbClr val="64757F"/>
                </a:solidFill>
                <a:latin typeface="Arial"/>
                <a:ea typeface="Arial"/>
                <a:cs typeface="Arial"/>
              </a:rPr>
              <a:t>mean expected output</a:t>
            </a:r>
          </a:p>
        </p:txBody>
      </p:sp>
      <p:sp>
        <p:nvSpPr>
          <p:cNvPr id="10" name="">
            <a:extLst xmlns:a="http://schemas.openxmlformats.org/drawingml/2006/main">
              <a:ext uri="{FF2B5EF4-FFF2-40B4-BE49-F238E27FC236}">
                <a16:creationId xmlns:a16="http://schemas.microsoft.com/office/drawing/2014/main" id="{88946EFB-9B84-4DF2-BE0E-D07072DEA2AA}"/>
              </a:ext>
            </a:extLst>
          </p:cNvPr>
          <p:cNvSpPr>
            <a:spLocks xmlns:a="http://schemas.openxmlformats.org/drawingml/2006/main" noGrp="1"/>
          </p:cNvSpPr>
          <p:nvPr/>
        </p:nvSpPr>
        <p:spPr>
          <a:xfrm xmlns:a="http://schemas.openxmlformats.org/drawingml/2006/main">
            <a:off x="8191500" y="4038600"/>
            <a:ext cx="3143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9496"/>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Peers produced continuously at 724-840 kW in the same 5-12 m/s wind. R80711 had run normally during the preceding 48 hours.</a:t>
            </a:r>
          </a:p>
        </p:txBody>
      </p:sp>
      <p:sp>
        <p:nvSpPr>
          <p:cNvPr id="11" name="">
            <a:extLst xmlns:a="http://schemas.openxmlformats.org/drawingml/2006/main">
              <a:ext uri="{FF2B5EF4-FFF2-40B4-BE49-F238E27FC236}">
                <a16:creationId xmlns:a16="http://schemas.microsoft.com/office/drawing/2014/main" id="{8ED273F4-CBFE-479D-AB33-D96E5501C5E2}"/>
              </a:ext>
            </a:extLst>
          </p:cNvPr>
          <p:cNvSpPr>
            <a:spLocks xmlns:a="http://schemas.openxmlformats.org/drawingml/2006/main" noGrp="1"/>
          </p:cNvSpPr>
          <p:nvPr/>
        </p:nvSpPr>
        <p:spPr>
          <a:xfrm xmlns:a="http://schemas.openxmlformats.org/drawingml/2006/main">
            <a:off x="533400" y="5543550"/>
            <a:ext cx="1066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0B2638"/>
                </a:solidFill>
                <a:latin typeface="Arial"/>
                <a:ea typeface="Arial"/>
                <a:cs typeface="Arial"/>
              </a:defRPr>
            </a:pPr>
            <a:r>
              <a:rPr sz="1425" b="1" i="0">
                <a:solidFill>
                  <a:srgbClr val="0B2638"/>
                </a:solidFill>
                <a:latin typeface="Arial"/>
                <a:ea typeface="Arial"/>
                <a:cs typeface="Arial"/>
              </a:rPr>
              <a:t>The event ranks first because it is large, discrete, clean enough to investigate and supported by all three methods. One record request can resolve it.</a:t>
            </a:r>
          </a:p>
        </p:txBody>
      </p:sp>
      <p:sp>
        <p:nvSpPr>
          <p:cNvPr id="12" name="">
            <a:extLst xmlns:a="http://schemas.openxmlformats.org/drawingml/2006/main">
              <a:ext uri="{FF2B5EF4-FFF2-40B4-BE49-F238E27FC236}">
                <a16:creationId xmlns:a16="http://schemas.microsoft.com/office/drawing/2014/main" id="{7C8A16F2-6A33-476F-9E45-E703B113EEB8}"/>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13" name="">
            <a:extLst xmlns:a="http://schemas.openxmlformats.org/drawingml/2006/main">
              <a:ext uri="{FF2B5EF4-FFF2-40B4-BE49-F238E27FC236}">
                <a16:creationId xmlns:a16="http://schemas.microsoft.com/office/drawing/2014/main" id="{ACFB49A0-4455-4510-8B3B-08E62AD83EBE}"/>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0b7713dd58bd4886"/>
              </a:rPr>
              <a:t>Open project and supporting evidence</a:t>
            </a:r>
          </a:p>
        </p:txBody>
      </p:sp>
    </p:spTree>
    <p:extLst>
      <p:ext uri="{BB962C8B-B14F-4D97-AF65-F5344CB8AC3E}">
        <p14:creationId xmlns:p14="http://schemas.microsoft.com/office/powerpoint/2010/main" val="615990191"/>
      </p:ext>
    </p:extLst>
  </p:cSld>
</p:sld>
</file>

<file path=ppt/slides/slide5.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1D3C9B6-EE09-400D-9291-AE5A7C1B0DE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51633A8D-208A-4DE9-BADC-CA6D657D6D9F}"/>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EVIDENCE GAP</a:t>
            </a:r>
          </a:p>
        </p:txBody>
      </p:sp>
      <p:sp>
        <p:nvSpPr>
          <p:cNvPr id="3" name="">
            <a:extLst xmlns:a="http://schemas.openxmlformats.org/drawingml/2006/main">
              <a:ext uri="{FF2B5EF4-FFF2-40B4-BE49-F238E27FC236}">
                <a16:creationId xmlns:a16="http://schemas.microsoft.com/office/drawing/2014/main" id="{CB5A6940-E711-48E1-95D6-0656727F1287}"/>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The data identifies an event, not its cause</a:t>
            </a:r>
          </a:p>
        </p:txBody>
      </p:sp>
      <p:sp>
        <p:nvSpPr>
          <p:cNvPr id="4" name="">
            <a:extLst xmlns:a="http://schemas.openxmlformats.org/drawingml/2006/main">
              <a:ext uri="{FF2B5EF4-FFF2-40B4-BE49-F238E27FC236}">
                <a16:creationId xmlns:a16="http://schemas.microsoft.com/office/drawing/2014/main" id="{20EE596D-F0F6-448B-98FA-A3B47D75EA32}"/>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B0889449-182E-4561-9581-2F45AF836123}"/>
              </a:ext>
            </a:extLst>
          </p:cNvPr>
          <p:cNvSpPr>
            <a:spLocks xmlns:a="http://schemas.openxmlformats.org/drawingml/2006/main" noGrp="1"/>
          </p:cNvSpPr>
          <p:nvPr/>
        </p:nvSpPr>
        <p:spPr>
          <a:xfrm xmlns:a="http://schemas.openxmlformats.org/drawingml/2006/main">
            <a:off x="609600" y="1466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0B2638"/>
                </a:solidFill>
                <a:latin typeface="Arial"/>
                <a:ea typeface="Arial"/>
                <a:cs typeface="Arial"/>
              </a:defRPr>
            </a:pPr>
            <a:r>
              <a:rPr sz="1875" b="1" i="0">
                <a:solidFill>
                  <a:srgbClr val="0B2638"/>
                </a:solidFill>
                <a:latin typeface="Arial"/>
                <a:ea typeface="Arial"/>
                <a:cs typeface="Arial"/>
              </a:rPr>
              <a:t>Five explanations fit equally well</a:t>
            </a:r>
          </a:p>
        </p:txBody>
      </p:sp>
      <p:sp>
        <p:nvSpPr>
          <p:cNvPr id="6" name="">
            <a:extLst xmlns:a="http://schemas.openxmlformats.org/drawingml/2006/main">
              <a:ext uri="{FF2B5EF4-FFF2-40B4-BE49-F238E27FC236}">
                <a16:creationId xmlns:a16="http://schemas.microsoft.com/office/drawing/2014/main" id="{805FDC68-B00D-4B78-9EC9-E92B42211E2C}"/>
              </a:ext>
            </a:extLst>
          </p:cNvPr>
          <p:cNvSpPr>
            <a:spLocks xmlns:a="http://schemas.openxmlformats.org/drawingml/2006/main" noGrp="1"/>
          </p:cNvSpPr>
          <p:nvPr/>
        </p:nvSpPr>
        <p:spPr>
          <a:xfrm xmlns:a="http://schemas.openxmlformats.org/drawingml/2006/main">
            <a:off x="628650" y="20383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1</a:t>
            </a:r>
          </a:p>
        </p:txBody>
      </p:sp>
      <p:sp>
        <p:nvSpPr>
          <p:cNvPr id="7" name="">
            <a:extLst xmlns:a="http://schemas.openxmlformats.org/drawingml/2006/main">
              <a:ext uri="{FF2B5EF4-FFF2-40B4-BE49-F238E27FC236}">
                <a16:creationId xmlns:a16="http://schemas.microsoft.com/office/drawing/2014/main" id="{0CD4C441-4F7F-480A-BD7E-6D26F574AB70}"/>
              </a:ext>
            </a:extLst>
          </p:cNvPr>
          <p:cNvSpPr>
            <a:spLocks xmlns:a="http://schemas.openxmlformats.org/drawingml/2006/main" noGrp="1"/>
          </p:cNvSpPr>
          <p:nvPr/>
        </p:nvSpPr>
        <p:spPr>
          <a:xfrm xmlns:a="http://schemas.openxmlformats.org/drawingml/2006/main">
            <a:off x="1066800" y="20383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Planned maintenance or a service visit</a:t>
            </a:r>
          </a:p>
        </p:txBody>
      </p:sp>
      <p:sp>
        <p:nvSpPr>
          <p:cNvPr id="8" name="">
            <a:extLst xmlns:a="http://schemas.openxmlformats.org/drawingml/2006/main">
              <a:ext uri="{FF2B5EF4-FFF2-40B4-BE49-F238E27FC236}">
                <a16:creationId xmlns:a16="http://schemas.microsoft.com/office/drawing/2014/main" id="{D4272253-BFF1-4BB0-B312-814AFEAEBEB5}"/>
              </a:ext>
            </a:extLst>
          </p:cNvPr>
          <p:cNvSpPr>
            <a:spLocks xmlns:a="http://schemas.openxmlformats.org/drawingml/2006/main" noGrp="1"/>
          </p:cNvSpPr>
          <p:nvPr/>
        </p:nvSpPr>
        <p:spPr>
          <a:xfrm xmlns:a="http://schemas.openxmlformats.org/drawingml/2006/main">
            <a:off x="628650" y="259080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6461CBC6-135A-4F72-BD2F-CA37FB1A6725}"/>
              </a:ext>
            </a:extLst>
          </p:cNvPr>
          <p:cNvSpPr>
            <a:spLocks xmlns:a="http://schemas.openxmlformats.org/drawingml/2006/main" noGrp="1"/>
          </p:cNvSpPr>
          <p:nvPr/>
        </p:nvSpPr>
        <p:spPr>
          <a:xfrm xmlns:a="http://schemas.openxmlformats.org/drawingml/2006/main">
            <a:off x="1066800" y="25908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An unplanned turbine fault stop</a:t>
            </a:r>
          </a:p>
        </p:txBody>
      </p:sp>
      <p:sp>
        <p:nvSpPr>
          <p:cNvPr id="10" name="">
            <a:extLst xmlns:a="http://schemas.openxmlformats.org/drawingml/2006/main">
              <a:ext uri="{FF2B5EF4-FFF2-40B4-BE49-F238E27FC236}">
                <a16:creationId xmlns:a16="http://schemas.microsoft.com/office/drawing/2014/main" id="{A4F16C25-4DD7-41BA-A7DD-331EDEA67160}"/>
              </a:ext>
            </a:extLst>
          </p:cNvPr>
          <p:cNvSpPr>
            <a:spLocks xmlns:a="http://schemas.openxmlformats.org/drawingml/2006/main" noGrp="1"/>
          </p:cNvSpPr>
          <p:nvPr/>
        </p:nvSpPr>
        <p:spPr>
          <a:xfrm xmlns:a="http://schemas.openxmlformats.org/drawingml/2006/main">
            <a:off x="628650" y="31432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DCD57416-5791-4995-8439-C69ACD3A24A3}"/>
              </a:ext>
            </a:extLst>
          </p:cNvPr>
          <p:cNvSpPr>
            <a:spLocks xmlns:a="http://schemas.openxmlformats.org/drawingml/2006/main" noGrp="1"/>
          </p:cNvSpPr>
          <p:nvPr/>
        </p:nvSpPr>
        <p:spPr>
          <a:xfrm xmlns:a="http://schemas.openxmlformats.org/drawingml/2006/main">
            <a:off x="1066800" y="31432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Grid curtailment or a network instruction</a:t>
            </a:r>
          </a:p>
        </p:txBody>
      </p:sp>
      <p:sp>
        <p:nvSpPr>
          <p:cNvPr id="12" name="">
            <a:extLst xmlns:a="http://schemas.openxmlformats.org/drawingml/2006/main">
              <a:ext uri="{FF2B5EF4-FFF2-40B4-BE49-F238E27FC236}">
                <a16:creationId xmlns:a16="http://schemas.microsoft.com/office/drawing/2014/main" id="{07F73BB3-6F12-4D81-9950-C4974060FB0C}"/>
              </a:ext>
            </a:extLst>
          </p:cNvPr>
          <p:cNvSpPr>
            <a:spLocks xmlns:a="http://schemas.openxmlformats.org/drawingml/2006/main" noGrp="1"/>
          </p:cNvSpPr>
          <p:nvPr/>
        </p:nvSpPr>
        <p:spPr>
          <a:xfrm xmlns:a="http://schemas.openxmlformats.org/drawingml/2006/main">
            <a:off x="628650" y="369570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CCB290E4-C161-41DF-8C33-88995ECCCDC4}"/>
              </a:ext>
            </a:extLst>
          </p:cNvPr>
          <p:cNvSpPr>
            <a:spLocks xmlns:a="http://schemas.openxmlformats.org/drawingml/2006/main" noGrp="1"/>
          </p:cNvSpPr>
          <p:nvPr/>
        </p:nvSpPr>
        <p:spPr>
          <a:xfrm xmlns:a="http://schemas.openxmlformats.org/drawingml/2006/main">
            <a:off x="1066800" y="36957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A controller lockout awaiting manual reset</a:t>
            </a:r>
          </a:p>
        </p:txBody>
      </p:sp>
      <p:sp>
        <p:nvSpPr>
          <p:cNvPr id="14" name="">
            <a:extLst xmlns:a="http://schemas.openxmlformats.org/drawingml/2006/main">
              <a:ext uri="{FF2B5EF4-FFF2-40B4-BE49-F238E27FC236}">
                <a16:creationId xmlns:a16="http://schemas.microsoft.com/office/drawing/2014/main" id="{28D3180E-1FE9-47C3-8B4D-74C144E254F4}"/>
              </a:ext>
            </a:extLst>
          </p:cNvPr>
          <p:cNvSpPr>
            <a:spLocks xmlns:a="http://schemas.openxmlformats.org/drawingml/2006/main" noGrp="1"/>
          </p:cNvSpPr>
          <p:nvPr/>
        </p:nvSpPr>
        <p:spPr>
          <a:xfrm xmlns:a="http://schemas.openxmlformats.org/drawingml/2006/main">
            <a:off x="628650" y="42481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0B8F87"/>
                </a:solidFill>
                <a:latin typeface="Arial"/>
                <a:ea typeface="Arial"/>
                <a:cs typeface="Arial"/>
              </a:defRPr>
            </a:pPr>
            <a:r>
              <a:rPr sz="1650" b="1" i="0">
                <a:solidFill>
                  <a:srgbClr val="0B8F87"/>
                </a:solidFill>
                <a:latin typeface="Arial"/>
                <a:ea typeface="Arial"/>
                <a:cs typeface="Arial"/>
              </a:rPr>
              <a:t>5</a:t>
            </a:r>
          </a:p>
        </p:txBody>
      </p:sp>
      <p:sp>
        <p:nvSpPr>
          <p:cNvPr id="15" name="">
            <a:extLst xmlns:a="http://schemas.openxmlformats.org/drawingml/2006/main">
              <a:ext uri="{FF2B5EF4-FFF2-40B4-BE49-F238E27FC236}">
                <a16:creationId xmlns:a16="http://schemas.microsoft.com/office/drawing/2014/main" id="{40FF3DAE-FDD3-499F-BF0F-596AF61D983D}"/>
              </a:ext>
            </a:extLst>
          </p:cNvPr>
          <p:cNvSpPr>
            <a:spLocks xmlns:a="http://schemas.openxmlformats.org/drawingml/2006/main" noGrp="1"/>
          </p:cNvSpPr>
          <p:nvPr/>
        </p:nvSpPr>
        <p:spPr>
          <a:xfrm xmlns:a="http://schemas.openxmlformats.org/drawingml/2006/main">
            <a:off x="1066800" y="424815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Communications loss while the turbine was running</a:t>
            </a:r>
          </a:p>
        </p:txBody>
      </p:sp>
      <p:sp>
        <p:nvSpPr>
          <p:cNvPr id="16" name="">
            <a:extLst xmlns:a="http://schemas.openxmlformats.org/drawingml/2006/main">
              <a:ext uri="{FF2B5EF4-FFF2-40B4-BE49-F238E27FC236}">
                <a16:creationId xmlns:a16="http://schemas.microsoft.com/office/drawing/2014/main" id="{BADF9F6B-BAC5-4477-B145-A15F628125C0}"/>
              </a:ext>
            </a:extLst>
          </p:cNvPr>
          <p:cNvSpPr>
            <a:spLocks xmlns:a="http://schemas.openxmlformats.org/drawingml/2006/main" noGrp="1"/>
          </p:cNvSpPr>
          <p:nvPr/>
        </p:nvSpPr>
        <p:spPr>
          <a:xfrm xmlns:a="http://schemas.openxmlformats.org/drawingml/2006/main">
            <a:off x="609600" y="4972050"/>
            <a:ext cx="5048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C64949"/>
                </a:solidFill>
                <a:latin typeface="Arial"/>
                <a:ea typeface="Arial"/>
                <a:cs typeface="Arial"/>
              </a:defRPr>
            </a:pPr>
            <a:r>
              <a:rPr sz="1425" b="1" i="0">
                <a:solidFill>
                  <a:srgbClr val="C64949"/>
                </a:solidFill>
                <a:latin typeface="Arial"/>
                <a:ea typeface="Arial"/>
                <a:cs typeface="Arial"/>
              </a:rPr>
              <a:t>Nothing in this dataset can choose between them. Request event codes, work orders, curtailment instructions and operator logs. If they show a planned outage, close the item.</a:t>
            </a:r>
          </a:p>
        </p:txBody>
      </p:sp>
      <p:graphicFrame>
        <p:nvGraphicFramePr>
          <p:cNvPr id="38" name="Chart"/>
          <p:cNvGraphicFramePr/>
          <p:nvPr/>
        </p:nvGraphicFramePr>
        <p:xfrm>
          <a:off xmlns:a="http://schemas.openxmlformats.org/drawingml/2006/main" x="6191250" y="1714500"/>
          <a:ext xmlns:a="http://schemas.openxmlformats.org/drawingml/2006/main" cx="5143500" cy="3143250"/>
        </p:xfrm>
        <a:graphic xmlns:a="http://schemas.openxmlformats.org/drawingml/2006/main">
          <a:graphicData uri="http://schemas.openxmlformats.org/drawingml/2006/chart">
            <c:chart xmlns:r="http://schemas.openxmlformats.org/officeDocument/2006/relationships" xmlns:c="http://schemas.openxmlformats.org/drawingml/2006/chart" r:id="R1a90d5f8b24b4a81"/>
          </a:graphicData>
        </a:graphic>
      </p:graphicFrame>
      <p:sp>
        <p:nvSpPr>
          <p:cNvPr id="18" name="">
            <a:extLst xmlns:a="http://schemas.openxmlformats.org/drawingml/2006/main">
              <a:ext uri="{FF2B5EF4-FFF2-40B4-BE49-F238E27FC236}">
                <a16:creationId xmlns:a16="http://schemas.microsoft.com/office/drawing/2014/main" id="{0BF0D728-AA8D-47DA-8772-A238F513E284}"/>
              </a:ext>
            </a:extLst>
          </p:cNvPr>
          <p:cNvSpPr>
            <a:spLocks xmlns:a="http://schemas.openxmlformats.org/drawingml/2006/main" noGrp="1"/>
          </p:cNvSpPr>
          <p:nvPr/>
        </p:nvSpPr>
        <p:spPr>
          <a:xfrm xmlns:a="http://schemas.openxmlformats.org/drawingml/2006/main">
            <a:off x="6438900" y="139065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64757F"/>
                </a:solidFill>
                <a:latin typeface="Arial"/>
                <a:ea typeface="Arial"/>
                <a:cs typeface="Arial"/>
              </a:defRPr>
            </a:pPr>
            <a:r>
              <a:rPr sz="1425" b="1" i="0">
                <a:solidFill>
                  <a:srgbClr val="64757F"/>
                </a:solidFill>
                <a:latin typeface="Arial"/>
                <a:ea typeface="Arial"/>
                <a:cs typeface="Arial"/>
              </a:rPr>
              <a:t>Removing one event changes the fleet ranking</a:t>
            </a:r>
          </a:p>
        </p:txBody>
      </p:sp>
      <p:sp>
        <p:nvSpPr>
          <p:cNvPr id="19" name="">
            <a:extLst xmlns:a="http://schemas.openxmlformats.org/drawingml/2006/main">
              <a:ext uri="{FF2B5EF4-FFF2-40B4-BE49-F238E27FC236}">
                <a16:creationId xmlns:a16="http://schemas.microsoft.com/office/drawing/2014/main" id="{509DF8E0-71A2-4563-9CA3-75A34F6A3BBD}"/>
              </a:ext>
            </a:extLst>
          </p:cNvPr>
          <p:cNvSpPr>
            <a:spLocks xmlns:a="http://schemas.openxmlformats.org/drawingml/2006/main" noGrp="1"/>
          </p:cNvSpPr>
          <p:nvPr/>
        </p:nvSpPr>
        <p:spPr>
          <a:xfrm xmlns:a="http://schemas.openxmlformats.org/drawingml/2006/main">
            <a:off x="6229350" y="5067300"/>
            <a:ext cx="5143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466"/>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R80711 leads the fleet-relative ranking largely because of this event. Its result is event-driven, not evidence of a persistent pattern. R80790's diffuse gap remains a separate second line of enquiry.</a:t>
            </a:r>
          </a:p>
        </p:txBody>
      </p:sp>
      <p:sp>
        <p:nvSpPr>
          <p:cNvPr id="20" name="">
            <a:extLst xmlns:a="http://schemas.openxmlformats.org/drawingml/2006/main">
              <a:ext uri="{FF2B5EF4-FFF2-40B4-BE49-F238E27FC236}">
                <a16:creationId xmlns:a16="http://schemas.microsoft.com/office/drawing/2014/main" id="{BBDD8F6B-69F1-4236-8E00-D81C17D0AE76}"/>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21" name="">
            <a:extLst xmlns:a="http://schemas.openxmlformats.org/drawingml/2006/main">
              <a:ext uri="{FF2B5EF4-FFF2-40B4-BE49-F238E27FC236}">
                <a16:creationId xmlns:a16="http://schemas.microsoft.com/office/drawing/2014/main" id="{1A9A31D9-8949-4CA9-AFCF-35FBD0863656}"/>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6730f7ed1b514b6a"/>
              </a:rPr>
              <a:t>Open project and supporting evidence</a:t>
            </a:r>
          </a:p>
        </p:txBody>
      </p:sp>
    </p:spTree>
    <p:extLst>
      <p:ext uri="{BB962C8B-B14F-4D97-AF65-F5344CB8AC3E}">
        <p14:creationId xmlns:p14="http://schemas.microsoft.com/office/powerpoint/2010/main" val="916933196"/>
      </p:ext>
    </p:extLst>
  </p:cSld>
</p:sld>
</file>

<file path=ppt/slides/slide6.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46CB2A2-2070-4510-8D56-3F4A7CFC6329}"/>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940DA842-1B54-4C2B-B378-340FC7A1F75E}"/>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METHOD COMPARISON</a:t>
            </a:r>
          </a:p>
        </p:txBody>
      </p:sp>
      <p:sp>
        <p:nvSpPr>
          <p:cNvPr id="3" name="">
            <a:extLst xmlns:a="http://schemas.openxmlformats.org/drawingml/2006/main">
              <a:ext uri="{FF2B5EF4-FFF2-40B4-BE49-F238E27FC236}">
                <a16:creationId xmlns:a16="http://schemas.microsoft.com/office/drawing/2014/main" id="{E79844B9-EA7C-476E-B243-6A16DF6E45C4}"/>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0003"/>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Pooling changes the decision before machine learning does</a:t>
            </a:r>
          </a:p>
        </p:txBody>
      </p:sp>
      <p:sp>
        <p:nvSpPr>
          <p:cNvPr id="4" name="">
            <a:extLst xmlns:a="http://schemas.openxmlformats.org/drawingml/2006/main">
              <a:ext uri="{FF2B5EF4-FFF2-40B4-BE49-F238E27FC236}">
                <a16:creationId xmlns:a16="http://schemas.microsoft.com/office/drawing/2014/main" id="{60B099A0-A1D7-41E9-B224-C9F07ABB4AF8}"/>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6/8</a:t>
            </a:r>
          </a:p>
        </p:txBody>
      </p:sp>
      <p:graphicFrame>
        <p:nvGraphicFramePr>
          <p:cNvPr id="15" name="Chart"/>
          <p:cNvGraphicFramePr/>
          <p:nvPr/>
        </p:nvGraphicFramePr>
        <p:xfrm>
          <a:off xmlns:a="http://schemas.openxmlformats.org/drawingml/2006/main" x="514350" y="1600200"/>
          <a:ext xmlns:a="http://schemas.openxmlformats.org/drawingml/2006/main" cx="6858000" cy="4000500"/>
        </p:xfrm>
        <a:graphic xmlns:a="http://schemas.openxmlformats.org/drawingml/2006/main">
          <a:graphicData uri="http://schemas.openxmlformats.org/drawingml/2006/chart">
            <c:chart xmlns:r="http://schemas.openxmlformats.org/officeDocument/2006/relationships" xmlns:c="http://schemas.openxmlformats.org/drawingml/2006/chart" r:id="Rdccaf926d63e410c"/>
          </a:graphicData>
        </a:graphic>
      </p:graphicFrame>
      <p:sp>
        <p:nvSpPr>
          <p:cNvPr id="6" name="">
            <a:extLst xmlns:a="http://schemas.openxmlformats.org/drawingml/2006/main">
              <a:ext uri="{FF2B5EF4-FFF2-40B4-BE49-F238E27FC236}">
                <a16:creationId xmlns:a16="http://schemas.microsoft.com/office/drawing/2014/main" id="{706AC669-4037-4AB7-B056-4511AA8B0349}"/>
              </a:ext>
            </a:extLst>
          </p:cNvPr>
          <p:cNvSpPr>
            <a:spLocks xmlns:a="http://schemas.openxmlformats.org/drawingml/2006/main" noGrp="1"/>
          </p:cNvSpPr>
          <p:nvPr/>
        </p:nvSpPr>
        <p:spPr>
          <a:xfrm xmlns:a="http://schemas.openxmlformats.org/drawingml/2006/main">
            <a:off x="7848600" y="1733550"/>
            <a:ext cx="3524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451"/>
          </a:bodyPr>
          <a:lstStyle xmlns:a="http://schemas.openxmlformats.org/drawingml/2006/main"/>
          <a:p xmlns:a="http://schemas.openxmlformats.org/drawingml/2006/main">
            <a:pPr algn="l">
              <a:lnSpc>
                <a:spcPct val="108000"/>
              </a:lnSpc>
              <a:buNone/>
              <a:defRPr sz="1500" b="1" i="0">
                <a:solidFill>
                  <a:srgbClr val="0B2638"/>
                </a:solidFill>
                <a:latin typeface="Arial"/>
                <a:ea typeface="Arial"/>
                <a:cs typeface="Arial"/>
              </a:defRPr>
            </a:pPr>
            <a:r>
              <a:rPr sz="1500" b="1" i="0">
                <a:solidFill>
                  <a:srgbClr val="0B2638"/>
                </a:solidFill>
                <a:latin typeface="Arial"/>
                <a:ea typeface="Arial"/>
                <a:cs typeface="Arial"/>
              </a:rPr>
              <a:t>R80711's own reference curve sits 11-19 kW below the fleet. Judging it against itself flatters it. Pooling moves R80711 from apparently best behaved to the largest shortfall.</a:t>
            </a:r>
          </a:p>
        </p:txBody>
      </p:sp>
      <p:sp>
        <p:nvSpPr>
          <p:cNvPr id="7" name="">
            <a:extLst xmlns:a="http://schemas.openxmlformats.org/drawingml/2006/main">
              <a:ext uri="{FF2B5EF4-FFF2-40B4-BE49-F238E27FC236}">
                <a16:creationId xmlns:a16="http://schemas.microsoft.com/office/drawing/2014/main" id="{5B1F9625-5E1F-41DC-A2F4-72DBEE53ECF0}"/>
              </a:ext>
            </a:extLst>
          </p:cNvPr>
          <p:cNvSpPr>
            <a:spLocks xmlns:a="http://schemas.openxmlformats.org/drawingml/2006/main" noGrp="1"/>
          </p:cNvSpPr>
          <p:nvPr/>
        </p:nvSpPr>
        <p:spPr>
          <a:xfrm xmlns:a="http://schemas.openxmlformats.org/drawingml/2006/main">
            <a:off x="7848600" y="3257550"/>
            <a:ext cx="3524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B2C36"/>
                </a:solidFill>
                <a:latin typeface="Arial"/>
                <a:ea typeface="Arial"/>
                <a:cs typeface="Arial"/>
              </a:defRPr>
            </a:pPr>
            <a:r>
              <a:rPr sz="1425" b="0" i="0">
                <a:solidFill>
                  <a:srgbClr val="1B2C36"/>
                </a:solidFill>
                <a:latin typeface="Arial"/>
                <a:ea typeface="Arial"/>
                <a:cs typeface="Arial"/>
              </a:rPr>
              <a:t>A to B adds 2.5 points of detection recovery. B to C adds 4.7 points. Two thirds of the gain comes from model flexibility and one third from pooling, but only pooling changes the operational ranking.</a:t>
            </a:r>
          </a:p>
        </p:txBody>
      </p:sp>
      <p:sp>
        <p:nvSpPr>
          <p:cNvPr id="8" name="">
            <a:extLst xmlns:a="http://schemas.openxmlformats.org/drawingml/2006/main">
              <a:ext uri="{FF2B5EF4-FFF2-40B4-BE49-F238E27FC236}">
                <a16:creationId xmlns:a16="http://schemas.microsoft.com/office/drawing/2014/main" id="{75914BB6-E098-4074-80AA-25B2F47F2776}"/>
              </a:ext>
            </a:extLst>
          </p:cNvPr>
          <p:cNvSpPr>
            <a:spLocks xmlns:a="http://schemas.openxmlformats.org/drawingml/2006/main" noGrp="1"/>
          </p:cNvSpPr>
          <p:nvPr/>
        </p:nvSpPr>
        <p:spPr>
          <a:xfrm xmlns:a="http://schemas.openxmlformats.org/drawingml/2006/main">
            <a:off x="7848600" y="4953000"/>
            <a:ext cx="3524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0B8F87"/>
                </a:solidFill>
                <a:latin typeface="Arial"/>
                <a:ea typeface="Arial"/>
                <a:cs typeface="Arial"/>
              </a:defRPr>
            </a:pPr>
            <a:r>
              <a:rPr sz="1500" b="1" i="0">
                <a:solidFill>
                  <a:srgbClr val="0B8F87"/>
                </a:solidFill>
                <a:latin typeface="Arial"/>
                <a:ea typeface="Arial"/>
                <a:cs typeface="Arial"/>
              </a:rPr>
              <a:t>B remains the decision method because it is transparent. C is a qualified second opinion.</a:t>
            </a:r>
          </a:p>
        </p:txBody>
      </p:sp>
      <p:sp>
        <p:nvSpPr>
          <p:cNvPr id="9" name="">
            <a:extLst xmlns:a="http://schemas.openxmlformats.org/drawingml/2006/main">
              <a:ext uri="{FF2B5EF4-FFF2-40B4-BE49-F238E27FC236}">
                <a16:creationId xmlns:a16="http://schemas.microsoft.com/office/drawing/2014/main" id="{EA25BA42-970D-4F48-98E7-99E3165D12C6}"/>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10" name="">
            <a:extLst xmlns:a="http://schemas.openxmlformats.org/drawingml/2006/main">
              <a:ext uri="{FF2B5EF4-FFF2-40B4-BE49-F238E27FC236}">
                <a16:creationId xmlns:a16="http://schemas.microsoft.com/office/drawing/2014/main" id="{78E4E2E4-4E65-46BA-8D8F-416647377671}"/>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fac1080b856d47fe"/>
              </a:rPr>
              <a:t>Open project and supporting evidence</a:t>
            </a:r>
          </a:p>
        </p:txBody>
      </p:sp>
    </p:spTree>
    <p:extLst>
      <p:ext uri="{BB962C8B-B14F-4D97-AF65-F5344CB8AC3E}">
        <p14:creationId xmlns:p14="http://schemas.microsoft.com/office/powerpoint/2010/main" val="314928385"/>
      </p:ext>
    </p:extLst>
  </p:cSld>
</p:sld>
</file>

<file path=ppt/slides/slide7.xml><?xml version="1.0" encoding="utf-8"?>
<p:sld xmlns:p="http://schemas.openxmlformats.org/presentationml/2006/main">
  <p:cSld>
    <p:bg>
      <p:bgPr>
        <a:solidFill xmlns:a="http://schemas.openxmlformats.org/drawingml/2006/main">
          <a:srgbClr val="F4F7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01F695-404C-4CA0-8A52-3F639B8A3921}"/>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9C2EBCF6-9D9F-49D4-8F3E-3B0ED1587EFE}"/>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0B8F87"/>
                </a:solidFill>
                <a:latin typeface="Arial"/>
                <a:ea typeface="Arial"/>
                <a:cs typeface="Arial"/>
              </a:defRPr>
            </a:pPr>
            <a:r>
              <a:rPr sz="1050" b="1" i="0">
                <a:solidFill>
                  <a:srgbClr val="0B8F87"/>
                </a:solidFill>
                <a:latin typeface="Arial"/>
                <a:ea typeface="Arial"/>
                <a:cs typeface="Arial"/>
              </a:rPr>
              <a:t>MODEL BENCHMARK</a:t>
            </a:r>
          </a:p>
        </p:txBody>
      </p:sp>
      <p:sp>
        <p:nvSpPr>
          <p:cNvPr id="3" name="">
            <a:extLst xmlns:a="http://schemas.openxmlformats.org/drawingml/2006/main">
              <a:ext uri="{FF2B5EF4-FFF2-40B4-BE49-F238E27FC236}">
                <a16:creationId xmlns:a16="http://schemas.microsoft.com/office/drawing/2014/main" id="{70FC23FB-A54F-463A-BE36-30ED6E55D92C}"/>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0687"/>
          </a:bodyPr>
          <a:lstStyle xmlns:a="http://schemas.openxmlformats.org/drawingml/2006/main"/>
          <a:p xmlns:a="http://schemas.openxmlformats.org/drawingml/2006/main">
            <a:pPr algn="l">
              <a:lnSpc>
                <a:spcPct val="108000"/>
              </a:lnSpc>
              <a:buNone/>
              <a:defRPr sz="3300" b="1" i="0">
                <a:solidFill>
                  <a:srgbClr val="0B2638"/>
                </a:solidFill>
                <a:latin typeface="Arial"/>
                <a:ea typeface="Arial"/>
                <a:cs typeface="Arial"/>
              </a:defRPr>
            </a:pPr>
            <a:r>
              <a:rPr sz="3300" b="1" i="0">
                <a:solidFill>
                  <a:srgbClr val="0B2638"/>
                </a:solidFill>
                <a:latin typeface="Arial"/>
                <a:ea typeface="Arial"/>
                <a:cs typeface="Arial"/>
              </a:rPr>
              <a:t>The challenger detects more, but the alert burden remains too high</a:t>
            </a:r>
          </a:p>
        </p:txBody>
      </p:sp>
      <p:sp>
        <p:nvSpPr>
          <p:cNvPr id="4" name="">
            <a:extLst xmlns:a="http://schemas.openxmlformats.org/drawingml/2006/main">
              <a:ext uri="{FF2B5EF4-FFF2-40B4-BE49-F238E27FC236}">
                <a16:creationId xmlns:a16="http://schemas.microsoft.com/office/drawing/2014/main" id="{D26D6164-021D-4A74-B24D-5A000EFB236B}"/>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4757F"/>
                </a:solidFill>
                <a:latin typeface="Arial"/>
                <a:ea typeface="Arial"/>
                <a:cs typeface="Arial"/>
              </a:defRPr>
            </a:pPr>
            <a:r>
              <a:rPr sz="975" b="0" i="0">
                <a:solidFill>
                  <a:srgbClr val="64757F"/>
                </a:solidFill>
                <a:latin typeface="Arial"/>
                <a:ea typeface="Arial"/>
                <a:cs typeface="Arial"/>
              </a:rPr>
              <a:t>7/8</a:t>
            </a:r>
          </a:p>
        </p:txBody>
      </p:sp>
      <p:graphicFrame>
        <p:nvGraphicFramePr>
          <p:cNvPr id="17" name="Chart"/>
          <p:cNvGraphicFramePr/>
          <p:nvPr/>
        </p:nvGraphicFramePr>
        <p:xfrm>
          <a:off xmlns:a="http://schemas.openxmlformats.org/drawingml/2006/main" x="571500" y="1619250"/>
          <a:ext xmlns:a="http://schemas.openxmlformats.org/drawingml/2006/main" cx="6858000" cy="3905250"/>
        </p:xfrm>
        <a:graphic xmlns:a="http://schemas.openxmlformats.org/drawingml/2006/main">
          <a:graphicData uri="http://schemas.openxmlformats.org/drawingml/2006/chart">
            <c:chart xmlns:r="http://schemas.openxmlformats.org/officeDocument/2006/relationships" xmlns:c="http://schemas.openxmlformats.org/drawingml/2006/chart" r:id="R814cb015f96b4a8b"/>
          </a:graphicData>
        </a:graphic>
      </p:graphicFrame>
      <p:sp>
        <p:nvSpPr>
          <p:cNvPr id="6" name="">
            <a:extLst xmlns:a="http://schemas.openxmlformats.org/drawingml/2006/main">
              <a:ext uri="{FF2B5EF4-FFF2-40B4-BE49-F238E27FC236}">
                <a16:creationId xmlns:a16="http://schemas.microsoft.com/office/drawing/2014/main" id="{76B031DF-80DF-42CF-B71F-C7758E3CB3A8}"/>
              </a:ext>
            </a:extLst>
          </p:cNvPr>
          <p:cNvSpPr>
            <a:spLocks xmlns:a="http://schemas.openxmlformats.org/drawingml/2006/main" noGrp="1"/>
          </p:cNvSpPr>
          <p:nvPr/>
        </p:nvSpPr>
        <p:spPr>
          <a:xfrm xmlns:a="http://schemas.openxmlformats.org/drawingml/2006/main">
            <a:off x="7848600" y="175260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150" b="1" i="0">
                <a:solidFill>
                  <a:srgbClr val="0B8F87"/>
                </a:solidFill>
                <a:latin typeface="Arial"/>
                <a:ea typeface="Arial"/>
                <a:cs typeface="Arial"/>
              </a:defRPr>
            </a:pPr>
            <a:r>
              <a:rPr sz="3150" b="1" i="0">
                <a:solidFill>
                  <a:srgbClr val="0B8F87"/>
                </a:solidFill>
                <a:latin typeface="Arial"/>
                <a:ea typeface="Arial"/>
                <a:cs typeface="Arial"/>
              </a:rPr>
              <a:t>0.771 to 0.818</a:t>
            </a:r>
          </a:p>
        </p:txBody>
      </p:sp>
      <p:sp>
        <p:nvSpPr>
          <p:cNvPr id="7" name="">
            <a:extLst xmlns:a="http://schemas.openxmlformats.org/drawingml/2006/main">
              <a:ext uri="{FF2B5EF4-FFF2-40B4-BE49-F238E27FC236}">
                <a16:creationId xmlns:a16="http://schemas.microsoft.com/office/drawing/2014/main" id="{DAC4CEFC-2F60-4711-A573-574E9277D709}"/>
              </a:ext>
            </a:extLst>
          </p:cNvPr>
          <p:cNvSpPr>
            <a:spLocks xmlns:a="http://schemas.openxmlformats.org/drawingml/2006/main" noGrp="1"/>
          </p:cNvSpPr>
          <p:nvPr/>
        </p:nvSpPr>
        <p:spPr>
          <a:xfrm xmlns:a="http://schemas.openxmlformats.org/drawingml/2006/main">
            <a:off x="7848600" y="23431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64757F"/>
                </a:solidFill>
                <a:latin typeface="Arial"/>
                <a:ea typeface="Arial"/>
                <a:cs typeface="Arial"/>
              </a:defRPr>
            </a:pPr>
            <a:r>
              <a:rPr sz="1425" b="0" i="0">
                <a:solidFill>
                  <a:srgbClr val="64757F"/>
                </a:solidFill>
                <a:latin typeface="Arial"/>
                <a:ea typeface="Arial"/>
                <a:cs typeface="Arial"/>
              </a:rPr>
              <a:t>registered recovery improvement from B to C</a:t>
            </a:r>
          </a:p>
        </p:txBody>
      </p:sp>
      <p:sp>
        <p:nvSpPr>
          <p:cNvPr id="8" name="">
            <a:extLst xmlns:a="http://schemas.openxmlformats.org/drawingml/2006/main">
              <a:ext uri="{FF2B5EF4-FFF2-40B4-BE49-F238E27FC236}">
                <a16:creationId xmlns:a16="http://schemas.microsoft.com/office/drawing/2014/main" id="{F1A96070-ED1A-4D57-8A48-CC9EDFE343F7}"/>
              </a:ext>
            </a:extLst>
          </p:cNvPr>
          <p:cNvSpPr>
            <a:spLocks xmlns:a="http://schemas.openxmlformats.org/drawingml/2006/main" noGrp="1"/>
          </p:cNvSpPr>
          <p:nvPr/>
        </p:nvSpPr>
        <p:spPr>
          <a:xfrm xmlns:a="http://schemas.openxmlformats.org/drawingml/2006/main">
            <a:off x="7848600" y="31623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E28540"/>
                </a:solidFill>
                <a:latin typeface="Arial"/>
                <a:ea typeface="Arial"/>
                <a:cs typeface="Arial"/>
              </a:defRPr>
            </a:pPr>
            <a:r>
              <a:rPr sz="2550" b="1" i="0">
                <a:solidFill>
                  <a:srgbClr val="E28540"/>
                </a:solidFill>
                <a:latin typeface="Arial"/>
                <a:ea typeface="Arial"/>
                <a:cs typeface="Arial"/>
              </a:rPr>
              <a:t>Approximately 41%</a:t>
            </a:r>
          </a:p>
        </p:txBody>
      </p:sp>
      <p:sp>
        <p:nvSpPr>
          <p:cNvPr id="9" name="">
            <a:extLst xmlns:a="http://schemas.openxmlformats.org/drawingml/2006/main">
              <a:ext uri="{FF2B5EF4-FFF2-40B4-BE49-F238E27FC236}">
                <a16:creationId xmlns:a16="http://schemas.microsoft.com/office/drawing/2014/main" id="{AD625E0B-B6B3-48C8-9B75-3DB812ED3C6B}"/>
              </a:ext>
            </a:extLst>
          </p:cNvPr>
          <p:cNvSpPr>
            <a:spLocks xmlns:a="http://schemas.openxmlformats.org/drawingml/2006/main" noGrp="1"/>
          </p:cNvSpPr>
          <p:nvPr/>
        </p:nvSpPr>
        <p:spPr>
          <a:xfrm xmlns:a="http://schemas.openxmlformats.org/drawingml/2006/main">
            <a:off x="7848600" y="3695700"/>
            <a:ext cx="3429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1B2C36"/>
                </a:solidFill>
                <a:latin typeface="Arial"/>
                <a:ea typeface="Arial"/>
                <a:cs typeface="Arial"/>
              </a:defRPr>
            </a:pPr>
            <a:r>
              <a:rPr sz="1500" b="0" i="0">
                <a:solidFill>
                  <a:srgbClr val="1B2C36"/>
                </a:solidFill>
                <a:latin typeface="Arial"/>
                <a:ea typeface="Arial"/>
                <a:cs typeface="Arial"/>
              </a:rPr>
              <a:t>apparent alert burden means the challenger is not ready for automated operational alerting. Neither are A or B.</a:t>
            </a:r>
          </a:p>
        </p:txBody>
      </p:sp>
      <p:sp>
        <p:nvSpPr>
          <p:cNvPr id="10" name="">
            <a:extLst xmlns:a="http://schemas.openxmlformats.org/drawingml/2006/main">
              <a:ext uri="{FF2B5EF4-FFF2-40B4-BE49-F238E27FC236}">
                <a16:creationId xmlns:a16="http://schemas.microsoft.com/office/drawing/2014/main" id="{FE6773E8-5C71-4AEE-BB51-6FE5BDFA9334}"/>
              </a:ext>
            </a:extLst>
          </p:cNvPr>
          <p:cNvSpPr>
            <a:spLocks xmlns:a="http://schemas.openxmlformats.org/drawingml/2006/main" noGrp="1"/>
          </p:cNvSpPr>
          <p:nvPr/>
        </p:nvSpPr>
        <p:spPr>
          <a:xfrm xmlns:a="http://schemas.openxmlformats.org/drawingml/2006/main">
            <a:off x="7848600" y="4876800"/>
            <a:ext cx="342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6022"/>
          </a:bodyPr>
          <a:lstStyle xmlns:a="http://schemas.openxmlformats.org/drawingml/2006/main"/>
          <a:p xmlns:a="http://schemas.openxmlformats.org/drawingml/2006/main">
            <a:pPr algn="l">
              <a:lnSpc>
                <a:spcPct val="108000"/>
              </a:lnSpc>
              <a:buNone/>
              <a:defRPr sz="1350" b="0" i="0">
                <a:solidFill>
                  <a:srgbClr val="1B2C36"/>
                </a:solidFill>
                <a:latin typeface="Arial"/>
                <a:ea typeface="Arial"/>
                <a:cs typeface="Arial"/>
              </a:defRPr>
            </a:pPr>
            <a:r>
              <a:rPr sz="1350" b="0" i="0">
                <a:solidFill>
                  <a:srgbClr val="1B2C36"/>
                </a:solidFill>
                <a:latin typeface="Arial"/>
                <a:ea typeface="Arial"/>
                <a:cs typeface="Arial"/>
              </a:rPr>
              <a:t>The acceptance rule limited the relative increase in burden, not the absolute level. That incomplete rule is recorded rather than patched. C agrees with B on only 44.7% of flagged records.</a:t>
            </a:r>
          </a:p>
        </p:txBody>
      </p:sp>
      <p:sp>
        <p:nvSpPr>
          <p:cNvPr id="11" name="">
            <a:extLst xmlns:a="http://schemas.openxmlformats.org/drawingml/2006/main">
              <a:ext uri="{FF2B5EF4-FFF2-40B4-BE49-F238E27FC236}">
                <a16:creationId xmlns:a16="http://schemas.microsoft.com/office/drawing/2014/main" id="{EF5712CC-FA2F-48CB-B5D0-A8027EAFA845}"/>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64757F"/>
                </a:solidFill>
                <a:latin typeface="Arial"/>
                <a:ea typeface="Arial"/>
                <a:cs typeface="Arial"/>
              </a:defRPr>
            </a:pPr>
            <a:r>
              <a:rPr sz="750" b="0" i="0">
                <a:solidFill>
                  <a:srgbClr val="64757F"/>
                </a:solidFill>
                <a:latin typeface="Arial"/>
                <a:ea typeface="Arial"/>
                <a:cs typeface="Arial"/>
              </a:rPr>
              <a:t>Independent project. Public data: ENGIE La Haute Borne, Etalab Open Licence 2.0, via OpenOA. No Clir Renewables data, software or methodology used.</a:t>
            </a:r>
          </a:p>
        </p:txBody>
      </p:sp>
      <p:sp>
        <p:nvSpPr>
          <p:cNvPr id="12" name="">
            <a:extLst xmlns:a="http://schemas.openxmlformats.org/drawingml/2006/main">
              <a:ext uri="{FF2B5EF4-FFF2-40B4-BE49-F238E27FC236}">
                <a16:creationId xmlns:a16="http://schemas.microsoft.com/office/drawing/2014/main" id="{41E2FE6E-41D3-4263-A082-F1BABF00F488}"/>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0B8F87"/>
                </a:solidFill>
                <a:latin typeface="Arial"/>
                <a:ea typeface="Arial"/>
                <a:cs typeface="Arial"/>
              </a:defRPr>
            </a:pPr>
            <a:r>
              <a:rPr sz="825" u="sng">
                <a:solidFill>
                  <a:srgbClr val="0B8F87"/>
                </a:solidFill>
                <a:latin typeface="Arial"/>
                <a:ea typeface="Arial"/>
                <a:cs typeface="Arial"/>
                <a:hlinkClick xmlns:r="http://schemas.openxmlformats.org/officeDocument/2006/relationships" r:id="Re5f3895cb8254639"/>
              </a:rPr>
              <a:t>Open project and supporting evidence</a:t>
            </a:r>
          </a:p>
        </p:txBody>
      </p:sp>
    </p:spTree>
    <p:extLst>
      <p:ext uri="{BB962C8B-B14F-4D97-AF65-F5344CB8AC3E}">
        <p14:creationId xmlns:p14="http://schemas.microsoft.com/office/powerpoint/2010/main" val="1817140367"/>
      </p:ext>
    </p:extLst>
  </p:cSld>
</p:sld>
</file>

<file path=ppt/slides/slide8.xml><?xml version="1.0" encoding="utf-8"?>
<p:sld xmlns:p="http://schemas.openxmlformats.org/presentationml/2006/main">
  <p:cSld>
    <p:bg>
      <p:bgPr>
        <a:solidFill xmlns:a="http://schemas.openxmlformats.org/drawingml/2006/main">
          <a:srgbClr val="0B2638"/>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7192606-20C1-4583-AAA2-064BD32536E0}"/>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0B8F87"/>
          </a:solidFill>
          <a:ln xmlns:a="http://schemas.openxmlformats.org/drawingml/2006/main" w="0">
            <a:solidFill>
              <a:srgbClr val="0B8F87"/>
            </a:solidFill>
          </a:ln>
        </p:spPr>
      </p:sp>
      <p:sp>
        <p:nvSpPr>
          <p:cNvPr id="2" name="">
            <a:extLst xmlns:a="http://schemas.openxmlformats.org/drawingml/2006/main">
              <a:ext uri="{FF2B5EF4-FFF2-40B4-BE49-F238E27FC236}">
                <a16:creationId xmlns:a16="http://schemas.microsoft.com/office/drawing/2014/main" id="{35E56E57-F8CC-4D6A-94F8-E1404389C496}"/>
              </a:ext>
            </a:extLst>
          </p:cNvPr>
          <p:cNvSpPr>
            <a:spLocks xmlns:a="http://schemas.openxmlformats.org/drawingml/2006/main" noGrp="1"/>
          </p:cNvSpPr>
          <p:nvPr/>
        </p:nvSpPr>
        <p:spPr>
          <a:xfrm xmlns:a="http://schemas.openxmlformats.org/drawingml/2006/main">
            <a:off x="609600" y="28575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72D0C8"/>
                </a:solidFill>
                <a:latin typeface="Arial"/>
                <a:ea typeface="Arial"/>
                <a:cs typeface="Arial"/>
              </a:defRPr>
            </a:pPr>
            <a:r>
              <a:rPr sz="1050" b="1" i="0">
                <a:solidFill>
                  <a:srgbClr val="72D0C8"/>
                </a:solidFill>
                <a:latin typeface="Arial"/>
                <a:ea typeface="Arial"/>
                <a:cs typeface="Arial"/>
              </a:rPr>
              <a:t>DECISION BOUNDARY</a:t>
            </a:r>
          </a:p>
        </p:txBody>
      </p:sp>
      <p:sp>
        <p:nvSpPr>
          <p:cNvPr id="3" name="">
            <a:extLst xmlns:a="http://schemas.openxmlformats.org/drawingml/2006/main">
              <a:ext uri="{FF2B5EF4-FFF2-40B4-BE49-F238E27FC236}">
                <a16:creationId xmlns:a16="http://schemas.microsoft.com/office/drawing/2014/main" id="{A8F18E71-58B0-4629-8E67-24EEFA885B3E}"/>
              </a:ext>
            </a:extLst>
          </p:cNvPr>
          <p:cNvSpPr>
            <a:spLocks xmlns:a="http://schemas.openxmlformats.org/drawingml/2006/main" noGrp="1"/>
          </p:cNvSpPr>
          <p:nvPr/>
        </p:nvSpPr>
        <p:spPr>
          <a:xfrm xmlns:a="http://schemas.openxmlformats.org/drawingml/2006/main">
            <a:off x="609600" y="55245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3300" b="1" i="0">
                <a:solidFill>
                  <a:srgbClr val="FFFFFF"/>
                </a:solidFill>
                <a:latin typeface="Arial"/>
                <a:ea typeface="Arial"/>
                <a:cs typeface="Arial"/>
              </a:defRPr>
            </a:pPr>
            <a:r>
              <a:rPr sz="3300" b="1" i="0">
                <a:solidFill>
                  <a:srgbClr val="FFFFFF"/>
                </a:solidFill>
                <a:latin typeface="Arial"/>
                <a:ea typeface="Arial"/>
                <a:cs typeface="Arial"/>
              </a:rPr>
              <a:t>Limitations and what transfers</a:t>
            </a:r>
          </a:p>
        </p:txBody>
      </p:sp>
      <p:sp>
        <p:nvSpPr>
          <p:cNvPr id="4" name="">
            <a:extLst xmlns:a="http://schemas.openxmlformats.org/drawingml/2006/main">
              <a:ext uri="{FF2B5EF4-FFF2-40B4-BE49-F238E27FC236}">
                <a16:creationId xmlns:a16="http://schemas.microsoft.com/office/drawing/2014/main" id="{C34F64A0-4964-4099-905A-3913237B0FE7}"/>
              </a:ext>
            </a:extLst>
          </p:cNvPr>
          <p:cNvSpPr>
            <a:spLocks xmlns:a="http://schemas.openxmlformats.org/drawingml/2006/main" noGrp="1"/>
          </p:cNvSpPr>
          <p:nvPr/>
        </p:nvSpPr>
        <p:spPr>
          <a:xfrm xmlns:a="http://schemas.openxmlformats.org/drawingml/2006/main">
            <a:off x="11144250" y="342900"/>
            <a:ext cx="476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A8C0CD"/>
                </a:solidFill>
                <a:latin typeface="Arial"/>
                <a:ea typeface="Arial"/>
                <a:cs typeface="Arial"/>
              </a:defRPr>
            </a:pPr>
            <a:r>
              <a:rPr sz="975" b="0" i="0">
                <a:solidFill>
                  <a:srgbClr val="A8C0CD"/>
                </a:solidFill>
                <a:latin typeface="Arial"/>
                <a:ea typeface="Arial"/>
                <a:cs typeface="Arial"/>
              </a:rPr>
              <a:t>8/8</a:t>
            </a:r>
          </a:p>
        </p:txBody>
      </p:sp>
      <p:sp>
        <p:nvSpPr>
          <p:cNvPr id="5" name="">
            <a:extLst xmlns:a="http://schemas.openxmlformats.org/drawingml/2006/main">
              <a:ext uri="{FF2B5EF4-FFF2-40B4-BE49-F238E27FC236}">
                <a16:creationId xmlns:a16="http://schemas.microsoft.com/office/drawing/2014/main" id="{DF0DDAC3-8DEB-4F33-BB4C-25786C30E8F9}"/>
              </a:ext>
            </a:extLst>
          </p:cNvPr>
          <p:cNvSpPr>
            <a:spLocks xmlns:a="http://schemas.openxmlformats.org/drawingml/2006/main" noGrp="1"/>
          </p:cNvSpPr>
          <p:nvPr/>
        </p:nvSpPr>
        <p:spPr>
          <a:xfrm xmlns:a="http://schemas.openxmlformats.org/drawingml/2006/main">
            <a:off x="609600" y="148590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72D0C8"/>
                </a:solidFill>
                <a:latin typeface="Arial"/>
                <a:ea typeface="Arial"/>
                <a:cs typeface="Arial"/>
              </a:defRPr>
            </a:pPr>
            <a:r>
              <a:rPr sz="1875" b="1" i="0">
                <a:solidFill>
                  <a:srgbClr val="72D0C8"/>
                </a:solidFill>
                <a:latin typeface="Arial"/>
                <a:ea typeface="Arial"/>
                <a:cs typeface="Arial"/>
              </a:rPr>
              <a:t>What this analysis cannot establish</a:t>
            </a:r>
          </a:p>
        </p:txBody>
      </p:sp>
      <p:sp>
        <p:nvSpPr>
          <p:cNvPr id="6" name="">
            <a:extLst xmlns:a="http://schemas.openxmlformats.org/drawingml/2006/main">
              <a:ext uri="{FF2B5EF4-FFF2-40B4-BE49-F238E27FC236}">
                <a16:creationId xmlns:a16="http://schemas.microsoft.com/office/drawing/2014/main" id="{432DC635-B6C0-4F93-A5B8-48733336D37B}"/>
              </a:ext>
            </a:extLst>
          </p:cNvPr>
          <p:cNvSpPr>
            <a:spLocks xmlns:a="http://schemas.openxmlformats.org/drawingml/2006/main" noGrp="1"/>
          </p:cNvSpPr>
          <p:nvPr/>
        </p:nvSpPr>
        <p:spPr>
          <a:xfrm xmlns:a="http://schemas.openxmlformats.org/drawingml/2006/main">
            <a:off x="609600" y="203835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No operational records</a:t>
            </a:r>
          </a:p>
        </p:txBody>
      </p:sp>
      <p:sp>
        <p:nvSpPr>
          <p:cNvPr id="7" name="">
            <a:extLst xmlns:a="http://schemas.openxmlformats.org/drawingml/2006/main">
              <a:ext uri="{FF2B5EF4-FFF2-40B4-BE49-F238E27FC236}">
                <a16:creationId xmlns:a16="http://schemas.microsoft.com/office/drawing/2014/main" id="{261AB87F-304F-4D4B-AFF7-CFF7C4A8BB64}"/>
              </a:ext>
            </a:extLst>
          </p:cNvPr>
          <p:cNvSpPr>
            <a:spLocks xmlns:a="http://schemas.openxmlformats.org/drawingml/2006/main" noGrp="1"/>
          </p:cNvSpPr>
          <p:nvPr/>
        </p:nvSpPr>
        <p:spPr>
          <a:xfrm xmlns:a="http://schemas.openxmlformats.org/drawingml/2006/main">
            <a:off x="609600" y="2343150"/>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8979"/>
          </a:bodyPr>
          <a:lstStyle xmlns:a="http://schemas.openxmlformats.org/drawingml/2006/main"/>
          <a:p xmlns:a="http://schemas.openxmlformats.org/drawingml/2006/main">
            <a:pPr algn="l">
              <a:lnSpc>
                <a:spcPct val="108000"/>
              </a:lnSpc>
              <a:buNone/>
              <a:defRPr sz="1275" b="0" i="0">
                <a:solidFill>
                  <a:srgbClr val="C6D6DE"/>
                </a:solidFill>
                <a:latin typeface="Arial"/>
                <a:ea typeface="Arial"/>
                <a:cs typeface="Arial"/>
              </a:defRPr>
            </a:pPr>
            <a:r>
              <a:rPr sz="1275" b="0" i="0">
                <a:solidFill>
                  <a:srgbClr val="C6D6DE"/>
                </a:solidFill>
                <a:latin typeface="Arial"/>
                <a:ea typeface="Arial"/>
                <a:cs typeface="Arial"/>
              </a:rPr>
              <a:t>Without event codes, work orders or curtailment records, every explanation remains a hypothesis. Nothing reaches a validated operational finding.</a:t>
            </a:r>
          </a:p>
        </p:txBody>
      </p:sp>
      <p:sp>
        <p:nvSpPr>
          <p:cNvPr id="8" name="">
            <a:extLst xmlns:a="http://schemas.openxmlformats.org/drawingml/2006/main">
              <a:ext uri="{FF2B5EF4-FFF2-40B4-BE49-F238E27FC236}">
                <a16:creationId xmlns:a16="http://schemas.microsoft.com/office/drawing/2014/main" id="{363F238A-CD00-4D2B-892A-74A30DB78B4F}"/>
              </a:ext>
            </a:extLst>
          </p:cNvPr>
          <p:cNvSpPr>
            <a:spLocks xmlns:a="http://schemas.openxmlformats.org/drawingml/2006/main" noGrp="1"/>
          </p:cNvSpPr>
          <p:nvPr/>
        </p:nvSpPr>
        <p:spPr>
          <a:xfrm xmlns:a="http://schemas.openxmlformats.org/drawingml/2006/main">
            <a:off x="609600" y="291465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No independent meter check</a:t>
            </a:r>
          </a:p>
        </p:txBody>
      </p:sp>
      <p:sp>
        <p:nvSpPr>
          <p:cNvPr id="9" name="">
            <a:extLst xmlns:a="http://schemas.openxmlformats.org/drawingml/2006/main">
              <a:ext uri="{FF2B5EF4-FFF2-40B4-BE49-F238E27FC236}">
                <a16:creationId xmlns:a16="http://schemas.microsoft.com/office/drawing/2014/main" id="{E605F015-4D96-4BEB-965B-9ECC7D47A1FE}"/>
              </a:ext>
            </a:extLst>
          </p:cNvPr>
          <p:cNvSpPr>
            <a:spLocks xmlns:a="http://schemas.openxmlformats.org/drawingml/2006/main" noGrp="1"/>
          </p:cNvSpPr>
          <p:nvPr/>
        </p:nvSpPr>
        <p:spPr>
          <a:xfrm xmlns:a="http://schemas.openxmlformats.org/drawingml/2006/main">
            <a:off x="609600" y="3219450"/>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275" b="0" i="0">
                <a:solidFill>
                  <a:srgbClr val="C6D6DE"/>
                </a:solidFill>
                <a:latin typeface="Arial"/>
                <a:ea typeface="Arial"/>
                <a:cs typeface="Arial"/>
              </a:defRPr>
            </a:pPr>
            <a:r>
              <a:rPr sz="1275" b="0" i="0">
                <a:solidFill>
                  <a:srgbClr val="C6D6DE"/>
                </a:solidFill>
                <a:latin typeface="Arial"/>
                <a:ea typeface="Arial"/>
                <a:cs typeface="Arial"/>
              </a:rPr>
              <a:t>The supplied meter series is synthetic, so every validation step is internal.</a:t>
            </a:r>
          </a:p>
        </p:txBody>
      </p:sp>
      <p:sp>
        <p:nvSpPr>
          <p:cNvPr id="10" name="">
            <a:extLst xmlns:a="http://schemas.openxmlformats.org/drawingml/2006/main">
              <a:ext uri="{FF2B5EF4-FFF2-40B4-BE49-F238E27FC236}">
                <a16:creationId xmlns:a16="http://schemas.microsoft.com/office/drawing/2014/main" id="{EB530B70-DCCC-48DE-A792-A55BD6C3DA08}"/>
              </a:ext>
            </a:extLst>
          </p:cNvPr>
          <p:cNvSpPr>
            <a:spLocks xmlns:a="http://schemas.openxmlformats.org/drawingml/2006/main" noGrp="1"/>
          </p:cNvSpPr>
          <p:nvPr/>
        </p:nvSpPr>
        <p:spPr>
          <a:xfrm xmlns:a="http://schemas.openxmlformats.org/drawingml/2006/main">
            <a:off x="609600" y="379095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Four turbines and 2015 data</a:t>
            </a:r>
          </a:p>
        </p:txBody>
      </p:sp>
      <p:sp>
        <p:nvSpPr>
          <p:cNvPr id="11" name="">
            <a:extLst xmlns:a="http://schemas.openxmlformats.org/drawingml/2006/main">
              <a:ext uri="{FF2B5EF4-FFF2-40B4-BE49-F238E27FC236}">
                <a16:creationId xmlns:a16="http://schemas.microsoft.com/office/drawing/2014/main" id="{49E3A125-8C17-4873-B38A-57B4F60403E0}"/>
              </a:ext>
            </a:extLst>
          </p:cNvPr>
          <p:cNvSpPr>
            <a:spLocks xmlns:a="http://schemas.openxmlformats.org/drawingml/2006/main" noGrp="1"/>
          </p:cNvSpPr>
          <p:nvPr/>
        </p:nvSpPr>
        <p:spPr>
          <a:xfrm xmlns:a="http://schemas.openxmlformats.org/drawingml/2006/main">
            <a:off x="609600" y="4095750"/>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275" b="0" i="0">
                <a:solidFill>
                  <a:srgbClr val="C6D6DE"/>
                </a:solidFill>
                <a:latin typeface="Arial"/>
                <a:ea typeface="Arial"/>
                <a:cs typeface="Arial"/>
              </a:defRPr>
            </a:pPr>
            <a:r>
              <a:rPr sz="1275" b="0" i="0">
                <a:solidFill>
                  <a:srgbClr val="C6D6DE"/>
                </a:solidFill>
                <a:latin typeface="Arial"/>
                <a:ea typeface="Arial"/>
                <a:cs typeface="Arial"/>
              </a:rPr>
              <a:t>A site-wide issue would be invisible to every method used. Nothing here describes the site today.</a:t>
            </a:r>
          </a:p>
        </p:txBody>
      </p:sp>
      <p:sp>
        <p:nvSpPr>
          <p:cNvPr id="12" name="">
            <a:extLst xmlns:a="http://schemas.openxmlformats.org/drawingml/2006/main">
              <a:ext uri="{FF2B5EF4-FFF2-40B4-BE49-F238E27FC236}">
                <a16:creationId xmlns:a16="http://schemas.microsoft.com/office/drawing/2014/main" id="{9C8A1D45-4073-4E61-B4ED-A3C13CC93425}"/>
              </a:ext>
            </a:extLst>
          </p:cNvPr>
          <p:cNvSpPr>
            <a:spLocks xmlns:a="http://schemas.openxmlformats.org/drawingml/2006/main" noGrp="1"/>
          </p:cNvSpPr>
          <p:nvPr/>
        </p:nvSpPr>
        <p:spPr>
          <a:xfrm xmlns:a="http://schemas.openxmlformats.org/drawingml/2006/main">
            <a:off x="609600" y="4667250"/>
            <a:ext cx="447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FFFFFF"/>
                </a:solidFill>
                <a:latin typeface="Arial"/>
                <a:ea typeface="Arial"/>
                <a:cs typeface="Arial"/>
              </a:defRPr>
            </a:pPr>
            <a:r>
              <a:rPr sz="1500" b="1" i="0">
                <a:solidFill>
                  <a:srgbClr val="FFFFFF"/>
                </a:solidFill>
                <a:latin typeface="Arial"/>
                <a:ea typeface="Arial"/>
                <a:cs typeface="Arial"/>
              </a:rPr>
              <a:t>Synthetic benchmark</a:t>
            </a:r>
          </a:p>
        </p:txBody>
      </p:sp>
      <p:sp>
        <p:nvSpPr>
          <p:cNvPr id="13" name="">
            <a:extLst xmlns:a="http://schemas.openxmlformats.org/drawingml/2006/main">
              <a:ext uri="{FF2B5EF4-FFF2-40B4-BE49-F238E27FC236}">
                <a16:creationId xmlns:a16="http://schemas.microsoft.com/office/drawing/2014/main" id="{60F0090D-BFAD-4E7B-9569-3978F1C255A8}"/>
              </a:ext>
            </a:extLst>
          </p:cNvPr>
          <p:cNvSpPr>
            <a:spLocks xmlns:a="http://schemas.openxmlformats.org/drawingml/2006/main" noGrp="1"/>
          </p:cNvSpPr>
          <p:nvPr/>
        </p:nvSpPr>
        <p:spPr>
          <a:xfrm xmlns:a="http://schemas.openxmlformats.org/drawingml/2006/main">
            <a:off x="609600" y="4972050"/>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275" b="0" i="0">
                <a:solidFill>
                  <a:srgbClr val="C6D6DE"/>
                </a:solidFill>
                <a:latin typeface="Arial"/>
                <a:ea typeface="Arial"/>
                <a:cs typeface="Arial"/>
              </a:defRPr>
            </a:pPr>
            <a:r>
              <a:rPr sz="1275" b="0" i="0">
                <a:solidFill>
                  <a:srgbClr val="C6D6DE"/>
                </a:solidFill>
                <a:latin typeface="Arial"/>
                <a:ea typeface="Arial"/>
                <a:cs typeface="Arial"/>
              </a:rPr>
              <a:t>Clean artificial steps create an upper bound on detection performance.</a:t>
            </a:r>
          </a:p>
        </p:txBody>
      </p:sp>
      <p:sp>
        <p:nvSpPr>
          <p:cNvPr id="14" name="">
            <a:extLst xmlns:a="http://schemas.openxmlformats.org/drawingml/2006/main">
              <a:ext uri="{FF2B5EF4-FFF2-40B4-BE49-F238E27FC236}">
                <a16:creationId xmlns:a16="http://schemas.microsoft.com/office/drawing/2014/main" id="{FDBB9D02-B5AF-43A9-9978-A6BE34C63AE2}"/>
              </a:ext>
            </a:extLst>
          </p:cNvPr>
          <p:cNvSpPr>
            <a:spLocks xmlns:a="http://schemas.openxmlformats.org/drawingml/2006/main" noGrp="1"/>
          </p:cNvSpPr>
          <p:nvPr/>
        </p:nvSpPr>
        <p:spPr>
          <a:xfrm xmlns:a="http://schemas.openxmlformats.org/drawingml/2006/main">
            <a:off x="6191250" y="148590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4806"/>
          </a:bodyPr>
          <a:lstStyle xmlns:a="http://schemas.openxmlformats.org/drawingml/2006/main"/>
          <a:p xmlns:a="http://schemas.openxmlformats.org/drawingml/2006/main">
            <a:pPr algn="l">
              <a:lnSpc>
                <a:spcPct val="108000"/>
              </a:lnSpc>
              <a:buNone/>
              <a:defRPr sz="1875" b="1" i="0">
                <a:solidFill>
                  <a:srgbClr val="72D0C8"/>
                </a:solidFill>
                <a:latin typeface="Arial"/>
                <a:ea typeface="Arial"/>
                <a:cs typeface="Arial"/>
              </a:defRPr>
            </a:pPr>
            <a:r>
              <a:rPr sz="1875" b="1" i="0">
                <a:solidFill>
                  <a:srgbClr val="72D0C8"/>
                </a:solidFill>
                <a:latin typeface="Arial"/>
                <a:ea typeface="Arial"/>
                <a:cs typeface="Arial"/>
              </a:rPr>
              <a:t>What transfers to renewable portfolio analysis</a:t>
            </a:r>
          </a:p>
        </p:txBody>
      </p:sp>
      <p:sp>
        <p:nvSpPr>
          <p:cNvPr id="15" name="">
            <a:extLst xmlns:a="http://schemas.openxmlformats.org/drawingml/2006/main">
              <a:ext uri="{FF2B5EF4-FFF2-40B4-BE49-F238E27FC236}">
                <a16:creationId xmlns:a16="http://schemas.microsoft.com/office/drawing/2014/main" id="{B81408E4-1908-4937-803E-902D74FAEA5C}"/>
              </a:ext>
            </a:extLst>
          </p:cNvPr>
          <p:cNvSpPr>
            <a:spLocks xmlns:a="http://schemas.openxmlformats.org/drawingml/2006/main" noGrp="1"/>
          </p:cNvSpPr>
          <p:nvPr/>
        </p:nvSpPr>
        <p:spPr>
          <a:xfrm xmlns:a="http://schemas.openxmlformats.org/drawingml/2006/main">
            <a:off x="6191250" y="2038350"/>
            <a:ext cx="476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FFFFFF"/>
                </a:solidFill>
                <a:latin typeface="Arial"/>
                <a:ea typeface="Arial"/>
                <a:cs typeface="Arial"/>
              </a:defRPr>
            </a:pPr>
            <a:r>
              <a:rPr sz="1500" b="0" i="0">
                <a:solidFill>
                  <a:srgbClr val="FFFFFF"/>
                </a:solidFill>
                <a:latin typeface="Arial"/>
                <a:ea typeface="Arial"/>
                <a:cs typeface="Arial"/>
              </a:rPr>
              <a:t>The transferable value is analytical discipline rather than a claim of solar expertise.</a:t>
            </a:r>
          </a:p>
        </p:txBody>
      </p:sp>
      <p:sp>
        <p:nvSpPr>
          <p:cNvPr id="16" name="">
            <a:extLst xmlns:a="http://schemas.openxmlformats.org/drawingml/2006/main">
              <a:ext uri="{FF2B5EF4-FFF2-40B4-BE49-F238E27FC236}">
                <a16:creationId xmlns:a16="http://schemas.microsoft.com/office/drawing/2014/main" id="{8BB9EA10-2004-425E-95DA-F71610470409}"/>
              </a:ext>
            </a:extLst>
          </p:cNvPr>
          <p:cNvSpPr>
            <a:spLocks xmlns:a="http://schemas.openxmlformats.org/drawingml/2006/main" noGrp="1"/>
          </p:cNvSpPr>
          <p:nvPr/>
        </p:nvSpPr>
        <p:spPr>
          <a:xfrm xmlns:a="http://schemas.openxmlformats.org/drawingml/2006/main">
            <a:off x="6191250" y="28956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28540"/>
                </a:solidFill>
                <a:latin typeface="Arial"/>
                <a:ea typeface="Arial"/>
                <a:cs typeface="Arial"/>
              </a:defRPr>
            </a:pPr>
            <a:r>
              <a:rPr sz="1350" b="1" i="0">
                <a:solidFill>
                  <a:srgbClr val="E28540"/>
                </a:solidFill>
                <a:latin typeface="Arial"/>
                <a:ea typeface="Arial"/>
                <a:cs typeface="Arial"/>
              </a:rPr>
              <a:t>01</a:t>
            </a:r>
          </a:p>
        </p:txBody>
      </p:sp>
      <p:sp>
        <p:nvSpPr>
          <p:cNvPr id="17" name="">
            <a:extLst xmlns:a="http://schemas.openxmlformats.org/drawingml/2006/main">
              <a:ext uri="{FF2B5EF4-FFF2-40B4-BE49-F238E27FC236}">
                <a16:creationId xmlns:a16="http://schemas.microsoft.com/office/drawing/2014/main" id="{D3C39679-F131-42B6-BF2F-7D798B357239}"/>
              </a:ext>
            </a:extLst>
          </p:cNvPr>
          <p:cNvSpPr>
            <a:spLocks xmlns:a="http://schemas.openxmlformats.org/drawingml/2006/main" noGrp="1"/>
          </p:cNvSpPr>
          <p:nvPr/>
        </p:nvSpPr>
        <p:spPr>
          <a:xfrm xmlns:a="http://schemas.openxmlformats.org/drawingml/2006/main">
            <a:off x="6724650" y="28956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FFFFFF"/>
                </a:solidFill>
                <a:latin typeface="Arial"/>
                <a:ea typeface="Arial"/>
                <a:cs typeface="Arial"/>
              </a:defRPr>
            </a:pPr>
            <a:r>
              <a:rPr sz="1425" b="0" i="0">
                <a:solidFill>
                  <a:srgbClr val="FFFFFF"/>
                </a:solidFill>
                <a:latin typeface="Arial"/>
                <a:ea typeface="Arial"/>
                <a:cs typeface="Arial"/>
              </a:rPr>
              <a:t>Timestamp alignment and unit standardisation</a:t>
            </a:r>
          </a:p>
        </p:txBody>
      </p:sp>
      <p:sp>
        <p:nvSpPr>
          <p:cNvPr id="18" name="">
            <a:extLst xmlns:a="http://schemas.openxmlformats.org/drawingml/2006/main">
              <a:ext uri="{FF2B5EF4-FFF2-40B4-BE49-F238E27FC236}">
                <a16:creationId xmlns:a16="http://schemas.microsoft.com/office/drawing/2014/main" id="{2D3AB5B4-9DC3-4144-B493-BFAFDD322399}"/>
              </a:ext>
            </a:extLst>
          </p:cNvPr>
          <p:cNvSpPr>
            <a:spLocks xmlns:a="http://schemas.openxmlformats.org/drawingml/2006/main" noGrp="1"/>
          </p:cNvSpPr>
          <p:nvPr/>
        </p:nvSpPr>
        <p:spPr>
          <a:xfrm xmlns:a="http://schemas.openxmlformats.org/drawingml/2006/main">
            <a:off x="6191250" y="34290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28540"/>
                </a:solidFill>
                <a:latin typeface="Arial"/>
                <a:ea typeface="Arial"/>
                <a:cs typeface="Arial"/>
              </a:defRPr>
            </a:pPr>
            <a:r>
              <a:rPr sz="1350" b="1" i="0">
                <a:solidFill>
                  <a:srgbClr val="E28540"/>
                </a:solidFill>
                <a:latin typeface="Arial"/>
                <a:ea typeface="Arial"/>
                <a:cs typeface="Arial"/>
              </a:rPr>
              <a:t>02</a:t>
            </a:r>
          </a:p>
        </p:txBody>
      </p:sp>
      <p:sp>
        <p:nvSpPr>
          <p:cNvPr id="19" name="">
            <a:extLst xmlns:a="http://schemas.openxmlformats.org/drawingml/2006/main">
              <a:ext uri="{FF2B5EF4-FFF2-40B4-BE49-F238E27FC236}">
                <a16:creationId xmlns:a16="http://schemas.microsoft.com/office/drawing/2014/main" id="{DD6AE17B-271A-4E9F-9CF7-04EEC2420EBA}"/>
              </a:ext>
            </a:extLst>
          </p:cNvPr>
          <p:cNvSpPr>
            <a:spLocks xmlns:a="http://schemas.openxmlformats.org/drawingml/2006/main" noGrp="1"/>
          </p:cNvSpPr>
          <p:nvPr/>
        </p:nvSpPr>
        <p:spPr>
          <a:xfrm xmlns:a="http://schemas.openxmlformats.org/drawingml/2006/main">
            <a:off x="6724650" y="34290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FFFFFF"/>
                </a:solidFill>
                <a:latin typeface="Arial"/>
                <a:ea typeface="Arial"/>
                <a:cs typeface="Arial"/>
              </a:defRPr>
            </a:pPr>
            <a:r>
              <a:rPr sz="1425" b="0" i="0">
                <a:solidFill>
                  <a:srgbClr val="FFFFFF"/>
                </a:solidFill>
                <a:latin typeface="Arial"/>
                <a:ea typeface="Arial"/>
                <a:cs typeface="Arial"/>
              </a:rPr>
              <a:t>Missing data separated from downtime</a:t>
            </a:r>
          </a:p>
        </p:txBody>
      </p:sp>
      <p:sp>
        <p:nvSpPr>
          <p:cNvPr id="20" name="">
            <a:extLst xmlns:a="http://schemas.openxmlformats.org/drawingml/2006/main">
              <a:ext uri="{FF2B5EF4-FFF2-40B4-BE49-F238E27FC236}">
                <a16:creationId xmlns:a16="http://schemas.microsoft.com/office/drawing/2014/main" id="{A5E0A43C-88E2-487D-A9D9-8690B81E77CA}"/>
              </a:ext>
            </a:extLst>
          </p:cNvPr>
          <p:cNvSpPr>
            <a:spLocks xmlns:a="http://schemas.openxmlformats.org/drawingml/2006/main" noGrp="1"/>
          </p:cNvSpPr>
          <p:nvPr/>
        </p:nvSpPr>
        <p:spPr>
          <a:xfrm xmlns:a="http://schemas.openxmlformats.org/drawingml/2006/main">
            <a:off x="6191250" y="39624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28540"/>
                </a:solidFill>
                <a:latin typeface="Arial"/>
                <a:ea typeface="Arial"/>
                <a:cs typeface="Arial"/>
              </a:defRPr>
            </a:pPr>
            <a:r>
              <a:rPr sz="1350" b="1" i="0">
                <a:solidFill>
                  <a:srgbClr val="E28540"/>
                </a:solidFill>
                <a:latin typeface="Arial"/>
                <a:ea typeface="Arial"/>
                <a:cs typeface="Arial"/>
              </a:rPr>
              <a:t>03</a:t>
            </a:r>
          </a:p>
        </p:txBody>
      </p:sp>
      <p:sp>
        <p:nvSpPr>
          <p:cNvPr id="21" name="">
            <a:extLst xmlns:a="http://schemas.openxmlformats.org/drawingml/2006/main">
              <a:ext uri="{FF2B5EF4-FFF2-40B4-BE49-F238E27FC236}">
                <a16:creationId xmlns:a16="http://schemas.microsoft.com/office/drawing/2014/main" id="{DCDDB941-0429-4023-8D86-B13668FFDA67}"/>
              </a:ext>
            </a:extLst>
          </p:cNvPr>
          <p:cNvSpPr>
            <a:spLocks xmlns:a="http://schemas.openxmlformats.org/drawingml/2006/main" noGrp="1"/>
          </p:cNvSpPr>
          <p:nvPr/>
        </p:nvSpPr>
        <p:spPr>
          <a:xfrm xmlns:a="http://schemas.openxmlformats.org/drawingml/2006/main">
            <a:off x="6724650" y="39624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FFFFFF"/>
                </a:solidFill>
                <a:latin typeface="Arial"/>
                <a:ea typeface="Arial"/>
                <a:cs typeface="Arial"/>
              </a:defRPr>
            </a:pPr>
            <a:r>
              <a:rPr sz="1425" b="0" i="0">
                <a:solidFill>
                  <a:srgbClr val="FFFFFF"/>
                </a:solidFill>
                <a:latin typeface="Arial"/>
                <a:ea typeface="Arial"/>
                <a:cs typeface="Arial"/>
              </a:rPr>
              <a:t>Reference-sensor degradation and peer comparison</a:t>
            </a:r>
          </a:p>
        </p:txBody>
      </p:sp>
      <p:sp>
        <p:nvSpPr>
          <p:cNvPr id="22" name="">
            <a:extLst xmlns:a="http://schemas.openxmlformats.org/drawingml/2006/main">
              <a:ext uri="{FF2B5EF4-FFF2-40B4-BE49-F238E27FC236}">
                <a16:creationId xmlns:a16="http://schemas.microsoft.com/office/drawing/2014/main" id="{BC6E1E5C-B7D6-4504-92C4-34AF055384B9}"/>
              </a:ext>
            </a:extLst>
          </p:cNvPr>
          <p:cNvSpPr>
            <a:spLocks xmlns:a="http://schemas.openxmlformats.org/drawingml/2006/main" noGrp="1"/>
          </p:cNvSpPr>
          <p:nvPr/>
        </p:nvSpPr>
        <p:spPr>
          <a:xfrm xmlns:a="http://schemas.openxmlformats.org/drawingml/2006/main">
            <a:off x="6191250" y="44958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28540"/>
                </a:solidFill>
                <a:latin typeface="Arial"/>
                <a:ea typeface="Arial"/>
                <a:cs typeface="Arial"/>
              </a:defRPr>
            </a:pPr>
            <a:r>
              <a:rPr sz="1350" b="1" i="0">
                <a:solidFill>
                  <a:srgbClr val="E28540"/>
                </a:solidFill>
                <a:latin typeface="Arial"/>
                <a:ea typeface="Arial"/>
                <a:cs typeface="Arial"/>
              </a:rPr>
              <a:t>04</a:t>
            </a:r>
          </a:p>
        </p:txBody>
      </p:sp>
      <p:sp>
        <p:nvSpPr>
          <p:cNvPr id="23" name="">
            <a:extLst xmlns:a="http://schemas.openxmlformats.org/drawingml/2006/main">
              <a:ext uri="{FF2B5EF4-FFF2-40B4-BE49-F238E27FC236}">
                <a16:creationId xmlns:a16="http://schemas.microsoft.com/office/drawing/2014/main" id="{BF37D7D9-894A-4336-AA5E-24E965B97459}"/>
              </a:ext>
            </a:extLst>
          </p:cNvPr>
          <p:cNvSpPr>
            <a:spLocks xmlns:a="http://schemas.openxmlformats.org/drawingml/2006/main" noGrp="1"/>
          </p:cNvSpPr>
          <p:nvPr/>
        </p:nvSpPr>
        <p:spPr>
          <a:xfrm xmlns:a="http://schemas.openxmlformats.org/drawingml/2006/main">
            <a:off x="6724650" y="44958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FFFFFF"/>
                </a:solidFill>
                <a:latin typeface="Arial"/>
                <a:ea typeface="Arial"/>
                <a:cs typeface="Arial"/>
              </a:defRPr>
            </a:pPr>
            <a:r>
              <a:rPr sz="1425" b="0" i="0">
                <a:solidFill>
                  <a:srgbClr val="FFFFFF"/>
                </a:solidFill>
                <a:latin typeface="Arial"/>
                <a:ea typeface="Arial"/>
                <a:cs typeface="Arial"/>
              </a:rPr>
              <a:t>Event taxonomy and confidence grading</a:t>
            </a:r>
          </a:p>
        </p:txBody>
      </p:sp>
      <p:sp>
        <p:nvSpPr>
          <p:cNvPr id="24" name="">
            <a:extLst xmlns:a="http://schemas.openxmlformats.org/drawingml/2006/main">
              <a:ext uri="{FF2B5EF4-FFF2-40B4-BE49-F238E27FC236}">
                <a16:creationId xmlns:a16="http://schemas.microsoft.com/office/drawing/2014/main" id="{BCC472A2-5C22-4EC8-9768-941A7E04D81C}"/>
              </a:ext>
            </a:extLst>
          </p:cNvPr>
          <p:cNvSpPr>
            <a:spLocks xmlns:a="http://schemas.openxmlformats.org/drawingml/2006/main" noGrp="1"/>
          </p:cNvSpPr>
          <p:nvPr/>
        </p:nvSpPr>
        <p:spPr>
          <a:xfrm xmlns:a="http://schemas.openxmlformats.org/drawingml/2006/main">
            <a:off x="6191250" y="50292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28540"/>
                </a:solidFill>
                <a:latin typeface="Arial"/>
                <a:ea typeface="Arial"/>
                <a:cs typeface="Arial"/>
              </a:defRPr>
            </a:pPr>
            <a:r>
              <a:rPr sz="1350" b="1" i="0">
                <a:solidFill>
                  <a:srgbClr val="E28540"/>
                </a:solidFill>
                <a:latin typeface="Arial"/>
                <a:ea typeface="Arial"/>
                <a:cs typeface="Arial"/>
              </a:rPr>
              <a:t>05</a:t>
            </a:r>
          </a:p>
        </p:txBody>
      </p:sp>
      <p:sp>
        <p:nvSpPr>
          <p:cNvPr id="25" name="">
            <a:extLst xmlns:a="http://schemas.openxmlformats.org/drawingml/2006/main">
              <a:ext uri="{FF2B5EF4-FFF2-40B4-BE49-F238E27FC236}">
                <a16:creationId xmlns:a16="http://schemas.microsoft.com/office/drawing/2014/main" id="{EF3A5383-3EBC-476A-9727-0F3F828E5548}"/>
              </a:ext>
            </a:extLst>
          </p:cNvPr>
          <p:cNvSpPr>
            <a:spLocks xmlns:a="http://schemas.openxmlformats.org/drawingml/2006/main" noGrp="1"/>
          </p:cNvSpPr>
          <p:nvPr/>
        </p:nvSpPr>
        <p:spPr>
          <a:xfrm xmlns:a="http://schemas.openxmlformats.org/drawingml/2006/main">
            <a:off x="6724650" y="5029200"/>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3813"/>
          </a:bodyPr>
          <a:lstStyle xmlns:a="http://schemas.openxmlformats.org/drawingml/2006/main"/>
          <a:p xmlns:a="http://schemas.openxmlformats.org/drawingml/2006/main">
            <a:pPr algn="l">
              <a:lnSpc>
                <a:spcPct val="108000"/>
              </a:lnSpc>
              <a:buNone/>
              <a:defRPr sz="1425" b="0" i="0">
                <a:solidFill>
                  <a:srgbClr val="FFFFFF"/>
                </a:solidFill>
                <a:latin typeface="Arial"/>
                <a:ea typeface="Arial"/>
                <a:cs typeface="Arial"/>
              </a:defRPr>
            </a:pPr>
            <a:r>
              <a:rPr sz="1425" b="0" i="0">
                <a:solidFill>
                  <a:srgbClr val="FFFFFF"/>
                </a:solidFill>
                <a:latin typeface="Arial"/>
                <a:ea typeface="Arial"/>
                <a:cs typeface="Arial"/>
              </a:rPr>
              <a:t>Clipping separated from curtailment before client reporting</a:t>
            </a:r>
          </a:p>
        </p:txBody>
      </p:sp>
      <p:sp>
        <p:nvSpPr>
          <p:cNvPr id="26" name="">
            <a:extLst xmlns:a="http://schemas.openxmlformats.org/drawingml/2006/main">
              <a:ext uri="{FF2B5EF4-FFF2-40B4-BE49-F238E27FC236}">
                <a16:creationId xmlns:a16="http://schemas.microsoft.com/office/drawing/2014/main" id="{4D980077-CA5F-4303-92DE-9D632A5D9091}"/>
              </a:ext>
            </a:extLst>
          </p:cNvPr>
          <p:cNvSpPr>
            <a:spLocks xmlns:a="http://schemas.openxmlformats.org/drawingml/2006/main" noGrp="1"/>
          </p:cNvSpPr>
          <p:nvPr/>
        </p:nvSpPr>
        <p:spPr>
          <a:xfrm xmlns:a="http://schemas.openxmlformats.org/drawingml/2006/main">
            <a:off x="6191250" y="573405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3208"/>
          </a:bodyPr>
          <a:lstStyle xmlns:a="http://schemas.openxmlformats.org/drawingml/2006/main"/>
          <a:p xmlns:a="http://schemas.openxmlformats.org/drawingml/2006/main">
            <a:pPr>
              <a:lnSpc>
                <a:spcPct val="108000"/>
              </a:lnSpc>
              <a:buNone/>
              <a:defRPr sz="1350">
                <a:solidFill>
                  <a:srgbClr val="72D0C8"/>
                </a:solidFill>
                <a:latin typeface="Arial"/>
                <a:ea typeface="Arial"/>
                <a:cs typeface="Arial"/>
              </a:defRPr>
            </a:pPr>
            <a:r>
              <a:rPr sz="1350" b="1" u="sng">
                <a:solidFill>
                  <a:srgbClr val="72D0C8"/>
                </a:solidFill>
                <a:latin typeface="Arial"/>
                <a:ea typeface="Arial"/>
                <a:cs typeface="Arial"/>
                <a:hlinkClick xmlns:r="http://schemas.openxmlformats.org/officeDocument/2006/relationships" r:id="Rc5a6b83e7b684f27"/>
              </a:rPr>
              <a:t>Explore the full analysis, source tables and application instructions</a:t>
            </a:r>
          </a:p>
        </p:txBody>
      </p:sp>
      <p:sp>
        <p:nvSpPr>
          <p:cNvPr id="27" name="">
            <a:extLst xmlns:a="http://schemas.openxmlformats.org/drawingml/2006/main">
              <a:ext uri="{FF2B5EF4-FFF2-40B4-BE49-F238E27FC236}">
                <a16:creationId xmlns:a16="http://schemas.microsoft.com/office/drawing/2014/main" id="{5A6C3E09-2154-420E-AFEF-FDB31A8C1B31}"/>
              </a:ext>
            </a:extLst>
          </p:cNvPr>
          <p:cNvSpPr>
            <a:spLocks xmlns:a="http://schemas.openxmlformats.org/drawingml/2006/main" noGrp="1"/>
          </p:cNvSpPr>
          <p:nvPr/>
        </p:nvSpPr>
        <p:spPr>
          <a:xfrm xmlns:a="http://schemas.openxmlformats.org/drawingml/2006/main">
            <a:off x="609600" y="6438900"/>
            <a:ext cx="800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8000"/>
              </a:lnSpc>
              <a:buNone/>
              <a:defRPr sz="750" b="0" i="0">
                <a:solidFill>
                  <a:srgbClr val="A8C0CD"/>
                </a:solidFill>
                <a:latin typeface="Arial"/>
                <a:ea typeface="Arial"/>
                <a:cs typeface="Arial"/>
              </a:defRPr>
            </a:pPr>
            <a:r>
              <a:rPr sz="750" b="0" i="0">
                <a:solidFill>
                  <a:srgbClr val="A8C0CD"/>
                </a:solidFill>
                <a:latin typeface="Arial"/>
                <a:ea typeface="Arial"/>
                <a:cs typeface="Arial"/>
              </a:rPr>
              <a:t>Independent project. Public data: ENGIE La Haute Borne, Etalab Open Licence 2.0, via OpenOA. No Clir Renewables data, software or methodology used.</a:t>
            </a:r>
          </a:p>
        </p:txBody>
      </p:sp>
      <p:sp>
        <p:nvSpPr>
          <p:cNvPr id="28" name="">
            <a:extLst xmlns:a="http://schemas.openxmlformats.org/drawingml/2006/main">
              <a:ext uri="{FF2B5EF4-FFF2-40B4-BE49-F238E27FC236}">
                <a16:creationId xmlns:a16="http://schemas.microsoft.com/office/drawing/2014/main" id="{190EBC33-3C16-4A84-BC41-FD8FBAF5B6EE}"/>
              </a:ext>
            </a:extLst>
          </p:cNvPr>
          <p:cNvSpPr>
            <a:spLocks xmlns:a="http://schemas.openxmlformats.org/drawingml/2006/main" noGrp="1"/>
          </p:cNvSpPr>
          <p:nvPr/>
        </p:nvSpPr>
        <p:spPr>
          <a:xfrm xmlns:a="http://schemas.openxmlformats.org/drawingml/2006/main">
            <a:off x="8858250" y="6515100"/>
            <a:ext cx="2762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lnSpc>
                <a:spcPct val="108000"/>
              </a:lnSpc>
              <a:buNone/>
              <a:defRPr sz="825">
                <a:solidFill>
                  <a:srgbClr val="72D0C8"/>
                </a:solidFill>
                <a:latin typeface="Arial"/>
                <a:ea typeface="Arial"/>
                <a:cs typeface="Arial"/>
              </a:defRPr>
            </a:pPr>
            <a:r>
              <a:rPr sz="825" u="sng">
                <a:solidFill>
                  <a:srgbClr val="72D0C8"/>
                </a:solidFill>
                <a:latin typeface="Arial"/>
                <a:ea typeface="Arial"/>
                <a:cs typeface="Arial"/>
                <a:hlinkClick xmlns:r="http://schemas.openxmlformats.org/officeDocument/2006/relationships" r:id="Rcd4838cc6219412b"/>
              </a:rPr>
              <a:t>Open project and supporting evidence</a:t>
            </a:r>
          </a:p>
        </p:txBody>
      </p:sp>
    </p:spTree>
    <p:extLst>
      <p:ext uri="{BB962C8B-B14F-4D97-AF65-F5344CB8AC3E}">
        <p14:creationId xmlns:p14="http://schemas.microsoft.com/office/powerpoint/2010/main" val="7295023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2026-10-01T12:25:30.8920000Z</dcterms:created>
  <dcterms:modified xsi:type="dcterms:W3CDTF">2026-10-01T12:25:30.8920000Z</dcterms:modified>
</coreProperties>
</file>